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5" r:id="rId3"/>
    <p:sldId id="258" r:id="rId4"/>
    <p:sldId id="282" r:id="rId5"/>
    <p:sldId id="283" r:id="rId6"/>
    <p:sldId id="284" r:id="rId7"/>
    <p:sldId id="265" r:id="rId8"/>
    <p:sldId id="292" r:id="rId9"/>
    <p:sldId id="285" r:id="rId10"/>
    <p:sldId id="287" r:id="rId11"/>
    <p:sldId id="288" r:id="rId12"/>
    <p:sldId id="296" r:id="rId13"/>
    <p:sldId id="293" r:id="rId14"/>
    <p:sldId id="276" r:id="rId15"/>
  </p:sldIdLst>
  <p:sldSz cx="9144000" cy="5143500" type="screen16x9"/>
  <p:notesSz cx="6797675" cy="9926638"/>
  <p:embeddedFontLst>
    <p:embeddedFont>
      <p:font typeface="HY수평선B" panose="020B0600000101010101" charset="-127"/>
      <p:regular r:id="rId18"/>
    </p:embeddedFont>
    <p:embeddedFont>
      <p:font typeface="HY수평선M" panose="020B0600000101010101" charset="-127"/>
      <p:regular r:id="rId19"/>
    </p:embeddedFont>
    <p:embeddedFont>
      <p:font typeface="HY울릉도M" panose="020B0600000101010101" charset="-127"/>
      <p:regular r:id="rId20"/>
    </p:embeddedFont>
    <p:embeddedFont>
      <p:font typeface="Wingdings 3" panose="05040102010807070707" pitchFamily="18" charset="2"/>
      <p:regular r:id="rId21"/>
    </p:embeddedFont>
    <p:embeddedFont>
      <p:font typeface="맑은 고딕" panose="020B0503020000020004" pitchFamily="50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50" d="100"/>
          <a:sy n="150" d="100"/>
        </p:scale>
        <p:origin x="510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74A5CFB-36F4-4953-B77F-B65214B6F4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572597-9901-4389-8C5E-8CBDE672F4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11ABC-35E2-4EFD-8CF6-627D90EFDE5C}" type="datetimeFigureOut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329FAA-C082-4C59-96AF-10654260BF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38E7D2-12C7-416A-9A44-0B1F0AC689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98769-BB80-4082-9E67-D665BD151B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1346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60A95-4DC7-41FB-8AE7-86751158A216}" type="datetimeFigureOut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7C3A29-58BA-4DDD-BD4A-5E81825A9C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188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87624" y="278978"/>
            <a:ext cx="7956376" cy="688980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altLang="ko-KR" dirty="0"/>
              <a:t> 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0C3DF-F587-4C04-84DB-C0AADC6DE1C1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1965124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535CB-D16E-4B53-98F2-68917718B5C4}"/>
              </a:ext>
            </a:extLst>
          </p:cNvPr>
          <p:cNvSpPr txBox="1"/>
          <p:nvPr userDrawn="1"/>
        </p:nvSpPr>
        <p:spPr>
          <a:xfrm>
            <a:off x="8716816" y="4841052"/>
            <a:ext cx="33374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/18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2A236-E794-44C5-B2ED-A91132E7EFDA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80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7FD8B-0E5B-4DE3-AF9A-68C21CA5EAB5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61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F92CC-5499-4156-B27A-ECB5E7425B3F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5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035F8-7DBF-4A98-99FB-D848BC4D8164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0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08AE-5AEC-4A8D-9547-F80915C07CA0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9537305-F1D8-4DDF-93C2-0065A23F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1901907" cy="273844"/>
          </a:xfrm>
        </p:spPr>
        <p:txBody>
          <a:bodyPr/>
          <a:lstStyle/>
          <a:p>
            <a:fld id="{83B0A39C-9AA3-4A83-82D7-24ADE08503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72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0AAE-6CDC-45B9-A7FD-9BE10C02F13B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00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1F104-A08F-49D8-8A87-6F6029B43D53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C8AED-B9EE-4274-9A91-98E37276189C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5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38FE-ECC5-45AD-8C5B-FC33C8F9321B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3B0A39C-9AA3-4A83-82D7-24ADE08503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CCADD-3103-40C6-8899-3FE497D171F4}" type="datetime1">
              <a:rPr lang="ko-KR" altLang="en-US" smtClean="0"/>
              <a:t>2020-03-11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856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defRPr>
            </a:lvl1pPr>
          </a:lstStyle>
          <a:p>
            <a:fld id="{83B0A39C-9AA3-4A83-82D7-24ADE085033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91880" y="3291830"/>
            <a:ext cx="5148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가상면접</a:t>
            </a:r>
            <a:r>
              <a:rPr lang="en-US" altLang="ko-KR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#</a:t>
            </a:r>
            <a:r>
              <a:rPr lang="ko-KR" altLang="en-US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공무원시험 </a:t>
            </a:r>
            <a:r>
              <a:rPr lang="en-US" altLang="ko-KR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표준평가지표</a:t>
            </a:r>
            <a:r>
              <a:rPr lang="en-US" altLang="ko-KR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/</a:t>
            </a:r>
            <a:r>
              <a:rPr lang="ko-KR" altLang="en-US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반복연습</a:t>
            </a:r>
            <a:r>
              <a:rPr lang="en-US" altLang="ko-KR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/</a:t>
            </a:r>
            <a:r>
              <a:rPr lang="ko-KR" altLang="en-US" b="1" dirty="0">
                <a:latin typeface="HY울릉도M" panose="02030600000101010101" pitchFamily="18" charset="-127"/>
                <a:ea typeface="HY울릉도M" panose="02030600000101010101" pitchFamily="18" charset="-127"/>
              </a:rPr>
              <a:t>자신감확보</a:t>
            </a:r>
            <a:endParaRPr kumimoji="0" lang="en-US" altLang="ko-KR" b="1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844068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교육과 고객을 이해하는 교육분야 </a:t>
            </a:r>
            <a:r>
              <a:rPr lang="en-US" altLang="ko-KR" sz="14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IT </a:t>
            </a:r>
            <a:r>
              <a:rPr lang="ko-KR" altLang="en-US" sz="14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전문 파트너 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71B2D2A-7051-4D94-8DB9-F13647E8B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2115336"/>
            <a:ext cx="7919957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28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가상면접 시스템 공동 사업</a:t>
            </a:r>
            <a:r>
              <a:rPr lang="ko-KR" altLang="en-US" sz="2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제안</a:t>
            </a:r>
            <a:endParaRPr lang="en-US" altLang="ko-KR" sz="2800" b="1" dirty="0">
              <a:solidFill>
                <a:schemeClr val="tx1">
                  <a:lumMod val="65000"/>
                  <a:lumOff val="35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  <a:cs typeface="Arial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087053" y="4004887"/>
            <a:ext cx="1445387" cy="367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가상면접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ê´ë ¨ ì´ë¯¸ì§">
            <a:extLst>
              <a:ext uri="{FF2B5EF4-FFF2-40B4-BE49-F238E27FC236}">
                <a16:creationId xmlns:a16="http://schemas.microsoft.com/office/drawing/2014/main" id="{7753C4C7-6800-4B50-85EE-B39CE630B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97490">
            <a:off x="366930" y="1048734"/>
            <a:ext cx="744256" cy="74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0AE8AC-51D2-4BB9-ABAE-D5719CDFBAAF}"/>
              </a:ext>
            </a:extLst>
          </p:cNvPr>
          <p:cNvSpPr txBox="1"/>
          <p:nvPr/>
        </p:nvSpPr>
        <p:spPr>
          <a:xfrm>
            <a:off x="739059" y="1419622"/>
            <a:ext cx="80094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u="sng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일러두기</a:t>
            </a:r>
            <a:r>
              <a:rPr lang="en-US" altLang="ko-KR" u="sng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</a:p>
          <a:p>
            <a:endParaRPr lang="en-US" altLang="ko-KR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본 자료는 ㈜미래넷의 연구개발 결과물과 사업에 대한 정보를 담고 있습니다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</a:p>
          <a:p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무단 전재나 재배포를 허락하지 않습니다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</a:p>
          <a:p>
            <a:endParaRPr lang="en-US" altLang="ko-KR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이를 동의하시면 열람하시기 바랍니다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  <a:endParaRPr lang="ko-KR" altLang="en-US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9C5667-723A-4841-817B-F35703DB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565" y="4767263"/>
            <a:ext cx="1973915" cy="273844"/>
          </a:xfrm>
        </p:spPr>
        <p:txBody>
          <a:bodyPr/>
          <a:lstStyle/>
          <a:p>
            <a:fld id="{83B0A39C-9AA3-4A83-82D7-24ADE085033F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553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370602"/>
            <a:ext cx="7956376" cy="688980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C141C1-4AA9-465F-BA82-5C613B3AF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059582"/>
            <a:ext cx="3367430" cy="33944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제안사 소개</a:t>
            </a:r>
            <a:endParaRPr lang="en-US" altLang="ko-KR" sz="20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소개</a:t>
            </a:r>
            <a:endParaRPr lang="en-US" altLang="ko-KR" sz="20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시스템이란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배경과 필요성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서비스 내용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유사 서비스 소개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사용자별 기대효과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7DC93-77B0-4222-AEAB-578390CCFBCD}"/>
              </a:ext>
            </a:extLst>
          </p:cNvPr>
          <p:cNvSpPr txBox="1"/>
          <p:nvPr/>
        </p:nvSpPr>
        <p:spPr>
          <a:xfrm>
            <a:off x="-108520" y="4735192"/>
            <a:ext cx="914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교육과 고객을 이해하는 교육분야 </a:t>
            </a:r>
            <a:r>
              <a:rPr lang="en-US" altLang="ko-KR" sz="14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IT </a:t>
            </a:r>
            <a:r>
              <a:rPr lang="ko-KR" altLang="en-US" sz="14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전문 파트너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BE90141-D8D5-4626-83F2-FB92E9C37A4C}"/>
              </a:ext>
            </a:extLst>
          </p:cNvPr>
          <p:cNvSpPr txBox="1">
            <a:spLocks/>
          </p:cNvSpPr>
          <p:nvPr/>
        </p:nvSpPr>
        <p:spPr>
          <a:xfrm>
            <a:off x="4732962" y="1059582"/>
            <a:ext cx="372747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ko-KR" altLang="en-US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사업제안</a:t>
            </a:r>
            <a:endParaRPr lang="en-US" altLang="ko-KR" sz="20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도입효과 및 장점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구성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991D5A-64F3-484D-8452-7DDE124E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363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298594"/>
            <a:ext cx="7956376" cy="68898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제안사 소개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53D54-A526-4C5B-A42C-0DFBB1D03061}"/>
              </a:ext>
            </a:extLst>
          </p:cNvPr>
          <p:cNvSpPr txBox="1"/>
          <p:nvPr/>
        </p:nvSpPr>
        <p:spPr>
          <a:xfrm>
            <a:off x="827584" y="1059582"/>
            <a:ext cx="76107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㈜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OOO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은 교육관련 시스템 및 솔루션 개발과 교육용 콘텐츠 개발과 공급을 전문으로 하며  풍부한 경험을 가지고 국내외 컨설팅도 지속적으로 진행하고 있는 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</a:t>
            </a:r>
            <a:r>
              <a:rPr lang="ko-KR" altLang="en-US" sz="14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업력을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가진 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IT 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회사 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 latinLnBrk="0"/>
            <a:endParaRPr lang="en-US" altLang="ko-KR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6DF61-A6F3-4B14-9969-EEC7DE9C4D69}"/>
              </a:ext>
            </a:extLst>
          </p:cNvPr>
          <p:cNvSpPr txBox="1"/>
          <p:nvPr/>
        </p:nvSpPr>
        <p:spPr>
          <a:xfrm>
            <a:off x="899592" y="2366219"/>
            <a:ext cx="2480166" cy="6381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B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usiness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EA9C6-BF57-4D48-A818-D0FBCBF84796}"/>
              </a:ext>
            </a:extLst>
          </p:cNvPr>
          <p:cNvSpPr txBox="1"/>
          <p:nvPr/>
        </p:nvSpPr>
        <p:spPr>
          <a:xfrm>
            <a:off x="901324" y="3019049"/>
            <a:ext cx="8084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안정된 사업 운영과 새로운 성장의 균형된 구조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pic>
        <p:nvPicPr>
          <p:cNvPr id="7" name="Picture 2" descr="http://www.clker.com/cliparts/2/N/T/k/A/V/number-1-design-md.png">
            <a:extLst>
              <a:ext uri="{FF2B5EF4-FFF2-40B4-BE49-F238E27FC236}">
                <a16:creationId xmlns:a16="http://schemas.microsoft.com/office/drawing/2014/main" id="{92BA2BA4-7515-4B04-9747-4D079F84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26" y="3414964"/>
            <a:ext cx="309867" cy="30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CF5A8-C146-4C85-BE9F-5BBBC03C58C2}"/>
              </a:ext>
            </a:extLst>
          </p:cNvPr>
          <p:cNvSpPr txBox="1"/>
          <p:nvPr/>
        </p:nvSpPr>
        <p:spPr>
          <a:xfrm>
            <a:off x="1299793" y="33754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안정성</a:t>
            </a:r>
          </a:p>
        </p:txBody>
      </p:sp>
      <p:pic>
        <p:nvPicPr>
          <p:cNvPr id="9" name="Picture 4" descr="http://www.clker.com/cliparts/v/N/K/k/N/3/number-2-design-md.png">
            <a:extLst>
              <a:ext uri="{FF2B5EF4-FFF2-40B4-BE49-F238E27FC236}">
                <a16:creationId xmlns:a16="http://schemas.microsoft.com/office/drawing/2014/main" id="{348E8C49-FC8A-49CA-A96C-195680CD3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866" y="3414964"/>
            <a:ext cx="309867" cy="30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CC099E-66FB-4F3D-970B-5A9209829B78}"/>
              </a:ext>
            </a:extLst>
          </p:cNvPr>
          <p:cNvSpPr txBox="1"/>
          <p:nvPr/>
        </p:nvSpPr>
        <p:spPr>
          <a:xfrm>
            <a:off x="4141205" y="33814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성장성</a:t>
            </a:r>
          </a:p>
        </p:txBody>
      </p:sp>
      <p:pic>
        <p:nvPicPr>
          <p:cNvPr id="11" name="Picture 6" descr="http://www.clker.com/cliparts/Y/W/6/s/c/k/number-3-design-md.png">
            <a:extLst>
              <a:ext uri="{FF2B5EF4-FFF2-40B4-BE49-F238E27FC236}">
                <a16:creationId xmlns:a16="http://schemas.microsoft.com/office/drawing/2014/main" id="{3C471688-2FCD-4EE6-8AC7-1B4D2C1A7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260" y="3415467"/>
            <a:ext cx="299355" cy="29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0CAF7A-A1DA-445B-B03F-6C65E5802F8C}"/>
              </a:ext>
            </a:extLst>
          </p:cNvPr>
          <p:cNvSpPr txBox="1"/>
          <p:nvPr/>
        </p:nvSpPr>
        <p:spPr>
          <a:xfrm>
            <a:off x="6533087" y="33721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수익성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ADB54-09AA-4E9C-B2FA-C3C10688676B}"/>
              </a:ext>
            </a:extLst>
          </p:cNvPr>
          <p:cNvSpPr txBox="1"/>
          <p:nvPr/>
        </p:nvSpPr>
        <p:spPr>
          <a:xfrm>
            <a:off x="899592" y="3734735"/>
            <a:ext cx="2693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업무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/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교육 서비스 시스템 개발과 운영을 통한 기업의 안정적 운영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4CFF7C-D1B1-49DE-B822-E0326B81B8EA}"/>
              </a:ext>
            </a:extLst>
          </p:cNvPr>
          <p:cNvSpPr txBox="1"/>
          <p:nvPr/>
        </p:nvSpPr>
        <p:spPr>
          <a:xfrm>
            <a:off x="3686849" y="3734735"/>
            <a:ext cx="2326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모바일을 지원하는 클라우드 기반의 중소 교육관리 솔루션과 서비스를 발굴하여 진출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 latinLnBrk="0"/>
            <a:endParaRPr lang="ko-KR" altLang="en-US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484EDC-F971-43B8-900F-E96B448BE5CD}"/>
              </a:ext>
            </a:extLst>
          </p:cNvPr>
          <p:cNvSpPr txBox="1"/>
          <p:nvPr/>
        </p:nvSpPr>
        <p:spPr>
          <a:xfrm>
            <a:off x="6156176" y="3714822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보유 기술과 경험의 재사용성을 높일 수 있는 사업에 전념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 latinLnBrk="0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보유 콘텐츠의 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OSMU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를 통해 수익을 극대화</a:t>
            </a:r>
          </a:p>
        </p:txBody>
      </p:sp>
      <p:pic>
        <p:nvPicPr>
          <p:cNvPr id="16" name="Picture 2" descr="information icon png에 대한 이미지 검색결과">
            <a:extLst>
              <a:ext uri="{FF2B5EF4-FFF2-40B4-BE49-F238E27FC236}">
                <a16:creationId xmlns:a16="http://schemas.microsoft.com/office/drawing/2014/main" id="{4107CF4D-8098-4F8D-948E-1CC9FE8C9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288958" y="1937436"/>
            <a:ext cx="340013" cy="3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12B9E1F-D917-4153-847C-FA5C0CCD5AFE}"/>
              </a:ext>
            </a:extLst>
          </p:cNvPr>
          <p:cNvSpPr/>
          <p:nvPr/>
        </p:nvSpPr>
        <p:spPr>
          <a:xfrm>
            <a:off x="2699792" y="1919322"/>
            <a:ext cx="23687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OOOO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설립</a:t>
            </a:r>
            <a:endParaRPr lang="en-US" altLang="ko-KR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/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OOO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대표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66D1A6-CEEB-4E61-BF0B-61C5D4B6D362}"/>
              </a:ext>
            </a:extLst>
          </p:cNvPr>
          <p:cNvSpPr/>
          <p:nvPr/>
        </p:nvSpPr>
        <p:spPr>
          <a:xfrm>
            <a:off x="4998554" y="1907148"/>
            <a:ext cx="348290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000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억 매출</a:t>
            </a:r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(0000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</a:t>
            </a:r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</a:p>
          <a:p>
            <a:pPr algn="just"/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000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억 매출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(0000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  <a:endParaRPr lang="ko-KR" altLang="en-US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pic>
        <p:nvPicPr>
          <p:cNvPr id="19" name="Picture 6" descr="korea currency icon png에 대한 이미지 검색결과">
            <a:extLst>
              <a:ext uri="{FF2B5EF4-FFF2-40B4-BE49-F238E27FC236}">
                <a16:creationId xmlns:a16="http://schemas.microsoft.com/office/drawing/2014/main" id="{09ACAE37-E5A9-4E00-8BDC-21F44BE8F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019" y="1907148"/>
            <a:ext cx="345675" cy="34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29205E0-717C-4706-9722-2F13F0395200}"/>
              </a:ext>
            </a:extLst>
          </p:cNvPr>
          <p:cNvCxnSpPr>
            <a:cxnSpLocks/>
          </p:cNvCxnSpPr>
          <p:nvPr/>
        </p:nvCxnSpPr>
        <p:spPr>
          <a:xfrm>
            <a:off x="979132" y="2931790"/>
            <a:ext cx="2368732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771AA4F-7572-4F17-8FF7-D3B279B0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645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298594"/>
            <a:ext cx="7956376" cy="68898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제안사 소개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70379-05E8-443B-9CA3-6191B18C8AB0}"/>
              </a:ext>
            </a:extLst>
          </p:cNvPr>
          <p:cNvSpPr txBox="1"/>
          <p:nvPr/>
        </p:nvSpPr>
        <p:spPr>
          <a:xfrm>
            <a:off x="820916" y="837341"/>
            <a:ext cx="4864651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M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ajor business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A8B68E-6282-4624-8FF6-090BD023BB85}"/>
              </a:ext>
            </a:extLst>
          </p:cNvPr>
          <p:cNvSpPr/>
          <p:nvPr/>
        </p:nvSpPr>
        <p:spPr>
          <a:xfrm>
            <a:off x="842333" y="1499492"/>
            <a:ext cx="78495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시스템 개발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 운영과 컨설팅 등 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IT 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서비스와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축적하여 보유하고 있는 기술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콘텐츠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,  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경험을 기반으로 국내외 대외 사업을 실시</a:t>
            </a:r>
            <a:endParaRPr lang="en-US" altLang="ko-KR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33771A-8AE0-4DF4-A563-4E1313977A4B}"/>
              </a:ext>
            </a:extLst>
          </p:cNvPr>
          <p:cNvSpPr txBox="1"/>
          <p:nvPr/>
        </p:nvSpPr>
        <p:spPr>
          <a:xfrm>
            <a:off x="1293477" y="2020895"/>
            <a:ext cx="1644474" cy="5601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S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ystem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EB2A0-A6C8-41E1-B6F6-28FCDA6F01FA}"/>
              </a:ext>
            </a:extLst>
          </p:cNvPr>
          <p:cNvSpPr txBox="1"/>
          <p:nvPr/>
        </p:nvSpPr>
        <p:spPr>
          <a:xfrm>
            <a:off x="4164784" y="2020895"/>
            <a:ext cx="1644474" cy="5601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C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ontents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02A9E-6D44-4BE1-AF01-FC9A43918B82}"/>
              </a:ext>
            </a:extLst>
          </p:cNvPr>
          <p:cNvSpPr txBox="1"/>
          <p:nvPr/>
        </p:nvSpPr>
        <p:spPr>
          <a:xfrm>
            <a:off x="6865855" y="1983259"/>
            <a:ext cx="1644474" cy="5601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C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onsulting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1C6BF-489E-46BA-83FF-2DC004FEF030}"/>
              </a:ext>
            </a:extLst>
          </p:cNvPr>
          <p:cNvSpPr txBox="1"/>
          <p:nvPr/>
        </p:nvSpPr>
        <p:spPr>
          <a:xfrm>
            <a:off x="860353" y="3219822"/>
            <a:ext cx="248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20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년의 꾸준한 사업시행으로 얻은 시스템 개발 및 운영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유지보수에 대한 기술력과 서비스 지속의 강점을 제공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F4D0F3-3C5A-4484-BED5-4D7D2ABA9C17}"/>
              </a:ext>
            </a:extLst>
          </p:cNvPr>
          <p:cNvSpPr txBox="1"/>
          <p:nvPr/>
        </p:nvSpPr>
        <p:spPr>
          <a:xfrm>
            <a:off x="3655265" y="3211505"/>
            <a:ext cx="24804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최고 수준의 강사진이 매일 실시하는 고품질의 콘텐츠에 대한 타기관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학교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기업에 직무보수 교육 및 인재 개발을 위한 맞춤형으로 공급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533AE9-743B-4503-85B1-78AEF4A2B75F}"/>
              </a:ext>
            </a:extLst>
          </p:cNvPr>
          <p:cNvSpPr txBox="1"/>
          <p:nvPr/>
        </p:nvSpPr>
        <p:spPr>
          <a:xfrm>
            <a:off x="6322962" y="3181902"/>
            <a:ext cx="2480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사업 발굴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타당성 조사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실시협의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사업 제안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품질관리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사후평가 등 국내외 교육정보화 사업 및 시스템 개발 분야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CC1E80-C81F-4B44-AE65-57FBA5468240}"/>
              </a:ext>
            </a:extLst>
          </p:cNvPr>
          <p:cNvSpPr txBox="1"/>
          <p:nvPr/>
        </p:nvSpPr>
        <p:spPr>
          <a:xfrm>
            <a:off x="860353" y="2593816"/>
            <a:ext cx="2484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교육 시스템 개발과 운영</a:t>
            </a:r>
            <a:r>
              <a:rPr lang="en-US" altLang="ko-KR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유지보수 사업</a:t>
            </a:r>
            <a:endParaRPr lang="en-US" altLang="ko-KR" sz="15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9160F-EBF7-4985-8C24-DA1B9A6FD9A6}"/>
              </a:ext>
            </a:extLst>
          </p:cNvPr>
          <p:cNvSpPr txBox="1"/>
          <p:nvPr/>
        </p:nvSpPr>
        <p:spPr>
          <a:xfrm>
            <a:off x="3655265" y="2565706"/>
            <a:ext cx="2484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교육분야 콘텐츠를 유통</a:t>
            </a:r>
            <a:r>
              <a:rPr lang="en-US" altLang="ko-KR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/</a:t>
            </a:r>
            <a:r>
              <a:rPr lang="ko-KR" altLang="en-US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판매</a:t>
            </a:r>
            <a:endParaRPr lang="en-US" altLang="ko-KR" sz="15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3DB570-003B-4A10-AD21-12DA2B8A2D37}"/>
              </a:ext>
            </a:extLst>
          </p:cNvPr>
          <p:cNvSpPr txBox="1"/>
          <p:nvPr/>
        </p:nvSpPr>
        <p:spPr>
          <a:xfrm>
            <a:off x="6318777" y="2503657"/>
            <a:ext cx="2484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5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국내외 교육정보화 및 시스템 개발 컨설팅</a:t>
            </a:r>
            <a:endParaRPr lang="en-US" altLang="ko-KR" sz="15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pic>
        <p:nvPicPr>
          <p:cNvPr id="32" name="Picture 2" descr="consulting icon png에 대한 이미지 검색결과">
            <a:extLst>
              <a:ext uri="{FF2B5EF4-FFF2-40B4-BE49-F238E27FC236}">
                <a16:creationId xmlns:a16="http://schemas.microsoft.com/office/drawing/2014/main" id="{D2B8B979-26B7-4C38-B1EB-6A77D793E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132" y="2019302"/>
            <a:ext cx="492126" cy="49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관련 이미지">
            <a:extLst>
              <a:ext uri="{FF2B5EF4-FFF2-40B4-BE49-F238E27FC236}">
                <a16:creationId xmlns:a16="http://schemas.microsoft.com/office/drawing/2014/main" id="{9DA9E8FE-1C3B-4F89-9FCB-B7AFE92E6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303" y="2068147"/>
            <a:ext cx="459481" cy="45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programming icon png에 대한 이미지 검색결과">
            <a:extLst>
              <a:ext uri="{FF2B5EF4-FFF2-40B4-BE49-F238E27FC236}">
                <a16:creationId xmlns:a16="http://schemas.microsoft.com/office/drawing/2014/main" id="{CDE5DBE6-8F04-4ADF-9ADA-B196A726B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105856"/>
            <a:ext cx="393885" cy="39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C13DE9D-3ED7-45A9-8A43-015AC12C7D87}"/>
              </a:ext>
            </a:extLst>
          </p:cNvPr>
          <p:cNvCxnSpPr>
            <a:cxnSpLocks/>
          </p:cNvCxnSpPr>
          <p:nvPr/>
        </p:nvCxnSpPr>
        <p:spPr>
          <a:xfrm>
            <a:off x="899592" y="1419622"/>
            <a:ext cx="2368732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6818FE-9B84-491D-B08F-71CD0A96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82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98620-A257-460A-A270-85F4DB825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298594"/>
            <a:ext cx="7956376" cy="688980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1.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제안사 소개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70379-05E8-443B-9CA3-6191B18C8AB0}"/>
              </a:ext>
            </a:extLst>
          </p:cNvPr>
          <p:cNvSpPr txBox="1"/>
          <p:nvPr/>
        </p:nvSpPr>
        <p:spPr>
          <a:xfrm>
            <a:off x="820916" y="837341"/>
            <a:ext cx="4864651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E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xperience in</a:t>
            </a:r>
            <a:r>
              <a:rPr lang="ko-KR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en-US" altLang="ko-K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business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A8B68E-6282-4624-8FF6-090BD023BB85}"/>
              </a:ext>
            </a:extLst>
          </p:cNvPr>
          <p:cNvSpPr/>
          <p:nvPr/>
        </p:nvSpPr>
        <p:spPr>
          <a:xfrm>
            <a:off x="842332" y="1499492"/>
            <a:ext cx="7956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환경의 변화를 반영하며 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IT 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시스템 개발과 교육분야 콘텐츠 개발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국내외 컨설팅을 </a:t>
            </a:r>
            <a:r>
              <a:rPr lang="en-US" altLang="ko-KR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00</a:t>
            </a:r>
            <a:r>
              <a:rPr lang="ko-KR" alt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년간 진행 중</a:t>
            </a:r>
            <a:endParaRPr lang="en-US" altLang="ko-KR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atinLnBrk="0"/>
            <a:endParaRPr lang="en-US" altLang="ko-KR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33771A-8AE0-4DF4-A563-4E1313977A4B}"/>
              </a:ext>
            </a:extLst>
          </p:cNvPr>
          <p:cNvSpPr txBox="1"/>
          <p:nvPr/>
        </p:nvSpPr>
        <p:spPr>
          <a:xfrm>
            <a:off x="1293477" y="2020895"/>
            <a:ext cx="1644474" cy="5601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S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ystem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EB2A0-A6C8-41E1-B6F6-28FCDA6F01FA}"/>
              </a:ext>
            </a:extLst>
          </p:cNvPr>
          <p:cNvSpPr txBox="1"/>
          <p:nvPr/>
        </p:nvSpPr>
        <p:spPr>
          <a:xfrm>
            <a:off x="4164784" y="2020895"/>
            <a:ext cx="1644474" cy="5601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C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ontents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02A9E-6D44-4BE1-AF01-FC9A43918B82}"/>
              </a:ext>
            </a:extLst>
          </p:cNvPr>
          <p:cNvSpPr txBox="1"/>
          <p:nvPr/>
        </p:nvSpPr>
        <p:spPr>
          <a:xfrm>
            <a:off x="6865855" y="1983259"/>
            <a:ext cx="1644474" cy="56015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n w="0"/>
                <a:solidFill>
                  <a:schemeClr val="accent5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C</a:t>
            </a:r>
            <a:r>
              <a:rPr lang="en-US" altLang="ko-KR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onsulting</a:t>
            </a:r>
          </a:p>
        </p:txBody>
      </p:sp>
      <p:pic>
        <p:nvPicPr>
          <p:cNvPr id="32" name="Picture 2" descr="consulting icon png에 대한 이미지 검색결과">
            <a:extLst>
              <a:ext uri="{FF2B5EF4-FFF2-40B4-BE49-F238E27FC236}">
                <a16:creationId xmlns:a16="http://schemas.microsoft.com/office/drawing/2014/main" id="{D2B8B979-26B7-4C38-B1EB-6A77D793E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132" y="2019302"/>
            <a:ext cx="492126" cy="49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관련 이미지">
            <a:extLst>
              <a:ext uri="{FF2B5EF4-FFF2-40B4-BE49-F238E27FC236}">
                <a16:creationId xmlns:a16="http://schemas.microsoft.com/office/drawing/2014/main" id="{9DA9E8FE-1C3B-4F89-9FCB-B7AFE92E6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303" y="2068147"/>
            <a:ext cx="459481" cy="45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programming icon png에 대한 이미지 검색결과">
            <a:extLst>
              <a:ext uri="{FF2B5EF4-FFF2-40B4-BE49-F238E27FC236}">
                <a16:creationId xmlns:a16="http://schemas.microsoft.com/office/drawing/2014/main" id="{CDE5DBE6-8F04-4ADF-9ADA-B196A726B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105856"/>
            <a:ext cx="393885" cy="39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C13DE9D-3ED7-45A9-8A43-015AC12C7D87}"/>
              </a:ext>
            </a:extLst>
          </p:cNvPr>
          <p:cNvCxnSpPr>
            <a:cxnSpLocks/>
          </p:cNvCxnSpPr>
          <p:nvPr/>
        </p:nvCxnSpPr>
        <p:spPr>
          <a:xfrm>
            <a:off x="899592" y="1419622"/>
            <a:ext cx="2952328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7099EBF-D25A-4EF6-8B51-7E0BB5EAB9F5}"/>
              </a:ext>
            </a:extLst>
          </p:cNvPr>
          <p:cNvSpPr txBox="1"/>
          <p:nvPr/>
        </p:nvSpPr>
        <p:spPr>
          <a:xfrm>
            <a:off x="793326" y="3487031"/>
            <a:ext cx="2791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000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여건의 교육관련 시스템 개발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년째 교육사업의 개발 및 운영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유지보수 진행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7150C2-367F-469F-8395-AAA0E951FB04}"/>
              </a:ext>
            </a:extLst>
          </p:cNvPr>
          <p:cNvSpPr txBox="1"/>
          <p:nvPr/>
        </p:nvSpPr>
        <p:spPr>
          <a:xfrm>
            <a:off x="3666211" y="3529503"/>
            <a:ext cx="261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공공기관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대학교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기업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유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초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중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고 대상의 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000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여 과정 개발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/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AE2455-C13C-44E0-9C51-CE92BFBAC4BB}"/>
              </a:ext>
            </a:extLst>
          </p:cNvPr>
          <p:cNvSpPr txBox="1"/>
          <p:nvPr/>
        </p:nvSpPr>
        <p:spPr>
          <a:xfrm>
            <a:off x="6445792" y="3487031"/>
            <a:ext cx="248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IT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분야 컨설팅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교육정보화 분야에 대한 국내 및 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ODA(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공적개발원조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사업의 발굴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타당성조사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실시협의 등의 컨설팅 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000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여 회 참여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2C848AC-374A-4B2E-BAE0-B0168F03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2B81CA-B298-4985-A1E8-5A6A116BD5EE}"/>
              </a:ext>
            </a:extLst>
          </p:cNvPr>
          <p:cNvSpPr/>
          <p:nvPr/>
        </p:nvSpPr>
        <p:spPr>
          <a:xfrm>
            <a:off x="986578" y="2662200"/>
            <a:ext cx="2232248" cy="7827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관련 이미지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7CFAECB-E069-4232-B747-A768E5252363}"/>
              </a:ext>
            </a:extLst>
          </p:cNvPr>
          <p:cNvSpPr/>
          <p:nvPr/>
        </p:nvSpPr>
        <p:spPr>
          <a:xfrm>
            <a:off x="3779912" y="2653056"/>
            <a:ext cx="2232248" cy="7827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관련 이미지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E807A3-4A8D-4065-B766-C602899DBBB9}"/>
              </a:ext>
            </a:extLst>
          </p:cNvPr>
          <p:cNvSpPr/>
          <p:nvPr/>
        </p:nvSpPr>
        <p:spPr>
          <a:xfrm>
            <a:off x="6516216" y="2571750"/>
            <a:ext cx="2232248" cy="7827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accent6">
                    <a:lumMod val="50000"/>
                  </a:schemeClr>
                </a:solidFill>
              </a:rPr>
              <a:t>관련 이미지</a:t>
            </a:r>
          </a:p>
        </p:txBody>
      </p:sp>
    </p:spTree>
    <p:extLst>
      <p:ext uri="{BB962C8B-B14F-4D97-AF65-F5344CB8AC3E}">
        <p14:creationId xmlns:p14="http://schemas.microsoft.com/office/powerpoint/2010/main" val="862663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2.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소개</a:t>
            </a:r>
            <a:endParaRPr lang="ko-KR" altLang="en-US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CB610F-D664-4327-8F35-C7D8B448E6B8}"/>
              </a:ext>
            </a:extLst>
          </p:cNvPr>
          <p:cNvSpPr/>
          <p:nvPr/>
        </p:nvSpPr>
        <p:spPr>
          <a:xfrm>
            <a:off x="-72427" y="4731990"/>
            <a:ext cx="918051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Bef>
                <a:spcPts val="0"/>
              </a:spcBef>
            </a:pPr>
            <a:r>
              <a:rPr lang="ko-KR" altLang="en-US" sz="14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시스템의 분석시스템 발전으로 </a:t>
            </a:r>
            <a:r>
              <a:rPr lang="ko-KR" altLang="en-US" sz="1400" u="sng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공정한 면접 평가 지표를 제공할 수 있음</a:t>
            </a:r>
            <a:endParaRPr lang="en-US" altLang="ko-KR" sz="1400" u="sng" dirty="0">
              <a:solidFill>
                <a:srgbClr val="FF0000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63A720-A873-4109-9D0E-664021FD8662}"/>
              </a:ext>
            </a:extLst>
          </p:cNvPr>
          <p:cNvGrpSpPr/>
          <p:nvPr/>
        </p:nvGrpSpPr>
        <p:grpSpPr>
          <a:xfrm>
            <a:off x="867394" y="936286"/>
            <a:ext cx="3150398" cy="400110"/>
            <a:chOff x="979132" y="1895213"/>
            <a:chExt cx="3150398" cy="4001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1319145" y="1895213"/>
              <a:ext cx="28103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가상면접 시스템이란</a:t>
              </a:r>
              <a:r>
                <a:rPr lang="en-US" altLang="ko-KR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?</a:t>
              </a:r>
              <a:endParaRPr lang="ko-KR" altLang="en-US" sz="2000" dirty="0">
                <a:latin typeface="HY수평선B" panose="02030600000101010101" pitchFamily="18" charset="-127"/>
                <a:ea typeface="HY수평선B" panose="02030600000101010101" pitchFamily="18" charset="-127"/>
              </a:endParaRPr>
            </a:p>
          </p:txBody>
        </p:sp>
        <p:pic>
          <p:nvPicPr>
            <p:cNvPr id="35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79132" y="1925262"/>
              <a:ext cx="340013" cy="340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C386B25-9B5E-42F2-BBFC-F31562318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1363585"/>
            <a:ext cx="5257016" cy="3008365"/>
          </a:xfrm>
        </p:spPr>
        <p:txBody>
          <a:bodyPr>
            <a:normAutofit lnSpcReduction="10000"/>
          </a:bodyPr>
          <a:lstStyle/>
          <a:p>
            <a:pPr algn="just" latinLnBrk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공무원 채용 평가기준에서 점차 주요 지표로 부각되는 면접에서 보다 자신의 역량을 표현하여 평가점수를 높일 수 있도록 반복적인 연습을 통하여 면접에 대한 부담을 줄일 수 있도록 지원해주며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보다 저렴한 비용으로 더 많은 면접 연습의 기회를 제공하는 지원시스템</a:t>
            </a:r>
            <a:endParaRPr lang="en-US" altLang="ko-KR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536575" lvl="3" indent="-179388" algn="just"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다양한 면접관</a:t>
            </a:r>
            <a:r>
              <a:rPr lang="en-US" altLang="ko-KR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다양한 상황에 따른 질문의 콘텐츠를 확보하고 평가지표를 표준화함</a:t>
            </a:r>
            <a:endParaRPr lang="en-US" altLang="ko-KR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536575" lvl="3" indent="-179388" algn="just"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반복적인 모의 면접을 진행하여 면접에 대한 자신감을 확보하고 실전에서 최선의 역량을 발휘하도록 지원</a:t>
            </a:r>
            <a:endParaRPr lang="en-US" altLang="ko-KR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536575" lvl="3" indent="-179388" algn="just" latinLnBrk="0">
              <a:lnSpc>
                <a:spcPct val="110000"/>
              </a:lnSpc>
              <a:spcBef>
                <a:spcPts val="600"/>
              </a:spcBef>
            </a:pPr>
            <a:r>
              <a:rPr lang="ko-KR" altLang="en-US" sz="14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 과목의 콘텐츠의 다양성을 확보</a:t>
            </a:r>
            <a:endParaRPr lang="en-US" altLang="ko-KR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just" latinLnBrk="0">
              <a:lnSpc>
                <a:spcPct val="110000"/>
              </a:lnSpc>
              <a:spcBef>
                <a:spcPts val="12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모두 </a:t>
            </a:r>
            <a:r>
              <a:rPr lang="en-US" altLang="ko-KR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Win-Win</a:t>
            </a:r>
            <a:r>
              <a:rPr lang="ko-KR" altLang="en-US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하는 </a:t>
            </a:r>
            <a:r>
              <a:rPr lang="en-US" altLang="ko-KR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</a:t>
            </a:r>
            <a:r>
              <a:rPr lang="ko-KR" altLang="en-US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수요</a:t>
            </a:r>
            <a:r>
              <a:rPr lang="en-US" altLang="ko-KR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-</a:t>
            </a:r>
            <a:r>
              <a:rPr lang="ko-KR" altLang="en-US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공급</a:t>
            </a:r>
            <a:r>
              <a:rPr lang="en-US" altLang="ko-KR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) </a:t>
            </a:r>
            <a:r>
              <a:rPr lang="ko-KR" altLang="en-US" sz="1600" b="1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참여형 플랫폼</a:t>
            </a:r>
            <a:r>
              <a:rPr lang="ko-KR" altLang="en-US" sz="16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endParaRPr lang="en-US" altLang="ko-KR" sz="1600" u="sng" dirty="0">
              <a:solidFill>
                <a:srgbClr val="002060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97DDD0E-0C7E-424B-A7F5-0671127EDABE}"/>
              </a:ext>
            </a:extLst>
          </p:cNvPr>
          <p:cNvGrpSpPr/>
          <p:nvPr/>
        </p:nvGrpSpPr>
        <p:grpSpPr>
          <a:xfrm>
            <a:off x="6439153" y="1127862"/>
            <a:ext cx="2330178" cy="3434020"/>
            <a:chOff x="6419661" y="1187420"/>
            <a:chExt cx="2330178" cy="3434020"/>
          </a:xfrm>
        </p:grpSpPr>
        <p:pic>
          <p:nvPicPr>
            <p:cNvPr id="42" name="Picture 2" descr="users group iconì ëí ì´ë¯¸ì§ ê²ìê²°ê³¼">
              <a:extLst>
                <a:ext uri="{FF2B5EF4-FFF2-40B4-BE49-F238E27FC236}">
                  <a16:creationId xmlns:a16="http://schemas.microsoft.com/office/drawing/2014/main" id="{69E7ECEB-644C-4B20-ACF1-E5ED59D371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1943" y="3824486"/>
              <a:ext cx="534327" cy="534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B91171-0631-4DF2-971A-3EB264D721B8}"/>
                </a:ext>
              </a:extLst>
            </p:cNvPr>
            <p:cNvSpPr txBox="1"/>
            <p:nvPr/>
          </p:nvSpPr>
          <p:spPr>
            <a:xfrm>
              <a:off x="7036407" y="4344441"/>
              <a:ext cx="10054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시험 </a:t>
              </a:r>
              <a:r>
                <a:rPr lang="ko-KR" altLang="en-US" sz="1200" dirty="0" err="1">
                  <a:latin typeface="HY수평선M" panose="02030600000101010101" pitchFamily="18" charset="-127"/>
                  <a:ea typeface="HY수평선M" panose="02030600000101010101" pitchFamily="18" charset="-127"/>
                </a:rPr>
                <a:t>준비생</a:t>
              </a:r>
              <a:endParaRPr lang="ko-KR" altLang="en-US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</p:txBody>
        </p:sp>
        <p:pic>
          <p:nvPicPr>
            <p:cNvPr id="44" name="Picture 8" descr="teacher icon pngì ëí ì´ë¯¸ì§ ê²ìê²°ê³¼">
              <a:extLst>
                <a:ext uri="{FF2B5EF4-FFF2-40B4-BE49-F238E27FC236}">
                  <a16:creationId xmlns:a16="http://schemas.microsoft.com/office/drawing/2014/main" id="{0ADE9EEF-0568-4E84-8C3D-9720B0645D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5072" y="1441238"/>
              <a:ext cx="504056" cy="504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F4F76DB-C34C-4FC1-AB73-8E7F7DE2E5A0}"/>
                </a:ext>
              </a:extLst>
            </p:cNvPr>
            <p:cNvSpPr txBox="1"/>
            <p:nvPr/>
          </p:nvSpPr>
          <p:spPr>
            <a:xfrm>
              <a:off x="6793866" y="1187420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 err="1">
                  <a:solidFill>
                    <a:srgbClr val="FF0000"/>
                  </a:solidFill>
                  <a:latin typeface="HY수평선M" panose="02030600000101010101" pitchFamily="18" charset="-127"/>
                  <a:ea typeface="HY수평선M" panose="02030600000101010101" pitchFamily="18" charset="-127"/>
                </a:rPr>
                <a:t>윌비스고시학원</a:t>
              </a:r>
              <a:endParaRPr lang="ko-KR" altLang="en-US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65CB384-F007-4DF1-ADAF-6B55A86AA5BB}"/>
                </a:ext>
              </a:extLst>
            </p:cNvPr>
            <p:cNvCxnSpPr/>
            <p:nvPr/>
          </p:nvCxnSpPr>
          <p:spPr>
            <a:xfrm>
              <a:off x="7431096" y="2065327"/>
              <a:ext cx="0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B99E5020-2F0B-416E-971D-B6518E64A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5112" y="2025942"/>
              <a:ext cx="1" cy="441911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7A71BFAF-C085-4513-9DF3-0BBA388B6AC8}"/>
                </a:ext>
              </a:extLst>
            </p:cNvPr>
            <p:cNvCxnSpPr/>
            <p:nvPr/>
          </p:nvCxnSpPr>
          <p:spPr>
            <a:xfrm>
              <a:off x="7424216" y="3310317"/>
              <a:ext cx="0" cy="432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CE5E0FB5-76E6-4643-8949-C9E88967E0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8232" y="3270932"/>
              <a:ext cx="1" cy="441911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5825AD7-D338-42E3-9049-AFF33750C43E}"/>
                </a:ext>
              </a:extLst>
            </p:cNvPr>
            <p:cNvSpPr txBox="1"/>
            <p:nvPr/>
          </p:nvSpPr>
          <p:spPr>
            <a:xfrm>
              <a:off x="6419661" y="1869306"/>
              <a:ext cx="93647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모의면접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시스템 제공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65D31F2-A571-4FCA-AF9B-E9D7239BF8C6}"/>
                </a:ext>
              </a:extLst>
            </p:cNvPr>
            <p:cNvSpPr txBox="1"/>
            <p:nvPr/>
          </p:nvSpPr>
          <p:spPr>
            <a:xfrm>
              <a:off x="7640240" y="1963405"/>
              <a:ext cx="1109599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전문기관 역할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pPr marL="171450" indent="-171450">
                <a:buFont typeface="Wingdings 3" panose="05040102010807070707" pitchFamily="18" charset="2"/>
                <a:buChar char="p"/>
              </a:pPr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  <a:sym typeface="Wingdings 3" panose="05040102010807070707" pitchFamily="18" charset="2"/>
                </a:rPr>
                <a:t>인지도 향상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  <a:sym typeface="Wingdings 3" panose="05040102010807070707" pitchFamily="18" charset="2"/>
              </a:endParaRPr>
            </a:p>
            <a:p>
              <a:pPr marL="171450" indent="-171450">
                <a:buFont typeface="Wingdings 3" panose="05040102010807070707" pitchFamily="18" charset="2"/>
                <a:buChar char="p"/>
              </a:pPr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수험생 확보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233D52C-FC51-41B1-9C59-18DD512163F3}"/>
                </a:ext>
              </a:extLst>
            </p:cNvPr>
            <p:cNvSpPr txBox="1"/>
            <p:nvPr/>
          </p:nvSpPr>
          <p:spPr>
            <a:xfrm>
              <a:off x="6420082" y="3185258"/>
              <a:ext cx="795411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반복적인 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훈련으로 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면접 대비</a:t>
              </a:r>
              <a:endPara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9E5D843-BDAA-42EF-893E-881C71400BC8}"/>
                </a:ext>
              </a:extLst>
            </p:cNvPr>
            <p:cNvSpPr txBox="1"/>
            <p:nvPr/>
          </p:nvSpPr>
          <p:spPr>
            <a:xfrm>
              <a:off x="7652088" y="3429020"/>
              <a:ext cx="7954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이용 내역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B45B8FD-EEFB-4B49-B339-4A4E14A72B1B}"/>
                </a:ext>
              </a:extLst>
            </p:cNvPr>
            <p:cNvSpPr/>
            <p:nvPr/>
          </p:nvSpPr>
          <p:spPr>
            <a:xfrm>
              <a:off x="6517444" y="3954581"/>
              <a:ext cx="5998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u="sng" dirty="0">
                  <a:ln w="0"/>
                  <a:solidFill>
                    <a:srgbClr val="0000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HY수평선B" panose="02030600000101010101" pitchFamily="18" charset="-127"/>
                  <a:ea typeface="HY수평선B" panose="02030600000101010101" pitchFamily="18" charset="-127"/>
                </a:rPr>
                <a:t>Win</a:t>
              </a:r>
              <a:endParaRPr lang="ko-KR" altLang="en-US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369A4C4-8E9A-4DCE-9227-6189606FCDC9}"/>
                </a:ext>
              </a:extLst>
            </p:cNvPr>
            <p:cNvSpPr/>
            <p:nvPr/>
          </p:nvSpPr>
          <p:spPr>
            <a:xfrm>
              <a:off x="7896637" y="1636830"/>
              <a:ext cx="5998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u="sng" dirty="0">
                  <a:ln w="0"/>
                  <a:solidFill>
                    <a:srgbClr val="0000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HY수평선B" panose="02030600000101010101" pitchFamily="18" charset="-127"/>
                  <a:ea typeface="HY수평선B" panose="02030600000101010101" pitchFamily="18" charset="-127"/>
                </a:rPr>
                <a:t>Win</a:t>
              </a:r>
              <a:endParaRPr lang="ko-KR" altLang="en-US" dirty="0">
                <a:ln w="0"/>
                <a:solidFill>
                  <a:srgbClr val="0000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4035041-708F-431A-8D2F-1EE990720A3D}"/>
                </a:ext>
              </a:extLst>
            </p:cNvPr>
            <p:cNvSpPr/>
            <p:nvPr/>
          </p:nvSpPr>
          <p:spPr>
            <a:xfrm>
              <a:off x="6500248" y="1639059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u="sng" dirty="0">
                  <a:solidFill>
                    <a:srgbClr val="002060"/>
                  </a:solidFill>
                  <a:latin typeface="HY수평선M" panose="02030600000101010101" pitchFamily="18" charset="-127"/>
                  <a:ea typeface="HY수평선M" panose="02030600000101010101" pitchFamily="18" charset="-127"/>
                </a:rPr>
                <a:t>공급</a:t>
              </a:r>
              <a:endParaRPr lang="ko-KR" altLang="en-US" sz="1400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F252AE8-6286-4BB5-8C26-8EEEFB93D8CC}"/>
                </a:ext>
              </a:extLst>
            </p:cNvPr>
            <p:cNvSpPr/>
            <p:nvPr/>
          </p:nvSpPr>
          <p:spPr>
            <a:xfrm>
              <a:off x="6498162" y="2976707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400" u="sng" dirty="0">
                  <a:solidFill>
                    <a:srgbClr val="002060"/>
                  </a:solidFill>
                  <a:latin typeface="HY수평선M" panose="02030600000101010101" pitchFamily="18" charset="-127"/>
                  <a:ea typeface="HY수평선M" panose="02030600000101010101" pitchFamily="18" charset="-127"/>
                </a:rPr>
                <a:t>수요</a:t>
              </a:r>
              <a:endParaRPr lang="ko-KR" altLang="en-US" sz="1400" dirty="0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7FA12C-ACB6-422B-A35B-91FD80B6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7</a:t>
            </a:fld>
            <a:endParaRPr lang="ko-KR" altLang="en-US" dirty="0"/>
          </a:p>
        </p:txBody>
      </p:sp>
      <p:pic>
        <p:nvPicPr>
          <p:cNvPr id="28" name="Picture 24" descr="C:\Users\rainend-pc\AppData\Local\Microsoft\Windows\INetCache\IE\7M1WC1SM\VR1_TheRevitKid_Enscape3D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217" y="2504011"/>
            <a:ext cx="414141" cy="64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38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2.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소개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63A720-A873-4109-9D0E-664021FD8662}"/>
              </a:ext>
            </a:extLst>
          </p:cNvPr>
          <p:cNvGrpSpPr/>
          <p:nvPr/>
        </p:nvGrpSpPr>
        <p:grpSpPr>
          <a:xfrm>
            <a:off x="899150" y="935008"/>
            <a:ext cx="4968203" cy="400110"/>
            <a:chOff x="979132" y="1895213"/>
            <a:chExt cx="4968203" cy="4001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1319145" y="1895213"/>
              <a:ext cx="4628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가상면접 시스템의 개발 배경과 필요성</a:t>
              </a:r>
            </a:p>
          </p:txBody>
        </p:sp>
        <p:pic>
          <p:nvPicPr>
            <p:cNvPr id="35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79132" y="1925262"/>
              <a:ext cx="340013" cy="340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6668D7C-F994-4FE7-9F96-BD0E191B0BA3}"/>
              </a:ext>
            </a:extLst>
          </p:cNvPr>
          <p:cNvSpPr/>
          <p:nvPr/>
        </p:nvSpPr>
        <p:spPr>
          <a:xfrm>
            <a:off x="0" y="4609062"/>
            <a:ext cx="914400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  <a:spcBef>
                <a:spcPts val="0"/>
              </a:spcBef>
            </a:pPr>
            <a:r>
              <a:rPr lang="ko-KR" altLang="en-US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보훈공단 </a:t>
            </a:r>
            <a:r>
              <a:rPr lang="en-US" altLang="ko-KR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2020</a:t>
            </a:r>
            <a:r>
              <a:rPr lang="ko-KR" altLang="en-US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년 보훈병원 간호사 및 사무직</a:t>
            </a:r>
            <a:r>
              <a:rPr lang="en-US" altLang="ko-KR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채용과정에 </a:t>
            </a:r>
            <a:r>
              <a:rPr lang="en-US" altLang="ko-KR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AI</a:t>
            </a:r>
            <a:r>
              <a:rPr lang="ko-KR" altLang="en-US" sz="1000" u="sng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면접시스템을 임차하여 시험운행 예정 </a:t>
            </a:r>
            <a:r>
              <a:rPr lang="ko-KR" altLang="en-US" sz="10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en-US" altLang="ko-KR" sz="10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/ </a:t>
            </a:r>
            <a:r>
              <a:rPr lang="ko-KR" altLang="en-US" sz="10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적용분야가 </a:t>
            </a:r>
            <a:r>
              <a:rPr lang="ko-KR" altLang="en-US" sz="1000" u="sng" dirty="0" err="1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확대될것으로</a:t>
            </a:r>
            <a:r>
              <a:rPr lang="ko-KR" altLang="en-US" sz="10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판단됨</a:t>
            </a:r>
            <a:r>
              <a:rPr lang="en-US" altLang="ko-KR" sz="10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  <a:endParaRPr lang="en-US" altLang="ko-KR" sz="1000" u="sng" dirty="0">
              <a:solidFill>
                <a:srgbClr val="0000FF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A2C9E-4B69-47D1-92E6-6A74DE634DA2}"/>
              </a:ext>
            </a:extLst>
          </p:cNvPr>
          <p:cNvSpPr txBox="1"/>
          <p:nvPr/>
        </p:nvSpPr>
        <p:spPr>
          <a:xfrm>
            <a:off x="899592" y="1707654"/>
            <a:ext cx="76328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인재선발을 위해 많은 시간과 비용을 투자하고 있으나 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SPEC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위주의 평가가 될 수 밖에 없는 서류전형과 </a:t>
            </a:r>
            <a:r>
              <a:rPr lang="ko-KR" altLang="en-US" sz="12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면접관의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주관이 개입할 우려가 있어 객관적인 평가가 제한될 수 있기 때문에 우수 인재선발에 한계점 상존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marL="171450" indent="-171450" latinLnBrk="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면접장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준비와 면접관 교육 등 행정부담이 과중하고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전문적인 </a:t>
            </a:r>
            <a:r>
              <a:rPr lang="ko-KR" altLang="en-US" sz="12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면접관이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부족하여 평가결과에 대한 신뢰도가 저하될 개연성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atinLnBrk="0"/>
            <a:endParaRPr lang="en-US" altLang="ko-KR" sz="1200" dirty="0" err="1">
              <a:solidFill>
                <a:srgbClr val="0000FF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latinLnBrk="0"/>
            <a:r>
              <a:rPr lang="en-US" altLang="ko-KR" sz="12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- </a:t>
            </a:r>
            <a:r>
              <a:rPr lang="ko-KR" altLang="en-US" sz="1200" dirty="0" err="1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면접관의</a:t>
            </a:r>
            <a:r>
              <a:rPr lang="ko-KR" altLang="en-US" sz="12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주관적인 판단을 배제하고 객관적인 평가를 통해 우수인재 선발을 위해서는 </a:t>
            </a:r>
            <a:r>
              <a:rPr lang="en-US" altLang="ko-KR" sz="12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Big-data</a:t>
            </a:r>
            <a:r>
              <a:rPr lang="ko-KR" altLang="en-US" sz="1200" dirty="0">
                <a:solidFill>
                  <a:srgbClr val="0000FF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와 인공지능을 활용한 면접체계의 도입이 필요</a:t>
            </a:r>
          </a:p>
        </p:txBody>
      </p:sp>
      <p:sp>
        <p:nvSpPr>
          <p:cNvPr id="8" name="화살표: 줄무늬가 있는 오른쪽 7">
            <a:extLst>
              <a:ext uri="{FF2B5EF4-FFF2-40B4-BE49-F238E27FC236}">
                <a16:creationId xmlns:a16="http://schemas.microsoft.com/office/drawing/2014/main" id="{972BC815-8790-4858-AA0A-6BBEC167ED08}"/>
              </a:ext>
            </a:extLst>
          </p:cNvPr>
          <p:cNvSpPr/>
          <p:nvPr/>
        </p:nvSpPr>
        <p:spPr>
          <a:xfrm rot="5400000">
            <a:off x="3937793" y="3089671"/>
            <a:ext cx="324692" cy="511674"/>
          </a:xfrm>
          <a:prstGeom prst="stripedRightArrow">
            <a:avLst>
              <a:gd name="adj1" fmla="val 50000"/>
              <a:gd name="adj2" fmla="val 62972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0DCE08-CD5F-4E74-B8D4-0190AA731438}"/>
              </a:ext>
            </a:extLst>
          </p:cNvPr>
          <p:cNvSpPr/>
          <p:nvPr/>
        </p:nvSpPr>
        <p:spPr>
          <a:xfrm>
            <a:off x="827584" y="1369081"/>
            <a:ext cx="535595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'19</a:t>
            </a:r>
            <a:r>
              <a:rPr lang="ko-KR" altLang="en-US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년 </a:t>
            </a:r>
            <a:r>
              <a:rPr lang="en-US" altLang="ko-KR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u-</a:t>
            </a:r>
            <a:r>
              <a:rPr lang="ko-KR" altLang="en-US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국방실험사업</a:t>
            </a:r>
            <a:r>
              <a:rPr lang="en-US" altLang="ko-KR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(</a:t>
            </a:r>
            <a:r>
              <a:rPr lang="ko-KR" altLang="en-US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인공지능 면접체계 시험평가</a:t>
            </a:r>
            <a:r>
              <a:rPr lang="en-US" altLang="ko-KR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)</a:t>
            </a:r>
            <a:r>
              <a:rPr lang="ko-KR" altLang="en-US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 사업 진행 </a:t>
            </a:r>
            <a:r>
              <a:rPr lang="en-US" altLang="ko-KR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- </a:t>
            </a:r>
            <a:r>
              <a:rPr lang="ko-KR" altLang="en-US" sz="11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육군인사사령부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414DDE-1FA0-46E8-91C8-D5FF98A21B4E}"/>
              </a:ext>
            </a:extLst>
          </p:cNvPr>
          <p:cNvSpPr txBox="1"/>
          <p:nvPr/>
        </p:nvSpPr>
        <p:spPr>
          <a:xfrm>
            <a:off x="827584" y="3579862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아직 도입이나 시험의 단계가 없는 고시학원 업계 분야에서 </a:t>
            </a:r>
            <a:r>
              <a:rPr lang="ko-KR" altLang="en-US" sz="1200" dirty="0" err="1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윌비스가</a:t>
            </a:r>
            <a:r>
              <a:rPr lang="ko-KR" altLang="en-US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최초로 </a:t>
            </a:r>
            <a:r>
              <a:rPr lang="ko-KR" altLang="en-US" sz="1200" dirty="0" err="1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공시생들을</a:t>
            </a:r>
            <a:r>
              <a:rPr lang="ko-KR" altLang="en-US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대상으로 새로운 학습방법을 제공하고</a:t>
            </a:r>
            <a:r>
              <a:rPr lang="en-US" altLang="ko-KR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또한 국가기관에서 공정한 면접 평가시스템 및 지표를 확립하고자 하는 목적에 미리 대비하여 준비할 수 있는 시스템을 확보함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25EA8797-6806-4FCC-87B5-98A8BE23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4499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24" y="278978"/>
            <a:ext cx="7956376" cy="688980"/>
          </a:xfrm>
        </p:spPr>
        <p:txBody>
          <a:bodyPr/>
          <a:lstStyle/>
          <a:p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2.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소개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63A720-A873-4109-9D0E-664021FD8662}"/>
              </a:ext>
            </a:extLst>
          </p:cNvPr>
          <p:cNvGrpSpPr/>
          <p:nvPr/>
        </p:nvGrpSpPr>
        <p:grpSpPr>
          <a:xfrm>
            <a:off x="899150" y="935008"/>
            <a:ext cx="4113803" cy="400110"/>
            <a:chOff x="979132" y="1895213"/>
            <a:chExt cx="4113803" cy="4001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1319145" y="1895213"/>
              <a:ext cx="3773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가상면접 시스템의 서비스 내용</a:t>
              </a:r>
            </a:p>
          </p:txBody>
        </p:sp>
        <p:pic>
          <p:nvPicPr>
            <p:cNvPr id="35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79132" y="1925262"/>
              <a:ext cx="340013" cy="340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6668D7C-F994-4FE7-9F96-BD0E191B0BA3}"/>
              </a:ext>
            </a:extLst>
          </p:cNvPr>
          <p:cNvSpPr/>
          <p:nvPr/>
        </p:nvSpPr>
        <p:spPr>
          <a:xfrm>
            <a:off x="0" y="4720893"/>
            <a:ext cx="8928992" cy="36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  <a:spcBef>
                <a:spcPts val="0"/>
              </a:spcBef>
            </a:pPr>
            <a:r>
              <a:rPr lang="ko-KR" altLang="en-US" sz="1400" u="sng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공정성 객관성 우수인재 선발의 기술적인 선두 전문가 시스템</a:t>
            </a:r>
            <a:endParaRPr lang="en-US" altLang="ko-KR" sz="1400" u="sng" dirty="0">
              <a:solidFill>
                <a:srgbClr val="0000FF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pic>
        <p:nvPicPr>
          <p:cNvPr id="64" name="Picture 2" descr="users group iconì ëí ì´ë¯¸ì§ ê²ìê²°ê³¼">
            <a:extLst>
              <a:ext uri="{FF2B5EF4-FFF2-40B4-BE49-F238E27FC236}">
                <a16:creationId xmlns:a16="http://schemas.microsoft.com/office/drawing/2014/main" id="{3E625092-2BA0-475E-AAF8-3010BA5C2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95" y="1889324"/>
            <a:ext cx="670535" cy="67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AutoShape 6" descr="teacher iconì ëí ì´ë¯¸ì§ ê²ìê²°ê³¼">
            <a:extLst>
              <a:ext uri="{FF2B5EF4-FFF2-40B4-BE49-F238E27FC236}">
                <a16:creationId xmlns:a16="http://schemas.microsoft.com/office/drawing/2014/main" id="{0F211516-AB8B-4FDC-876B-D04AED56CC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21738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ko-KR" altLang="en-US" sz="1350"/>
          </a:p>
        </p:txBody>
      </p:sp>
      <p:pic>
        <p:nvPicPr>
          <p:cNvPr id="66" name="Picture 8" descr="teacher icon pngì ëí ì´ë¯¸ì§ ê²ìê²°ê³¼">
            <a:extLst>
              <a:ext uri="{FF2B5EF4-FFF2-40B4-BE49-F238E27FC236}">
                <a16:creationId xmlns:a16="http://schemas.microsoft.com/office/drawing/2014/main" id="{FE882064-3CA0-4C06-8C1B-C2FBE03AB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432" y="1856358"/>
            <a:ext cx="581374" cy="58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A536EB6-EE9F-4801-80ED-318C11259CE0}"/>
              </a:ext>
            </a:extLst>
          </p:cNvPr>
          <p:cNvSpPr txBox="1"/>
          <p:nvPr/>
        </p:nvSpPr>
        <p:spPr>
          <a:xfrm>
            <a:off x="1692798" y="1938508"/>
            <a:ext cx="16722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진행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 진행 영상 확인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전문가 평가 확인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반복 가상면접 진행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다양한 면접환경 대비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저렴한 비용으로 이용</a:t>
            </a: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4D53DDD-2CB5-4258-BB32-861DBA409C9D}"/>
              </a:ext>
            </a:extLst>
          </p:cNvPr>
          <p:cNvCxnSpPr>
            <a:cxnSpLocks/>
          </p:cNvCxnSpPr>
          <p:nvPr/>
        </p:nvCxnSpPr>
        <p:spPr>
          <a:xfrm>
            <a:off x="1543953" y="1819870"/>
            <a:ext cx="18619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13EAC1E-1451-4B29-84B4-BEF64D0D4429}"/>
              </a:ext>
            </a:extLst>
          </p:cNvPr>
          <p:cNvCxnSpPr>
            <a:cxnSpLocks/>
          </p:cNvCxnSpPr>
          <p:nvPr/>
        </p:nvCxnSpPr>
        <p:spPr>
          <a:xfrm>
            <a:off x="5506251" y="1863275"/>
            <a:ext cx="20249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A9E9E53-FD0D-4118-A137-9AE212E7D663}"/>
              </a:ext>
            </a:extLst>
          </p:cNvPr>
          <p:cNvSpPr txBox="1"/>
          <p:nvPr/>
        </p:nvSpPr>
        <p:spPr>
          <a:xfrm>
            <a:off x="5506251" y="1983434"/>
            <a:ext cx="280076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공공기관 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AI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면접에 미리 대비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하여 선두주자로서 지위확보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요청 응시생에만 평가 응대로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업무 부담을 줄임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많은 면접 평가를 통해서 보다 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전문성을 확보할 수 있음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별다른 제약 없이 불특정 수강생에게 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서비스를 제공할 수 있음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차후 공공기관의 전문적인 자문역활로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표준을 제시할 수 있음</a:t>
            </a:r>
            <a:endParaRPr lang="en-US" altLang="ko-KR" sz="12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F16B4C-08CA-4FAC-9478-92698749F807}"/>
              </a:ext>
            </a:extLst>
          </p:cNvPr>
          <p:cNvSpPr txBox="1"/>
          <p:nvPr/>
        </p:nvSpPr>
        <p:spPr>
          <a:xfrm>
            <a:off x="594497" y="1542491"/>
            <a:ext cx="1005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 준비생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4E4331-E224-44C0-80E1-05CB2E58AFAD}"/>
              </a:ext>
            </a:extLst>
          </p:cNvPr>
          <p:cNvSpPr txBox="1"/>
          <p:nvPr/>
        </p:nvSpPr>
        <p:spPr>
          <a:xfrm>
            <a:off x="7406453" y="1557636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학원</a:t>
            </a:r>
            <a:r>
              <a:rPr lang="en-US" altLang="ko-KR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강사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0BEB406-FD89-44F3-8E77-F71805584A5B}"/>
              </a:ext>
            </a:extLst>
          </p:cNvPr>
          <p:cNvCxnSpPr>
            <a:cxnSpLocks/>
          </p:cNvCxnSpPr>
          <p:nvPr/>
        </p:nvCxnSpPr>
        <p:spPr>
          <a:xfrm flipH="1">
            <a:off x="5499838" y="2028360"/>
            <a:ext cx="6412" cy="22064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9CC7450C-0551-4A83-9D34-4B854752E12F}"/>
              </a:ext>
            </a:extLst>
          </p:cNvPr>
          <p:cNvCxnSpPr>
            <a:cxnSpLocks/>
          </p:cNvCxnSpPr>
          <p:nvPr/>
        </p:nvCxnSpPr>
        <p:spPr>
          <a:xfrm>
            <a:off x="1692797" y="1983434"/>
            <a:ext cx="0" cy="22513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A325A4A-257C-44DD-AE56-17AA2C2BC0BA}"/>
              </a:ext>
            </a:extLst>
          </p:cNvPr>
          <p:cNvSpPr txBox="1"/>
          <p:nvPr/>
        </p:nvSpPr>
        <p:spPr>
          <a:xfrm>
            <a:off x="3894084" y="4254168"/>
            <a:ext cx="1127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가상면접시스템</a:t>
            </a:r>
            <a:endParaRPr lang="en-US" altLang="ko-KR" sz="105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7D0AA8-7589-482C-9896-2CD4AA2C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25" name="Picture 24" descr="C:\Users\rainend-pc\AppData\Local\Microsoft\Windows\INetCache\IE\7M1WC1SM\VR1_TheRevitKid_Enscape3D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401" y="1857952"/>
            <a:ext cx="1464597" cy="2284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80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2.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소개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63A720-A873-4109-9D0E-664021FD8662}"/>
              </a:ext>
            </a:extLst>
          </p:cNvPr>
          <p:cNvGrpSpPr/>
          <p:nvPr/>
        </p:nvGrpSpPr>
        <p:grpSpPr>
          <a:xfrm>
            <a:off x="899150" y="931535"/>
            <a:ext cx="4365474" cy="400110"/>
            <a:chOff x="979132" y="1895213"/>
            <a:chExt cx="4365474" cy="4001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1319145" y="1895213"/>
              <a:ext cx="402546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유사 시스템 적용</a:t>
              </a:r>
              <a:r>
                <a:rPr lang="en-US" altLang="ko-KR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(</a:t>
              </a:r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예정</a:t>
              </a:r>
              <a:r>
                <a:rPr lang="en-US" altLang="ko-KR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)</a:t>
              </a:r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사례 소개</a:t>
              </a:r>
            </a:p>
          </p:txBody>
        </p:sp>
        <p:pic>
          <p:nvPicPr>
            <p:cNvPr id="35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79132" y="1925262"/>
              <a:ext cx="340013" cy="340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90A614-C616-4200-9EA3-C34A80FD1576}"/>
              </a:ext>
            </a:extLst>
          </p:cNvPr>
          <p:cNvSpPr/>
          <p:nvPr/>
        </p:nvSpPr>
        <p:spPr>
          <a:xfrm>
            <a:off x="-25" y="4737761"/>
            <a:ext cx="8244433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>
              <a:lnSpc>
                <a:spcPct val="130000"/>
              </a:lnSpc>
            </a:pPr>
            <a:r>
              <a:rPr lang="ko-KR" altLang="en-US" sz="12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취업이 중요 이슈인 지방대학을 중심으로 인사평가의 주요지표인 면접에 도움을 주기 위해 시험도입 증가 예상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A512C9A-6B5D-4CB6-A1CA-925C67EF9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466313"/>
              </p:ext>
            </p:extLst>
          </p:nvPr>
        </p:nvGraphicFramePr>
        <p:xfrm>
          <a:off x="467549" y="1361695"/>
          <a:ext cx="8208907" cy="2866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3">
                  <a:extLst>
                    <a:ext uri="{9D8B030D-6E8A-4147-A177-3AD203B41FA5}">
                      <a16:colId xmlns:a16="http://schemas.microsoft.com/office/drawing/2014/main" val="3351276584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147755011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313815122"/>
                    </a:ext>
                  </a:extLst>
                </a:gridCol>
              </a:tblGrid>
              <a:tr h="273951"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marL="68580" marR="68580" marT="34290" marB="34290"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한영대학교</a:t>
                      </a:r>
                      <a:r>
                        <a:rPr lang="ko-KR" altLang="en-US" sz="10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산학협력단</a:t>
                      </a:r>
                      <a:endParaRPr lang="ko-KR" altLang="en-US" sz="100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 marL="68580" marR="68580" marT="34290" marB="34290" anchor="ctr"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목포대학교</a:t>
                      </a:r>
                    </a:p>
                  </a:txBody>
                  <a:tcPr marL="68580" marR="68580" marT="34290" marB="34290" anchor="ctr"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750494"/>
                  </a:ext>
                </a:extLst>
              </a:tr>
              <a:tr h="26137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 err="1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사업명</a:t>
                      </a:r>
                      <a:endParaRPr lang="ko-KR" altLang="en-US" sz="80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모의면접 시스템 구입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 err="1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셀프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AI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모의면접훈련 시스템 구매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491967"/>
                  </a:ext>
                </a:extLst>
              </a:tr>
              <a:tr h="24268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개발사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미정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미정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327102"/>
                  </a:ext>
                </a:extLst>
              </a:tr>
              <a:tr h="745604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주요기능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가상면접 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(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취업면접 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/ NCS 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 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/ 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외국어 면접 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/ 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사용자 생성 면접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)</a:t>
                      </a:r>
                    </a:p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응답결과 자동평가</a:t>
                      </a:r>
                      <a:endParaRPr lang="en-US" altLang="ko-KR" sz="80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교수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-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학습 기능</a:t>
                      </a:r>
                      <a:endParaRPr lang="en-US" altLang="ko-KR" sz="80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면접지도 기능</a:t>
                      </a:r>
                      <a:endParaRPr lang="en-US" altLang="ko-KR" sz="80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시스템 관리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동일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366882"/>
                  </a:ext>
                </a:extLst>
              </a:tr>
              <a:tr h="267901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응답결과 자동평가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음성 높낮이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(Hz), 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목소리 크기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(dB) 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등 자동평가표 제공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동일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28036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교수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-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학습기능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교수자가 면접과제를 개설하고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, 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학습자의 응답결과를 수집해서 지도할 수 있는 교수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-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학습 기능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동일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87663"/>
                  </a:ext>
                </a:extLst>
              </a:tr>
              <a:tr h="399727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면접지도기능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학생들이 녹화연습 후 취업지원관</a:t>
                      </a:r>
                      <a:r>
                        <a:rPr lang="en-US" altLang="ko-KR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/</a:t>
                      </a:r>
                      <a:r>
                        <a:rPr lang="ko-KR" altLang="en-US" sz="800" dirty="0" err="1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상담사에게</a:t>
                      </a:r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그 결과를 전송해서 피드백을 받는 기능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동일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538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기타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올해</a:t>
                      </a:r>
                      <a:r>
                        <a:rPr lang="ko-KR" altLang="en-US" sz="80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시험 도입 예정</a:t>
                      </a:r>
                      <a:endParaRPr lang="ko-KR" altLang="en-US" sz="80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8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동일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57733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F4353C7-51E8-4D9F-A8B2-1AFC5F9B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363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2.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solidFill>
                  <a:schemeClr val="bg1">
                    <a:lumMod val="75000"/>
                  </a:schemeClr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 소개</a:t>
            </a:r>
            <a:endParaRPr lang="ko-KR" altLang="en-US" dirty="0">
              <a:solidFill>
                <a:schemeClr val="bg1">
                  <a:lumMod val="75000"/>
                </a:schemeClr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63A720-A873-4109-9D0E-664021FD8662}"/>
              </a:ext>
            </a:extLst>
          </p:cNvPr>
          <p:cNvGrpSpPr/>
          <p:nvPr/>
        </p:nvGrpSpPr>
        <p:grpSpPr>
          <a:xfrm>
            <a:off x="902406" y="931535"/>
            <a:ext cx="2661482" cy="400110"/>
            <a:chOff x="979132" y="1895213"/>
            <a:chExt cx="2661482" cy="4001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F186F7-0184-408E-A834-04F27F9D3FDD}"/>
                </a:ext>
              </a:extLst>
            </p:cNvPr>
            <p:cNvSpPr txBox="1"/>
            <p:nvPr/>
          </p:nvSpPr>
          <p:spPr>
            <a:xfrm>
              <a:off x="1319145" y="1895213"/>
              <a:ext cx="23214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err="1">
                  <a:latin typeface="HY수평선B" panose="02030600000101010101" pitchFamily="18" charset="-127"/>
                  <a:ea typeface="HY수평선B" panose="02030600000101010101" pitchFamily="18" charset="-127"/>
                </a:rPr>
                <a:t>사용자별</a:t>
              </a:r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 기대효과</a:t>
              </a:r>
            </a:p>
          </p:txBody>
        </p:sp>
        <p:pic>
          <p:nvPicPr>
            <p:cNvPr id="35" name="Picture 2" descr="information icon png에 대한 이미지 검색결과">
              <a:extLst>
                <a:ext uri="{FF2B5EF4-FFF2-40B4-BE49-F238E27FC236}">
                  <a16:creationId xmlns:a16="http://schemas.microsoft.com/office/drawing/2014/main" id="{91433C87-0257-49D8-B7A8-72693079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V="1">
              <a:off x="979132" y="1925262"/>
              <a:ext cx="340013" cy="340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99AE2-2367-4A8A-A0B0-3EEABCF2AE39}"/>
              </a:ext>
            </a:extLst>
          </p:cNvPr>
          <p:cNvSpPr/>
          <p:nvPr/>
        </p:nvSpPr>
        <p:spPr>
          <a:xfrm>
            <a:off x="0" y="4720893"/>
            <a:ext cx="9144000" cy="365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ko-KR" altLang="en-US" sz="1400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환경과 </a:t>
            </a:r>
            <a:r>
              <a:rPr lang="ko-KR" altLang="en-US" sz="1400" dirty="0" err="1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콘텐츠의</a:t>
            </a:r>
            <a:r>
              <a:rPr lang="ko-KR" altLang="en-US" sz="1400" dirty="0">
                <a:solidFill>
                  <a:srgbClr val="00206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다양성 확보를 통해 단순 암기면접 인재를 배제할 수 있어야 함 </a:t>
            </a:r>
            <a:endParaRPr lang="ko-KR" altLang="en-US" sz="14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graphicFrame>
        <p:nvGraphicFramePr>
          <p:cNvPr id="12" name="내용 개체 틀 13">
            <a:extLst>
              <a:ext uri="{FF2B5EF4-FFF2-40B4-BE49-F238E27FC236}">
                <a16:creationId xmlns:a16="http://schemas.microsoft.com/office/drawing/2014/main" id="{3E2D8A19-524B-4097-92F7-916C0DCA5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2943900"/>
              </p:ext>
            </p:extLst>
          </p:nvPr>
        </p:nvGraphicFramePr>
        <p:xfrm>
          <a:off x="611560" y="1321908"/>
          <a:ext cx="7956366" cy="3194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2122">
                  <a:extLst>
                    <a:ext uri="{9D8B030D-6E8A-4147-A177-3AD203B41FA5}">
                      <a16:colId xmlns:a16="http://schemas.microsoft.com/office/drawing/2014/main" val="1920083946"/>
                    </a:ext>
                  </a:extLst>
                </a:gridCol>
                <a:gridCol w="2652122">
                  <a:extLst>
                    <a:ext uri="{9D8B030D-6E8A-4147-A177-3AD203B41FA5}">
                      <a16:colId xmlns:a16="http://schemas.microsoft.com/office/drawing/2014/main" val="1363178025"/>
                    </a:ext>
                  </a:extLst>
                </a:gridCol>
                <a:gridCol w="2652122">
                  <a:extLst>
                    <a:ext uri="{9D8B030D-6E8A-4147-A177-3AD203B41FA5}">
                      <a16:colId xmlns:a16="http://schemas.microsoft.com/office/drawing/2014/main" val="1038625652"/>
                    </a:ext>
                  </a:extLst>
                </a:gridCol>
              </a:tblGrid>
              <a:tr h="279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면접응시생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학원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기관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75814"/>
                  </a:ext>
                </a:extLst>
              </a:tr>
              <a:tr h="2914607"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면접에 대한 부담이 많은 응시생이 저렴한 비용으로 충분한 면접응시 연습을 할 수 있음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본인의 면접 응시 태도를 바로 본인이 확인 가능하여 스스로 개선점을 파악할 수 있음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전문가의 추가적인 면접응시</a:t>
                      </a:r>
                      <a:r>
                        <a:rPr lang="ko-KR" altLang="en-US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결과를 확인하여 보다 구체적인 개선점을 숙지하게 됨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취업</a:t>
                      </a:r>
                      <a:r>
                        <a:rPr lang="en-US" altLang="ko-KR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,</a:t>
                      </a:r>
                      <a:r>
                        <a:rPr lang="en-US" altLang="ko-KR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</a:t>
                      </a:r>
                      <a:r>
                        <a:rPr lang="ko-KR" altLang="en-US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고시</a:t>
                      </a:r>
                      <a:r>
                        <a:rPr lang="en-US" altLang="ko-KR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, </a:t>
                      </a:r>
                      <a:r>
                        <a:rPr lang="ko-KR" altLang="en-US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외국어 등 다 분야를 준비하는 응시생이 한 공간에서 연습하고 확인이 가능함 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한국보훈복지의료공단 </a:t>
                      </a:r>
                      <a:r>
                        <a:rPr lang="en-US" altLang="ko-KR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2020</a:t>
                      </a: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년 공개채용 면접에서 시행되는 인공지능 면접시스템을 시작으로 다른 분야에도 시행이 예상되는 가운데 미리 대비하여 시스템을 확보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9388" lvl="0" indent="-179388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</a:t>
                      </a:r>
                      <a:r>
                        <a:rPr lang="ko-KR" altLang="en-US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연습을 원하는 응시생들에게 보다 많은 기회를 제공함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1450" indent="-171450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학원</a:t>
                      </a:r>
                      <a:r>
                        <a:rPr lang="ko-KR" altLang="en-US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강의 연계 또는 독립적인 서비스를 제공하여</a:t>
                      </a:r>
                      <a:r>
                        <a:rPr lang="en-US" altLang="ko-KR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, </a:t>
                      </a:r>
                      <a:r>
                        <a:rPr lang="ko-KR" altLang="en-US" sz="1050" baseline="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본원 수강생 외에 타 수강생도 부담 없이 서비스를 이용할 수 있도록 함</a:t>
                      </a:r>
                      <a:endParaRPr lang="ko-KR" altLang="en-US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차후 도입이 필요한 기관에서 면접의 공정성과 객관성의 기준을 판단할 수 있는 시스템을 확보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9388" lvl="0" indent="-179388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가상면접과 연계되어 인공지능 시스템을 도입함으로써 면접전문가 수급의 어려움을 줄일 수 있음</a:t>
                      </a:r>
                      <a:endParaRPr lang="en-US" altLang="ko-KR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  <a:p>
                      <a:pPr marL="179388" lvl="0" indent="-179388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dirty="0" err="1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면접관에</a:t>
                      </a: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 따른 주관적인 평가 기준을 보다 배제하여</a:t>
                      </a:r>
                      <a:r>
                        <a:rPr lang="en-US" altLang="ko-KR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, </a:t>
                      </a:r>
                      <a:r>
                        <a:rPr lang="ko-KR" altLang="en-US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인재선발에 보다 공정한 기준으로 선발할 수 있는 표준을 응시생에게 제시할 있음</a:t>
                      </a:r>
                      <a:r>
                        <a:rPr lang="en-US" altLang="ko-KR" sz="1050" dirty="0">
                          <a:latin typeface="HY수평선M" panose="02030600000101010101" pitchFamily="18" charset="-127"/>
                          <a:ea typeface="HY수평선M" panose="02030600000101010101" pitchFamily="18" charset="-127"/>
                        </a:rPr>
                        <a:t>.</a:t>
                      </a:r>
                      <a:endParaRPr lang="ko-KR" altLang="en-US" sz="1050" dirty="0">
                        <a:latin typeface="HY수평선M" panose="02030600000101010101" pitchFamily="18" charset="-127"/>
                        <a:ea typeface="HY수평선M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54773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10F8F1-B636-4259-A0D1-21D93768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9145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9D45D-0BFE-4614-A06B-C95DC7E1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3.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sz="2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사업 제안</a:t>
            </a:r>
            <a:endParaRPr lang="ko-KR" altLang="en-US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81C9C3-BD3F-483E-BCD6-9CEA6B32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12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2C47A9C-5C2F-48CD-AB49-99B4B4C428AD}"/>
              </a:ext>
            </a:extLst>
          </p:cNvPr>
          <p:cNvGrpSpPr/>
          <p:nvPr/>
        </p:nvGrpSpPr>
        <p:grpSpPr>
          <a:xfrm>
            <a:off x="978154" y="1740699"/>
            <a:ext cx="4288179" cy="400110"/>
            <a:chOff x="934641" y="1904854"/>
            <a:chExt cx="4288179" cy="400110"/>
          </a:xfrm>
        </p:grpSpPr>
        <p:pic>
          <p:nvPicPr>
            <p:cNvPr id="32" name="Picture 2" descr="http://www.clker.com/cliparts/2/N/T/k/A/V/number-1-design-md.png">
              <a:extLst>
                <a:ext uri="{FF2B5EF4-FFF2-40B4-BE49-F238E27FC236}">
                  <a16:creationId xmlns:a16="http://schemas.microsoft.com/office/drawing/2014/main" id="{293BEB27-93E6-48F1-A6E7-EC090DD69A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4641" y="1951443"/>
              <a:ext cx="309867" cy="309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6F28A8D-DF85-4DD7-87F4-A942480D7D4E}"/>
                </a:ext>
              </a:extLst>
            </p:cNvPr>
            <p:cNvSpPr txBox="1"/>
            <p:nvPr/>
          </p:nvSpPr>
          <p:spPr>
            <a:xfrm>
              <a:off x="1277509" y="1904854"/>
              <a:ext cx="39453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미래지향적 면접시스템으로 도입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BAD5BED-CAB3-4F05-9AF2-FD6C67E7E6C3}"/>
              </a:ext>
            </a:extLst>
          </p:cNvPr>
          <p:cNvGrpSpPr/>
          <p:nvPr/>
        </p:nvGrpSpPr>
        <p:grpSpPr>
          <a:xfrm>
            <a:off x="1006932" y="2702147"/>
            <a:ext cx="6726561" cy="400110"/>
            <a:chOff x="972899" y="2569450"/>
            <a:chExt cx="6726561" cy="400110"/>
          </a:xfrm>
        </p:grpSpPr>
        <p:pic>
          <p:nvPicPr>
            <p:cNvPr id="33" name="Picture 4" descr="http://www.clker.com/cliparts/v/N/K/k/N/3/number-2-design-md.png">
              <a:extLst>
                <a:ext uri="{FF2B5EF4-FFF2-40B4-BE49-F238E27FC236}">
                  <a16:creationId xmlns:a16="http://schemas.microsoft.com/office/drawing/2014/main" id="{E37EC2C7-D4F2-4AF4-82A3-7DC5EA024A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2899" y="2617767"/>
              <a:ext cx="309867" cy="309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DA1824-A589-44F8-A0F2-80158AB2C585}"/>
                </a:ext>
              </a:extLst>
            </p:cNvPr>
            <p:cNvSpPr txBox="1"/>
            <p:nvPr/>
          </p:nvSpPr>
          <p:spPr>
            <a:xfrm>
              <a:off x="1277509" y="2569450"/>
              <a:ext cx="6421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err="1">
                  <a:latin typeface="HY수평선B" panose="02030600000101010101" pitchFamily="18" charset="-127"/>
                  <a:ea typeface="HY수평선B" panose="02030600000101010101" pitchFamily="18" charset="-127"/>
                </a:rPr>
                <a:t>재원생</a:t>
              </a:r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 및 </a:t>
              </a:r>
              <a:r>
                <a:rPr lang="ko-KR" altLang="en-US" sz="2000" dirty="0" err="1">
                  <a:latin typeface="HY수평선B" panose="02030600000101010101" pitchFamily="18" charset="-127"/>
                  <a:ea typeface="HY수평선B" panose="02030600000101010101" pitchFamily="18" charset="-127"/>
                </a:rPr>
                <a:t>타원생에게</a:t>
              </a:r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 보다 많은 면접연습 기회를 제공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2D1D426-D657-4396-8ED4-A34EEBCA929F}"/>
              </a:ext>
            </a:extLst>
          </p:cNvPr>
          <p:cNvSpPr txBox="1"/>
          <p:nvPr/>
        </p:nvSpPr>
        <p:spPr>
          <a:xfrm>
            <a:off x="892788" y="967958"/>
            <a:ext cx="7927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가상면접 시스템이 </a:t>
            </a:r>
            <a:r>
              <a:rPr lang="ko-KR" altLang="en-US" sz="2000" dirty="0" err="1">
                <a:latin typeface="HY수평선B" panose="02030600000101010101" pitchFamily="18" charset="-127"/>
                <a:ea typeface="HY수평선B" panose="02030600000101010101" pitchFamily="18" charset="-127"/>
              </a:rPr>
              <a:t>ㅐㅐㅐㅐ학원의</a:t>
            </a:r>
            <a:r>
              <a:rPr lang="ko-KR" altLang="en-US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 성장에 기여할 수 있는 아래의 </a:t>
            </a:r>
            <a:r>
              <a:rPr lang="en-US" altLang="ko-KR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3</a:t>
            </a:r>
            <a:r>
              <a:rPr lang="ko-KR" altLang="en-US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가지 장점을 제시합니다</a:t>
            </a:r>
            <a:r>
              <a:rPr lang="en-US" altLang="ko-KR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.</a:t>
            </a:r>
            <a:r>
              <a:rPr lang="ko-KR" altLang="en-US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79BC8BF-19F7-4066-BBBB-00813CCDBC4C}"/>
              </a:ext>
            </a:extLst>
          </p:cNvPr>
          <p:cNvGrpSpPr/>
          <p:nvPr/>
        </p:nvGrpSpPr>
        <p:grpSpPr>
          <a:xfrm>
            <a:off x="1024951" y="3660741"/>
            <a:ext cx="7135600" cy="400110"/>
            <a:chOff x="978154" y="3587855"/>
            <a:chExt cx="7135600" cy="400110"/>
          </a:xfrm>
        </p:grpSpPr>
        <p:pic>
          <p:nvPicPr>
            <p:cNvPr id="15" name="Picture 6" descr="http://www.clker.com/cliparts/Y/W/6/s/c/k/number-3-design-md.png">
              <a:extLst>
                <a:ext uri="{FF2B5EF4-FFF2-40B4-BE49-F238E27FC236}">
                  <a16:creationId xmlns:a16="http://schemas.microsoft.com/office/drawing/2014/main" id="{5B6E0D80-EB14-4A7C-BCEB-C023E7619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154" y="3640547"/>
              <a:ext cx="299355" cy="299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C0397E-7331-40F8-9150-27E042D32F79}"/>
                </a:ext>
              </a:extLst>
            </p:cNvPr>
            <p:cNvSpPr txBox="1"/>
            <p:nvPr/>
          </p:nvSpPr>
          <p:spPr>
            <a:xfrm>
              <a:off x="1263802" y="3587855"/>
              <a:ext cx="68499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HY수평선B" panose="02030600000101010101" pitchFamily="18" charset="-127"/>
                  <a:ea typeface="HY수평선B" panose="02030600000101010101" pitchFamily="18" charset="-127"/>
                </a:rPr>
                <a:t>면접을 통한 인재선발의 공정성과 객관성의 기준을 확립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85E7D9B-5C14-41B5-B9AD-F04D0E9F2B2F}"/>
              </a:ext>
            </a:extLst>
          </p:cNvPr>
          <p:cNvSpPr txBox="1"/>
          <p:nvPr/>
        </p:nvSpPr>
        <p:spPr>
          <a:xfrm>
            <a:off x="1314456" y="2108274"/>
            <a:ext cx="7569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공공기관의 </a:t>
            </a:r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AI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면접이 지속적으로 </a:t>
            </a:r>
            <a:r>
              <a:rPr lang="ko-KR" altLang="en-US" sz="16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도입할것으로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예상되고 있는 상황에서 먼저 가상면접의 표준을 제시하여</a:t>
            </a:r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학원업계에서 선두주자로서 입지 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BF6729-B9B7-4C19-BA1A-098089266FA5}"/>
              </a:ext>
            </a:extLst>
          </p:cNvPr>
          <p:cNvSpPr txBox="1"/>
          <p:nvPr/>
        </p:nvSpPr>
        <p:spPr>
          <a:xfrm>
            <a:off x="1321022" y="3053125"/>
            <a:ext cx="7562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6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황저렴한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비용으로 반복적인 면접을 통해 면접결과를 향상시키고</a:t>
            </a:r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본인의 사회생활에 필요한 대인관계에도 긍정적인 효과를 가져오도록 대비하는 서비스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B23F4-9CF9-4D6B-ACFD-7F7EBE807956}"/>
              </a:ext>
            </a:extLst>
          </p:cNvPr>
          <p:cNvSpPr txBox="1"/>
          <p:nvPr/>
        </p:nvSpPr>
        <p:spPr>
          <a:xfrm>
            <a:off x="1310599" y="4003199"/>
            <a:ext cx="7562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보다 공정하고 객관적인 면접의 기준을 확립하고 제시함으로써 각종 기관에서 차후 도입하게 될 </a:t>
            </a:r>
            <a:r>
              <a:rPr lang="en-US" altLang="ko-KR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AI</a:t>
            </a:r>
            <a:r>
              <a:rPr lang="ko-KR" altLang="en-US" sz="16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면접의 평가기준을 제시할 수 있는 전문기관 </a:t>
            </a:r>
            <a:r>
              <a:rPr lang="ko-KR" altLang="en-US" sz="1600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역활</a:t>
            </a:r>
            <a:endParaRPr lang="ko-KR" altLang="en-US" sz="16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5CD2AA-7BDF-4120-BA34-4BD9C41CBA24}"/>
              </a:ext>
            </a:extLst>
          </p:cNvPr>
          <p:cNvSpPr/>
          <p:nvPr/>
        </p:nvSpPr>
        <p:spPr>
          <a:xfrm>
            <a:off x="179512" y="4722342"/>
            <a:ext cx="87849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" lvl="1" algn="ctr"/>
            <a:r>
              <a:rPr lang="ko-KR" altLang="en-US" sz="1400" dirty="0" err="1">
                <a:solidFill>
                  <a:schemeClr val="tx2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ㅐㅐㅐㅐ의</a:t>
            </a:r>
            <a:r>
              <a:rPr lang="ko-KR" altLang="en-US" sz="1400" dirty="0">
                <a:solidFill>
                  <a:schemeClr val="tx2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 비즈니스 성장을 위해 기여할 수 있는 </a:t>
            </a:r>
            <a:r>
              <a:rPr lang="en-US" altLang="ko-KR" sz="1400" dirty="0">
                <a:solidFill>
                  <a:schemeClr val="tx2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가지 장점</a:t>
            </a:r>
            <a:endParaRPr lang="en-US" altLang="ko-KR" sz="1400" dirty="0">
              <a:solidFill>
                <a:schemeClr val="tx2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0394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BAEF812-595F-4A07-82D2-FC4B7BA58E08}"/>
              </a:ext>
            </a:extLst>
          </p:cNvPr>
          <p:cNvSpPr txBox="1"/>
          <p:nvPr/>
        </p:nvSpPr>
        <p:spPr>
          <a:xfrm>
            <a:off x="576381" y="1225308"/>
            <a:ext cx="607859" cy="2616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100" dirty="0" err="1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공시생</a:t>
            </a:r>
            <a:endParaRPr lang="ko-KR" altLang="en-US" sz="1100" dirty="0">
              <a:solidFill>
                <a:schemeClr val="bg1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3420CF-CB55-46D7-A923-51FFCAE1DFF5}"/>
              </a:ext>
            </a:extLst>
          </p:cNvPr>
          <p:cNvSpPr txBox="1"/>
          <p:nvPr/>
        </p:nvSpPr>
        <p:spPr>
          <a:xfrm>
            <a:off x="7934180" y="1268574"/>
            <a:ext cx="607859" cy="2616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운영자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3DD4DC-CD27-4574-AB90-C398527BC8EB}"/>
              </a:ext>
            </a:extLst>
          </p:cNvPr>
          <p:cNvSpPr txBox="1"/>
          <p:nvPr/>
        </p:nvSpPr>
        <p:spPr>
          <a:xfrm>
            <a:off x="3420883" y="1037195"/>
            <a:ext cx="2302233" cy="30777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Y수평선M" panose="02030600000101010101" pitchFamily="18" charset="-127"/>
                <a:ea typeface="HY수평선M" panose="02030600000101010101" pitchFamily="18" charset="-127"/>
              </a:rPr>
              <a:t>가상면접 시스템의 구성도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5303440-F5E3-494F-B8BC-05785D91373F}"/>
              </a:ext>
            </a:extLst>
          </p:cNvPr>
          <p:cNvSpPr/>
          <p:nvPr/>
        </p:nvSpPr>
        <p:spPr>
          <a:xfrm>
            <a:off x="2267744" y="1400882"/>
            <a:ext cx="4752528" cy="227369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486D9FE-079B-459E-B54B-DB4711F92A66}"/>
              </a:ext>
            </a:extLst>
          </p:cNvPr>
          <p:cNvSpPr/>
          <p:nvPr/>
        </p:nvSpPr>
        <p:spPr>
          <a:xfrm>
            <a:off x="2339752" y="1463546"/>
            <a:ext cx="2223864" cy="2148367"/>
          </a:xfrm>
          <a:prstGeom prst="rect">
            <a:avLst/>
          </a:prstGeom>
          <a:noFill/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C4FEF14-0BE2-4586-8ABE-804BE67CA4BF}"/>
              </a:ext>
            </a:extLst>
          </p:cNvPr>
          <p:cNvSpPr/>
          <p:nvPr/>
        </p:nvSpPr>
        <p:spPr>
          <a:xfrm>
            <a:off x="4716016" y="1465066"/>
            <a:ext cx="2223864" cy="2148367"/>
          </a:xfrm>
          <a:prstGeom prst="rect">
            <a:avLst/>
          </a:prstGeom>
          <a:noFill/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6" name="Picture 2" descr="smartphone pngì ëí ì´ë¯¸ì§ ê²ìê²°ê³¼">
            <a:extLst>
              <a:ext uri="{FF2B5EF4-FFF2-40B4-BE49-F238E27FC236}">
                <a16:creationId xmlns:a16="http://schemas.microsoft.com/office/drawing/2014/main" id="{5B31C7ED-DEE8-45C5-BD45-8039A4CA2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09" y="1922981"/>
            <a:ext cx="810868" cy="51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ablet pngì ëí ì´ë¯¸ì§ ê²ìê²°ê³¼">
            <a:extLst>
              <a:ext uri="{FF2B5EF4-FFF2-40B4-BE49-F238E27FC236}">
                <a16:creationId xmlns:a16="http://schemas.microsoft.com/office/drawing/2014/main" id="{33CCB07F-ED33-4198-A3D3-03D4FBDBC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65" y="2656709"/>
            <a:ext cx="418923" cy="41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android tablet pngì ëí ì´ë¯¸ì§ ê²ìê²°ê³¼">
            <a:extLst>
              <a:ext uri="{FF2B5EF4-FFF2-40B4-BE49-F238E27FC236}">
                <a16:creationId xmlns:a16="http://schemas.microsoft.com/office/drawing/2014/main" id="{B25B67FB-3995-4641-8538-E72F1372D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03" y="2691547"/>
            <a:ext cx="490796" cy="38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7BAF168E-6801-4002-9851-4682E4800D5A}"/>
              </a:ext>
            </a:extLst>
          </p:cNvPr>
          <p:cNvSpPr txBox="1"/>
          <p:nvPr/>
        </p:nvSpPr>
        <p:spPr>
          <a:xfrm>
            <a:off x="542007" y="240692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스마트폰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A51EE6-D837-4CFF-8360-F2BA60847838}"/>
              </a:ext>
            </a:extLst>
          </p:cNvPr>
          <p:cNvSpPr txBox="1"/>
          <p:nvPr/>
        </p:nvSpPr>
        <p:spPr>
          <a:xfrm>
            <a:off x="581630" y="3069740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태블릿</a:t>
            </a:r>
          </a:p>
        </p:txBody>
      </p:sp>
      <p:sp>
        <p:nvSpPr>
          <p:cNvPr id="69" name="화살표: 왼쪽/오른쪽 68">
            <a:extLst>
              <a:ext uri="{FF2B5EF4-FFF2-40B4-BE49-F238E27FC236}">
                <a16:creationId xmlns:a16="http://schemas.microsoft.com/office/drawing/2014/main" id="{7C7DD4CD-83C6-4F81-8EC5-14320336ED3A}"/>
              </a:ext>
            </a:extLst>
          </p:cNvPr>
          <p:cNvSpPr/>
          <p:nvPr/>
        </p:nvSpPr>
        <p:spPr>
          <a:xfrm>
            <a:off x="1526136" y="2270753"/>
            <a:ext cx="661216" cy="525221"/>
          </a:xfrm>
          <a:prstGeom prst="leftRightArrow">
            <a:avLst>
              <a:gd name="adj1" fmla="val 60881"/>
              <a:gd name="adj2" fmla="val 3181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이등변 삼각형 70">
            <a:extLst>
              <a:ext uri="{FF2B5EF4-FFF2-40B4-BE49-F238E27FC236}">
                <a16:creationId xmlns:a16="http://schemas.microsoft.com/office/drawing/2014/main" id="{8B6AF6E7-E445-4AE1-AA62-C2B5A143E686}"/>
              </a:ext>
            </a:extLst>
          </p:cNvPr>
          <p:cNvSpPr/>
          <p:nvPr/>
        </p:nvSpPr>
        <p:spPr>
          <a:xfrm>
            <a:off x="4035874" y="3606437"/>
            <a:ext cx="1199500" cy="214529"/>
          </a:xfrm>
          <a:prstGeom prst="triangl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52" name="Picture 8" descr="cloud serverì ëí ì´ë¯¸ì§ ê²ìê²°ê³¼">
            <a:extLst>
              <a:ext uri="{FF2B5EF4-FFF2-40B4-BE49-F238E27FC236}">
                <a16:creationId xmlns:a16="http://schemas.microsoft.com/office/drawing/2014/main" id="{7FBC25A8-7F8B-435F-8C8B-8508F954F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560" y="4094216"/>
            <a:ext cx="1440160" cy="78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3CB8403A-8B99-4E9D-8E6D-1D0CAC724C88}"/>
              </a:ext>
            </a:extLst>
          </p:cNvPr>
          <p:cNvSpPr txBox="1"/>
          <p:nvPr/>
        </p:nvSpPr>
        <p:spPr>
          <a:xfrm>
            <a:off x="3190598" y="3878268"/>
            <a:ext cx="30508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안정적이고 신뢰받는 클라우드 환경으로 운영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5FD305-4577-4529-A1A1-54D83BC543DC}"/>
              </a:ext>
            </a:extLst>
          </p:cNvPr>
          <p:cNvSpPr txBox="1"/>
          <p:nvPr/>
        </p:nvSpPr>
        <p:spPr>
          <a:xfrm>
            <a:off x="2857577" y="146354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이용자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A49507-3FE5-4986-BF75-3450538E49FA}"/>
              </a:ext>
            </a:extLst>
          </p:cNvPr>
          <p:cNvSpPr txBox="1"/>
          <p:nvPr/>
        </p:nvSpPr>
        <p:spPr>
          <a:xfrm>
            <a:off x="5507352" y="1458921"/>
            <a:ext cx="607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운영자</a:t>
            </a:r>
          </a:p>
        </p:txBody>
      </p:sp>
      <p:sp>
        <p:nvSpPr>
          <p:cNvPr id="81" name="Rectangle 125">
            <a:extLst>
              <a:ext uri="{FF2B5EF4-FFF2-40B4-BE49-F238E27FC236}">
                <a16:creationId xmlns:a16="http://schemas.microsoft.com/office/drawing/2014/main" id="{4295BB0C-F334-452E-98C9-258920326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99" y="1657488"/>
            <a:ext cx="735452" cy="205160"/>
          </a:xfrm>
          <a:prstGeom prst="rect">
            <a:avLst/>
          </a:prstGeom>
          <a:noFill/>
          <a:ln>
            <a:noFill/>
          </a:ln>
        </p:spPr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가상면접</a:t>
            </a:r>
          </a:p>
        </p:txBody>
      </p:sp>
      <p:sp>
        <p:nvSpPr>
          <p:cNvPr id="82" name="Rectangle 125">
            <a:extLst>
              <a:ext uri="{FF2B5EF4-FFF2-40B4-BE49-F238E27FC236}">
                <a16:creationId xmlns:a16="http://schemas.microsoft.com/office/drawing/2014/main" id="{E1EFEE8A-F988-4323-9A04-7EEBEA5D0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852" y="1666384"/>
            <a:ext cx="769119" cy="205160"/>
          </a:xfrm>
          <a:prstGeom prst="rect">
            <a:avLst/>
          </a:prstGeom>
          <a:noFill/>
          <a:ln>
            <a:noFill/>
          </a:ln>
        </p:spPr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본인평가</a:t>
            </a:r>
          </a:p>
        </p:txBody>
      </p:sp>
      <p:sp>
        <p:nvSpPr>
          <p:cNvPr id="83" name="Rectangle 125">
            <a:extLst>
              <a:ext uri="{FF2B5EF4-FFF2-40B4-BE49-F238E27FC236}">
                <a16:creationId xmlns:a16="http://schemas.microsoft.com/office/drawing/2014/main" id="{049A1E41-44BF-4EF6-A594-17F73078D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800" y="1857462"/>
            <a:ext cx="769119" cy="2051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전문가평가</a:t>
            </a:r>
          </a:p>
        </p:txBody>
      </p:sp>
      <p:sp>
        <p:nvSpPr>
          <p:cNvPr id="84" name="Rectangle 125">
            <a:extLst>
              <a:ext uri="{FF2B5EF4-FFF2-40B4-BE49-F238E27FC236}">
                <a16:creationId xmlns:a16="http://schemas.microsoft.com/office/drawing/2014/main" id="{4EC29C3E-50F6-42A7-A631-A14230023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718" y="1862534"/>
            <a:ext cx="769119" cy="205160"/>
          </a:xfrm>
          <a:prstGeom prst="rect">
            <a:avLst/>
          </a:prstGeom>
          <a:noFill/>
          <a:ln>
            <a:noFill/>
          </a:ln>
        </p:spPr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반복면접</a:t>
            </a:r>
          </a:p>
        </p:txBody>
      </p:sp>
      <p:sp>
        <p:nvSpPr>
          <p:cNvPr id="93" name="Rectangle 125">
            <a:extLst>
              <a:ext uri="{FF2B5EF4-FFF2-40B4-BE49-F238E27FC236}">
                <a16:creationId xmlns:a16="http://schemas.microsoft.com/office/drawing/2014/main" id="{59157FF8-7512-4DF4-AC7B-B3E0189B3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09" y="1650810"/>
            <a:ext cx="752099" cy="2051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  <p:sp>
        <p:nvSpPr>
          <p:cNvPr id="98" name="Rectangle 125">
            <a:extLst>
              <a:ext uri="{FF2B5EF4-FFF2-40B4-BE49-F238E27FC236}">
                <a16:creationId xmlns:a16="http://schemas.microsoft.com/office/drawing/2014/main" id="{90CE780A-0765-4F79-9CB3-6D1F0145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814" y="1866419"/>
            <a:ext cx="752099" cy="18977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 b="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예상면접관리</a:t>
            </a:r>
          </a:p>
        </p:txBody>
      </p:sp>
      <p:sp>
        <p:nvSpPr>
          <p:cNvPr id="99" name="Rectangle 125">
            <a:extLst>
              <a:ext uri="{FF2B5EF4-FFF2-40B4-BE49-F238E27FC236}">
                <a16:creationId xmlns:a16="http://schemas.microsoft.com/office/drawing/2014/main" id="{4854EBC0-53F0-4523-93D2-5268525AA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415" y="1852957"/>
            <a:ext cx="752099" cy="18977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 b="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응시생관리</a:t>
            </a:r>
          </a:p>
        </p:txBody>
      </p:sp>
      <p:sp>
        <p:nvSpPr>
          <p:cNvPr id="103" name="화살표: 왼쪽/오른쪽 102">
            <a:extLst>
              <a:ext uri="{FF2B5EF4-FFF2-40B4-BE49-F238E27FC236}">
                <a16:creationId xmlns:a16="http://schemas.microsoft.com/office/drawing/2014/main" id="{D2BD31DC-FE2A-42B7-96C9-0E5FDDC8F796}"/>
              </a:ext>
            </a:extLst>
          </p:cNvPr>
          <p:cNvSpPr/>
          <p:nvPr/>
        </p:nvSpPr>
        <p:spPr>
          <a:xfrm>
            <a:off x="7070705" y="2270753"/>
            <a:ext cx="583240" cy="525221"/>
          </a:xfrm>
          <a:prstGeom prst="leftRightArrow">
            <a:avLst>
              <a:gd name="adj1" fmla="val 60881"/>
              <a:gd name="adj2" fmla="val 31812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56497BA-8951-470B-8243-F0D2545ACE26}"/>
              </a:ext>
            </a:extLst>
          </p:cNvPr>
          <p:cNvSpPr txBox="1"/>
          <p:nvPr/>
        </p:nvSpPr>
        <p:spPr>
          <a:xfrm>
            <a:off x="7178240" y="23568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관리</a:t>
            </a:r>
            <a:endParaRPr lang="en-US" altLang="ko-KR" sz="9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ctr"/>
            <a:r>
              <a:rPr lang="ko-KR" altLang="en-US" sz="9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운영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D5A9923-6B51-4AB9-825C-2E49B946D1E0}"/>
              </a:ext>
            </a:extLst>
          </p:cNvPr>
          <p:cNvGrpSpPr/>
          <p:nvPr/>
        </p:nvGrpSpPr>
        <p:grpSpPr>
          <a:xfrm>
            <a:off x="7837969" y="1690974"/>
            <a:ext cx="1139571" cy="867677"/>
            <a:chOff x="7887237" y="1623211"/>
            <a:chExt cx="1559092" cy="1150100"/>
          </a:xfrm>
        </p:grpSpPr>
        <p:pic>
          <p:nvPicPr>
            <p:cNvPr id="6154" name="Picture 10" descr="iphone pngì ëí ì´ë¯¸ì§ ê²ìê²°ê³¼">
              <a:extLst>
                <a:ext uri="{FF2B5EF4-FFF2-40B4-BE49-F238E27FC236}">
                  <a16:creationId xmlns:a16="http://schemas.microsoft.com/office/drawing/2014/main" id="{A99D45A4-0AD7-4FA7-8FC3-D945E1F47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7237" y="1973368"/>
              <a:ext cx="650189" cy="639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6" name="Picture 12" descr="ipad pngì ëí ì´ë¯¸ì§ ê²ìê²°ê³¼">
              <a:extLst>
                <a:ext uri="{FF2B5EF4-FFF2-40B4-BE49-F238E27FC236}">
                  <a16:creationId xmlns:a16="http://schemas.microsoft.com/office/drawing/2014/main" id="{1C9ADFD4-14E1-4D15-BC04-DD007C1201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29" y="1623211"/>
              <a:ext cx="1478700" cy="1150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8F7B8BC0-F568-45E0-AC73-A1B469DFCD0E}"/>
              </a:ext>
            </a:extLst>
          </p:cNvPr>
          <p:cNvSpPr txBox="1"/>
          <p:nvPr/>
        </p:nvSpPr>
        <p:spPr>
          <a:xfrm>
            <a:off x="7680884" y="2388154"/>
            <a:ext cx="12650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스마트폰</a:t>
            </a:r>
            <a:r>
              <a: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태블릿</a:t>
            </a:r>
          </a:p>
        </p:txBody>
      </p:sp>
      <p:pic>
        <p:nvPicPr>
          <p:cNvPr id="6160" name="Picture 16" descr="pc pngì ëí ì´ë¯¸ì§ ê²ìê²°ê³¼">
            <a:extLst>
              <a:ext uri="{FF2B5EF4-FFF2-40B4-BE49-F238E27FC236}">
                <a16:creationId xmlns:a16="http://schemas.microsoft.com/office/drawing/2014/main" id="{3BEE2331-ECFD-49C0-92CE-C77D13B08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017" y="2696101"/>
            <a:ext cx="717597" cy="52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laptop pngì ëí ì´ë¯¸ì§ ê²ìê²°ê³¼">
            <a:extLst>
              <a:ext uri="{FF2B5EF4-FFF2-40B4-BE49-F238E27FC236}">
                <a16:creationId xmlns:a16="http://schemas.microsoft.com/office/drawing/2014/main" id="{2D939251-0C11-4D80-894E-3231EC3F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178" y="2755133"/>
            <a:ext cx="553230" cy="43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3F9ACC5-ED6B-40DD-82EF-87A915B4AD27}"/>
              </a:ext>
            </a:extLst>
          </p:cNvPr>
          <p:cNvSpPr txBox="1"/>
          <p:nvPr/>
        </p:nvSpPr>
        <p:spPr>
          <a:xfrm>
            <a:off x="7880751" y="3191955"/>
            <a:ext cx="8851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PC, </a:t>
            </a:r>
            <a:r>
              <a:rPr lang="ko-KR" altLang="en-US" sz="11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노트북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B82B88F-6E89-40F1-B8B1-6CF49A1682A3}"/>
              </a:ext>
            </a:extLst>
          </p:cNvPr>
          <p:cNvGrpSpPr/>
          <p:nvPr/>
        </p:nvGrpSpPr>
        <p:grpSpPr>
          <a:xfrm>
            <a:off x="298849" y="3482923"/>
            <a:ext cx="1440159" cy="943407"/>
            <a:chOff x="421425" y="3835055"/>
            <a:chExt cx="1440159" cy="943407"/>
          </a:xfrm>
        </p:grpSpPr>
        <p:sp>
          <p:nvSpPr>
            <p:cNvPr id="74" name="폭발: 14pt 73">
              <a:extLst>
                <a:ext uri="{FF2B5EF4-FFF2-40B4-BE49-F238E27FC236}">
                  <a16:creationId xmlns:a16="http://schemas.microsoft.com/office/drawing/2014/main" id="{79A810A0-BABA-4938-9D96-8412A4EA3FC4}"/>
                </a:ext>
              </a:extLst>
            </p:cNvPr>
            <p:cNvSpPr/>
            <p:nvPr/>
          </p:nvSpPr>
          <p:spPr>
            <a:xfrm>
              <a:off x="421425" y="3835055"/>
              <a:ext cx="1440159" cy="943407"/>
            </a:xfrm>
            <a:prstGeom prst="irregularSeal2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n w="63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8B0C37D-930B-4946-BD8A-EE930F56A08F}"/>
                </a:ext>
              </a:extLst>
            </p:cNvPr>
            <p:cNvSpPr txBox="1"/>
            <p:nvPr/>
          </p:nvSpPr>
          <p:spPr>
            <a:xfrm>
              <a:off x="771550" y="4134502"/>
              <a:ext cx="684803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다양하게 </a:t>
              </a:r>
              <a:endParaRPr lang="en-US" altLang="ko-KR" sz="9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pPr algn="ctr"/>
              <a:r>
                <a:rPr lang="ko-KR" altLang="en-US" sz="9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면접결과</a:t>
              </a:r>
              <a:endParaRPr lang="en-US" altLang="ko-KR" sz="9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pPr algn="ctr"/>
              <a:r>
                <a:rPr lang="ko-KR" altLang="en-US" sz="9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확인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46197351-D999-426C-A6B6-008EB45D1944}"/>
              </a:ext>
            </a:extLst>
          </p:cNvPr>
          <p:cNvGrpSpPr/>
          <p:nvPr/>
        </p:nvGrpSpPr>
        <p:grpSpPr>
          <a:xfrm>
            <a:off x="7603260" y="3435525"/>
            <a:ext cx="1440159" cy="943407"/>
            <a:chOff x="421425" y="3835055"/>
            <a:chExt cx="1440159" cy="943407"/>
          </a:xfrm>
        </p:grpSpPr>
        <p:sp>
          <p:nvSpPr>
            <p:cNvPr id="117" name="폭발: 14pt 116">
              <a:extLst>
                <a:ext uri="{FF2B5EF4-FFF2-40B4-BE49-F238E27FC236}">
                  <a16:creationId xmlns:a16="http://schemas.microsoft.com/office/drawing/2014/main" id="{3D14B585-F96A-41F7-8010-443DDD505609}"/>
                </a:ext>
              </a:extLst>
            </p:cNvPr>
            <p:cNvSpPr/>
            <p:nvPr/>
          </p:nvSpPr>
          <p:spPr>
            <a:xfrm>
              <a:off x="421425" y="3835055"/>
              <a:ext cx="1440159" cy="943407"/>
            </a:xfrm>
            <a:prstGeom prst="irregularSeal2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n w="63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40EA056-DFB2-40C0-B48F-1BFEC29762C8}"/>
                </a:ext>
              </a:extLst>
            </p:cNvPr>
            <p:cNvSpPr txBox="1"/>
            <p:nvPr/>
          </p:nvSpPr>
          <p:spPr>
            <a:xfrm>
              <a:off x="656134" y="4134502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쉽고 편리하게</a:t>
              </a:r>
              <a:endParaRPr lang="en-US" altLang="ko-KR" sz="900" dirty="0">
                <a:latin typeface="HY수평선M" panose="02030600000101010101" pitchFamily="18" charset="-127"/>
                <a:ea typeface="HY수평선M" panose="02030600000101010101" pitchFamily="18" charset="-127"/>
              </a:endParaRPr>
            </a:p>
            <a:p>
              <a:pPr algn="ctr"/>
              <a:r>
                <a:rPr lang="ko-KR" altLang="en-US" sz="900" dirty="0">
                  <a:latin typeface="HY수평선M" panose="02030600000101010101" pitchFamily="18" charset="-127"/>
                  <a:ea typeface="HY수평선M" panose="02030600000101010101" pitchFamily="18" charset="-127"/>
                </a:rPr>
                <a:t>운영</a:t>
              </a: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D01868-953D-466B-A3FA-E90B7D9B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FF371-BB80-479F-8A22-1BFC42C83334}"/>
              </a:ext>
            </a:extLst>
          </p:cNvPr>
          <p:cNvSpPr txBox="1"/>
          <p:nvPr/>
        </p:nvSpPr>
        <p:spPr>
          <a:xfrm>
            <a:off x="1495752" y="281220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전문가평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E043847-135E-4882-8295-7F87DB57E9A8}"/>
              </a:ext>
            </a:extLst>
          </p:cNvPr>
          <p:cNvSpPr txBox="1"/>
          <p:nvPr/>
        </p:nvSpPr>
        <p:spPr>
          <a:xfrm>
            <a:off x="1259632" y="418472"/>
            <a:ext cx="2662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HY수평선B" panose="02030600000101010101" pitchFamily="18" charset="-127"/>
                <a:ea typeface="HY수평선B" panose="02030600000101010101" pitchFamily="18" charset="-127"/>
              </a:rPr>
              <a:t>가상면접 시스템 구성</a:t>
            </a:r>
          </a:p>
        </p:txBody>
      </p:sp>
      <p:pic>
        <p:nvPicPr>
          <p:cNvPr id="109" name="Picture 24" descr="C:\Users\rainend-pc\AppData\Local\Microsoft\Windows\INetCache\IE\7M1WC1SM\VR1_TheRevitKid_Enscape3D[1]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802" y="2085816"/>
            <a:ext cx="931268" cy="145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Rectangle 125">
            <a:extLst>
              <a:ext uri="{FF2B5EF4-FFF2-40B4-BE49-F238E27FC236}">
                <a16:creationId xmlns:a16="http://schemas.microsoft.com/office/drawing/2014/main" id="{90CE780A-0765-4F79-9CB3-6D1F0145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165955"/>
            <a:ext cx="752099" cy="18977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 b="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면접결과관리</a:t>
            </a:r>
          </a:p>
        </p:txBody>
      </p:sp>
      <p:sp>
        <p:nvSpPr>
          <p:cNvPr id="111" name="Rectangle 125">
            <a:extLst>
              <a:ext uri="{FF2B5EF4-FFF2-40B4-BE49-F238E27FC236}">
                <a16:creationId xmlns:a16="http://schemas.microsoft.com/office/drawing/2014/main" id="{4854EBC0-53F0-4523-93D2-5268525AA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633" y="2152493"/>
            <a:ext cx="752099" cy="18977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 b="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전문가관리</a:t>
            </a:r>
          </a:p>
        </p:txBody>
      </p:sp>
      <p:sp>
        <p:nvSpPr>
          <p:cNvPr id="113" name="Rectangle 125">
            <a:extLst>
              <a:ext uri="{FF2B5EF4-FFF2-40B4-BE49-F238E27FC236}">
                <a16:creationId xmlns:a16="http://schemas.microsoft.com/office/drawing/2014/main" id="{90CE780A-0765-4F79-9CB3-6D1F01455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742019"/>
            <a:ext cx="752099" cy="18977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 b="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면접결과분석</a:t>
            </a:r>
          </a:p>
        </p:txBody>
      </p:sp>
      <p:sp>
        <p:nvSpPr>
          <p:cNvPr id="114" name="Rectangle 125">
            <a:extLst>
              <a:ext uri="{FF2B5EF4-FFF2-40B4-BE49-F238E27FC236}">
                <a16:creationId xmlns:a16="http://schemas.microsoft.com/office/drawing/2014/main" id="{4854EBC0-53F0-4523-93D2-5268525AA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633" y="2728557"/>
            <a:ext cx="752099" cy="189771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81256" tIns="40628" rIns="81256" bIns="40628">
            <a:spAutoFit/>
          </a:bodyPr>
          <a:lstStyle>
            <a:lvl1pPr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 dirty="0">
                <a:solidFill>
                  <a:schemeClr val="bg1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평가기준제시</a:t>
            </a:r>
            <a:endParaRPr lang="ko-KR" altLang="en-US" sz="700" b="0" dirty="0">
              <a:solidFill>
                <a:schemeClr val="bg1"/>
              </a:solidFill>
              <a:latin typeface="HY수평선M" panose="02030600000101010101" pitchFamily="18" charset="-127"/>
              <a:ea typeface="HY수평선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94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AE8AC-51D2-4BB9-ABAE-D5719CDFBAAF}"/>
              </a:ext>
            </a:extLst>
          </p:cNvPr>
          <p:cNvSpPr txBox="1"/>
          <p:nvPr/>
        </p:nvSpPr>
        <p:spPr>
          <a:xfrm>
            <a:off x="1043608" y="1851670"/>
            <a:ext cx="7056784" cy="276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>
              <a:lnSpc>
                <a:spcPct val="130000"/>
              </a:lnSpc>
            </a:pPr>
            <a:r>
              <a:rPr lang="ko-KR" altLang="en-US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윌비스의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 각종 고시 시험준비 교육사업에 </a:t>
            </a:r>
            <a:r>
              <a:rPr lang="ko-KR" altLang="en-US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ㅐㅐㅐ의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 가상면접 시스템이 도입되어 서비스가 더해진다면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ㅐㅐㅐ가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 </a:t>
            </a:r>
            <a:r>
              <a:rPr lang="ko-KR" altLang="en-US" dirty="0" err="1">
                <a:latin typeface="HY수평선M" panose="02030600000101010101" pitchFamily="18" charset="-127"/>
                <a:ea typeface="HY수평선M" panose="02030600000101010101" pitchFamily="18" charset="-127"/>
              </a:rPr>
              <a:t>ㅐㅐㅐ학원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 업계에서의 새로운 시스템의 도입으로 인한 기술혁신 주자로서 및 면접모델의 지표를 결정하는 선두주자로서 평가상승과 가치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 신뢰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인지도를 제공할 것입니다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</a:p>
          <a:p>
            <a:pPr algn="ctr" latinLnBrk="0">
              <a:lnSpc>
                <a:spcPct val="130000"/>
              </a:lnSpc>
              <a:spcBef>
                <a:spcPts val="600"/>
              </a:spcBef>
            </a:pPr>
            <a:endParaRPr lang="en-US" altLang="ko-KR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 algn="ctr" latinLnBrk="0">
              <a:lnSpc>
                <a:spcPct val="130000"/>
              </a:lnSpc>
              <a:spcBef>
                <a:spcPts val="600"/>
              </a:spcBef>
            </a:pPr>
            <a:r>
              <a:rPr lang="ko-KR" altLang="en-US" dirty="0">
                <a:latin typeface="HY수평선M" panose="02030600000101010101" pitchFamily="18" charset="-127"/>
                <a:ea typeface="HY수평선M" panose="02030600000101010101" pitchFamily="18" charset="-127"/>
              </a:rPr>
              <a:t>감사합니다</a:t>
            </a:r>
            <a:r>
              <a:rPr lang="en-US" altLang="ko-KR" dirty="0">
                <a:latin typeface="HY수평선M" panose="02030600000101010101" pitchFamily="18" charset="-127"/>
                <a:ea typeface="HY수평선M" panose="02030600000101010101" pitchFamily="18" charset="-127"/>
              </a:rPr>
              <a:t>.</a:t>
            </a:r>
          </a:p>
        </p:txBody>
      </p:sp>
      <p:pic>
        <p:nvPicPr>
          <p:cNvPr id="4098" name="Picture 2" descr="partnership pngì ëí ì´ë¯¸ì§ ê²ìê²°ê³¼">
            <a:extLst>
              <a:ext uri="{FF2B5EF4-FFF2-40B4-BE49-F238E27FC236}">
                <a16:creationId xmlns:a16="http://schemas.microsoft.com/office/drawing/2014/main" id="{526FA9BA-F07E-4ACD-A577-BB8D20A9C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873" y="879826"/>
            <a:ext cx="680253" cy="68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1FC9A8A-07B1-4FE5-833D-B779565B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4248" y="4731990"/>
            <a:ext cx="2133600" cy="273844"/>
          </a:xfrm>
        </p:spPr>
        <p:txBody>
          <a:bodyPr/>
          <a:lstStyle/>
          <a:p>
            <a:r>
              <a:rPr lang="ko-KR" altLang="en-US" dirty="0"/>
              <a:t>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711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26676</TotalTime>
  <Words>1189</Words>
  <Application>Microsoft Office PowerPoint</Application>
  <PresentationFormat>화면 슬라이드 쇼(16:9)</PresentationFormat>
  <Paragraphs>218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Arial</vt:lpstr>
      <vt:lpstr>맑은 고딕</vt:lpstr>
      <vt:lpstr>HY수평선M</vt:lpstr>
      <vt:lpstr>Wingdings</vt:lpstr>
      <vt:lpstr>HY수평선B</vt:lpstr>
      <vt:lpstr>Wingdings 3</vt:lpstr>
      <vt:lpstr>HY울릉도M</vt:lpstr>
      <vt:lpstr>Office Theme</vt:lpstr>
      <vt:lpstr>PowerPoint 프레젠테이션</vt:lpstr>
      <vt:lpstr>PowerPoint 프레젠테이션</vt:lpstr>
      <vt:lpstr>목차</vt:lpstr>
      <vt:lpstr>1. 제안사 소개</vt:lpstr>
      <vt:lpstr>1. 제안사 소개</vt:lpstr>
      <vt:lpstr>1. 제안사 소개</vt:lpstr>
      <vt:lpstr>2. 가상면접 시스템 소개</vt:lpstr>
      <vt:lpstr>2. 가상면접 시스템 소개</vt:lpstr>
      <vt:lpstr>2. 가상면접 시스템 소개</vt:lpstr>
      <vt:lpstr>2. 가상면접 시스템 소개</vt:lpstr>
      <vt:lpstr>2. 가상면접 시스템 소개</vt:lpstr>
      <vt:lpstr>3. 사업 제안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가상면접 시스템</dc:title>
  <dc:creator>미래넷</dc:creator>
  <cp:lastModifiedBy>김 용국</cp:lastModifiedBy>
  <cp:revision>315</cp:revision>
  <cp:lastPrinted>2018-05-08T00:50:27Z</cp:lastPrinted>
  <dcterms:created xsi:type="dcterms:W3CDTF">2014-04-01T16:27:38Z</dcterms:created>
  <dcterms:modified xsi:type="dcterms:W3CDTF">2020-03-11T05:36:27Z</dcterms:modified>
</cp:coreProperties>
</file>