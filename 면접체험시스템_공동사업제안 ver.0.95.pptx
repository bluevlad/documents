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3931" r:id="rId1"/>
  </p:sldMasterIdLst>
  <p:notesMasterIdLst>
    <p:notesMasterId r:id="rId11"/>
  </p:notesMasterIdLst>
  <p:handoutMasterIdLst>
    <p:handoutMasterId r:id="rId12"/>
  </p:handoutMasterIdLst>
  <p:sldIdLst>
    <p:sldId id="345" r:id="rId2"/>
    <p:sldId id="340" r:id="rId3"/>
    <p:sldId id="369" r:id="rId4"/>
    <p:sldId id="370" r:id="rId5"/>
    <p:sldId id="373" r:id="rId6"/>
    <p:sldId id="372" r:id="rId7"/>
    <p:sldId id="374" r:id="rId8"/>
    <p:sldId id="367" r:id="rId9"/>
    <p:sldId id="375" r:id="rId10"/>
  </p:sldIdLst>
  <p:sldSz cx="9144000" cy="6858000" type="screen4x3"/>
  <p:notesSz cx="6797675" cy="9926638"/>
  <p:embeddedFontLst>
    <p:embeddedFont>
      <p:font typeface="HY수평선B" panose="020B0600000101010101" charset="-127"/>
      <p:regular r:id="rId13"/>
    </p:embeddedFont>
    <p:embeddedFont>
      <p:font typeface="HY수평선M" panose="020B0600000101010101" charset="-127"/>
      <p:regular r:id="rId14"/>
    </p:embeddedFont>
    <p:embeddedFont>
      <p:font typeface="HY헤드라인M" panose="02030600000101010101" pitchFamily="18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orient="horz" pos="255">
          <p15:clr>
            <a:srgbClr val="A4A3A4"/>
          </p15:clr>
        </p15:guide>
        <p15:guide id="3" pos="158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66FF"/>
    <a:srgbClr val="FF00FF"/>
    <a:srgbClr val="9933FF"/>
    <a:srgbClr val="CC0099"/>
    <a:srgbClr val="660066"/>
    <a:srgbClr val="80008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84" autoAdjust="0"/>
    <p:restoredTop sz="92474" autoAdjust="0"/>
  </p:normalViewPr>
  <p:slideViewPr>
    <p:cSldViewPr showGuides="1">
      <p:cViewPr varScale="1">
        <p:scale>
          <a:sx n="105" d="100"/>
          <a:sy n="105" d="100"/>
        </p:scale>
        <p:origin x="2448" y="108"/>
      </p:cViewPr>
      <p:guideLst>
        <p:guide orient="horz" pos="3974"/>
        <p:guide orient="horz" pos="255"/>
        <p:guide pos="158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3936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3F994E70-38E9-4633-9130-EE1218373BAC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69745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5710"/>
            <a:ext cx="4987925" cy="44665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6C3E18FD-5E32-4399-9DB3-DDECBB5827D3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8" name="슬라이드 이미지 개체 틀 7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9" name="머리글 개체 틀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4175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36E43-12A3-4D97-BCBA-2DDA415F132D}" type="slidenum">
              <a:rPr lang="ko-KR" altLang="en-US"/>
              <a:pPr/>
              <a:t>1</a:t>
            </a:fld>
            <a:endParaRPr lang="en-US" altLang="ko-KR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-2572" y="0"/>
            <a:ext cx="9144000" cy="6857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-2572" y="1"/>
            <a:ext cx="9144000" cy="4143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6429375"/>
            <a:ext cx="9144000" cy="428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50825" y="908049"/>
            <a:ext cx="8642350" cy="5400675"/>
          </a:xfrm>
          <a:prstGeom prst="rect">
            <a:avLst/>
          </a:prstGeom>
          <a:noFill/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모서리가 둥근 직사각형 7"/>
          <p:cNvSpPr/>
          <p:nvPr userDrawn="1"/>
        </p:nvSpPr>
        <p:spPr bwMode="auto">
          <a:xfrm>
            <a:off x="250825" y="908049"/>
            <a:ext cx="8642350" cy="5400675"/>
          </a:xfrm>
          <a:prstGeom prst="roundRect">
            <a:avLst>
              <a:gd name="adj" fmla="val 303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anchorCtr="0"/>
          <a:lstStyle/>
          <a:p>
            <a:pPr algn="just">
              <a:buClrTx/>
              <a:buNone/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914400"/>
            <a:ext cx="7391400" cy="762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5564188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Copyright 2006 </a:t>
            </a:r>
            <a:r>
              <a:rPr lang="en-US" altLang="ko-KR" dirty="0" err="1"/>
              <a:t>Miraenet</a:t>
            </a:r>
            <a:r>
              <a:rPr lang="en-US" altLang="ko-KR" dirty="0"/>
              <a:t> </a:t>
            </a:r>
            <a:r>
              <a:rPr lang="en-US" altLang="ko-KR" dirty="0" err="1"/>
              <a:t>Co.,Ltd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3924300" y="6400800"/>
            <a:ext cx="12573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CBEB56-63B0-4D03-937C-7C9477455EA8}" type="slidenum">
              <a:rPr lang="ko-KR" altLang="en-US"/>
              <a:pPr/>
              <a:t>‹#›</a:t>
            </a:fld>
            <a:r>
              <a:rPr lang="en-US" altLang="ko-KR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418696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09E0C3DF-F587-4C04-84DB-C0AADC6DE1C1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6356351"/>
            <a:ext cx="1965124" cy="365125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535CB-D16E-4B53-98F2-68917718B5C4}"/>
              </a:ext>
            </a:extLst>
          </p:cNvPr>
          <p:cNvSpPr txBox="1"/>
          <p:nvPr userDrawn="1"/>
        </p:nvSpPr>
        <p:spPr>
          <a:xfrm>
            <a:off x="8699985" y="6454737"/>
            <a:ext cx="367409" cy="205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/18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55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8" r:id="rId2"/>
    <p:sldLayoutId id="2147483939" r:id="rId3"/>
    <p:sldLayoutId id="2147483940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wmf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25" y="1772815"/>
            <a:ext cx="8642349" cy="1703223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ko-KR" altLang="en-US" sz="4400" dirty="0" err="1">
                <a:latin typeface="HY수평선B" panose="02030600000101010101" pitchFamily="18" charset="-127"/>
                <a:ea typeface="HY수평선B" panose="02030600000101010101" pitchFamily="18" charset="-127"/>
              </a:rPr>
              <a:t>ㅒㅒㅒ</a:t>
            </a:r>
            <a:r>
              <a:rPr lang="ko-KR" altLang="en-US" sz="44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 </a:t>
            </a:r>
            <a:endParaRPr lang="en-US" altLang="ko-KR" sz="4400" dirty="0">
              <a:latin typeface="HY수평선B" panose="02030600000101010101" pitchFamily="18" charset="-127"/>
              <a:ea typeface="HY수평선B" panose="02030600000101010101" pitchFamily="18" charset="-127"/>
            </a:endParaRPr>
          </a:p>
          <a:p>
            <a:pPr>
              <a:buNone/>
            </a:pPr>
            <a:r>
              <a:rPr lang="ko-KR" altLang="en-US" sz="44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면접체험 시스템 공동 사업 제안</a:t>
            </a:r>
          </a:p>
        </p:txBody>
      </p:sp>
    </p:spTree>
    <p:extLst>
      <p:ext uri="{BB962C8B-B14F-4D97-AF65-F5344CB8AC3E}">
        <p14:creationId xmlns:p14="http://schemas.microsoft.com/office/powerpoint/2010/main" val="20938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908720"/>
            <a:ext cx="8631891" cy="47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Tx/>
              <a:buNone/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공무원 채용에서 각 기관별 인재채용 기준으로 면접평가의 비중이 점차 증가 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업무에 적합한 인재를 선별하기 위해서 지필고사를 통한 인재선발의 한계점을 개선하기 위해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지필합격자수를 확대하고 조금 더 많은 대상자중에서 면접시험을 통해 변별력을 높이기 위해 연구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면접시험의 확대로 인해 전문 면접관 확보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면접장소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면접시간의 제약으로 인하여 더 많은 비용과 인력이 확보 되야 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이를 보완하기 위해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면접을 진행 후에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차로 면접관 참여 면접시험 단계로 진행하는 방식의 도입도 시도되고 있음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algn="l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예시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1) '19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u-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국방실험사업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인공지능 면접체계 시험평가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진행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육군인사사령부</a:t>
            </a: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sym typeface="Wingdings" pitchFamily="2" charset="2"/>
            </a:endParaRPr>
          </a:p>
          <a:p>
            <a:pPr algn="l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예시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2) 2020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보훈병원 간호사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</a:t>
            </a: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다양한 방법과 선행연구로 면접평가 제도의 확대로 인해 제기되는 예상 문제점들의 개선될 수 있고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이에 따라 면접시험의 비중이 점점 증가될 것이 예상됨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838200" indent="-838200" algn="just">
              <a:buFontTx/>
              <a:buNone/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>
              <a:buClrTx/>
              <a:buNone/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공무원 학원의 치열한 경쟁으로 인해 새로운 영역의 개척이 필요 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/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오프라인 학습방법에서 온라인 학습방법으로 전환되는 과정에서 우수강사에 수강생이 집중되는 현상이 나타난 것처럼 기존 오프라인 영역에서  윌비스가 새롭게 선점할 수 있는 영역을 확보하는 것이 필요함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/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  <a:sym typeface="Wingdings" pitchFamily="2" charset="2"/>
              </a:rPr>
              <a:t>기존의 공무원에 한정되는 고시영역에서 보편적인 성인교육과 채용과정에 적용될 수 있는 면접분야의 성장이 예상됨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sym typeface="Wingdings" pitchFamily="2" charset="2"/>
              </a:rPr>
              <a:t>.</a:t>
            </a:r>
          </a:p>
          <a:p>
            <a:pPr marL="838200" indent="-838200" algn="just">
              <a:buFontTx/>
              <a:buNone/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just">
              <a:buClrTx/>
              <a:buNone/>
            </a:pP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공무원 학원 업계에서 기술혁신 기반의 시스템 도입 회사로서의 이미지 상승 및 홍보 효과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항상 새로운 학습방법과 새로운 상품 개발 시 타 업체의 신규상품의 후발주자로서의 도입</a:t>
            </a: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sym typeface="Wingdings" pitchFamily="2" charset="2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공무원 학원 업계에서 선두로 도약할 수 있는 새로운 시스템의 도입이 필요</a:t>
            </a:r>
            <a:endParaRPr lang="ko-KR" altLang="en-US" sz="12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4396849" cy="383182"/>
            <a:chOff x="323529" y="476668"/>
            <a:chExt cx="4396849" cy="383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1" y="476668"/>
              <a:ext cx="4108817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시스템의 도입배경과 필요성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/>
          <p:cNvGrpSpPr/>
          <p:nvPr/>
        </p:nvGrpSpPr>
        <p:grpSpPr>
          <a:xfrm>
            <a:off x="323529" y="476668"/>
            <a:ext cx="2952327" cy="383182"/>
            <a:chOff x="323529" y="476668"/>
            <a:chExt cx="2952327" cy="38318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28977" y="476668"/>
              <a:ext cx="2646879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 구성도</a:t>
              </a:r>
            </a:p>
          </p:txBody>
        </p:sp>
        <p:pic>
          <p:nvPicPr>
            <p:cNvPr id="39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757920" y="2777073"/>
            <a:ext cx="2138134" cy="1576860"/>
            <a:chOff x="3863376" y="2301742"/>
            <a:chExt cx="1584325" cy="10795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1" name="직사각형 50"/>
            <p:cNvSpPr/>
            <p:nvPr/>
          </p:nvSpPr>
          <p:spPr>
            <a:xfrm>
              <a:off x="3863376" y="2301742"/>
              <a:ext cx="1584325" cy="1079500"/>
            </a:xfrm>
            <a:prstGeom prst="rect">
              <a:avLst/>
            </a:prstGeom>
            <a:grpFill/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ko-KR" altLang="en-US" dirty="0"/>
            </a:p>
          </p:txBody>
        </p:sp>
        <p:grpSp>
          <p:nvGrpSpPr>
            <p:cNvPr id="52" name="Group 51"/>
            <p:cNvGrpSpPr>
              <a:grpSpLocks/>
            </p:cNvGrpSpPr>
            <p:nvPr/>
          </p:nvGrpSpPr>
          <p:grpSpPr bwMode="auto">
            <a:xfrm>
              <a:off x="4044351" y="2638292"/>
              <a:ext cx="519113" cy="671513"/>
              <a:chOff x="1318" y="2682"/>
              <a:chExt cx="975" cy="1259"/>
            </a:xfrm>
            <a:grpFill/>
          </p:grpSpPr>
          <p:grpSp>
            <p:nvGrpSpPr>
              <p:cNvPr id="53" name="Group 52"/>
              <p:cNvGrpSpPr>
                <a:grpSpLocks/>
              </p:cNvGrpSpPr>
              <p:nvPr/>
            </p:nvGrpSpPr>
            <p:grpSpPr bwMode="auto">
              <a:xfrm>
                <a:off x="1362" y="3616"/>
                <a:ext cx="909" cy="325"/>
                <a:chOff x="1362" y="3616"/>
                <a:chExt cx="909" cy="325"/>
              </a:xfrm>
              <a:grpFill/>
            </p:grpSpPr>
            <p:sp>
              <p:nvSpPr>
                <p:cNvPr id="158" name="Freeform 53"/>
                <p:cNvSpPr>
                  <a:spLocks/>
                </p:cNvSpPr>
                <p:nvPr/>
              </p:nvSpPr>
              <p:spPr bwMode="auto">
                <a:xfrm>
                  <a:off x="1362" y="3616"/>
                  <a:ext cx="893" cy="309"/>
                </a:xfrm>
                <a:custGeom>
                  <a:avLst/>
                  <a:gdLst>
                    <a:gd name="T0" fmla="*/ 0 w 893"/>
                    <a:gd name="T1" fmla="*/ 82 h 309"/>
                    <a:gd name="T2" fmla="*/ 0 w 893"/>
                    <a:gd name="T3" fmla="*/ 143 h 309"/>
                    <a:gd name="T4" fmla="*/ 617 w 893"/>
                    <a:gd name="T5" fmla="*/ 308 h 309"/>
                    <a:gd name="T6" fmla="*/ 892 w 893"/>
                    <a:gd name="T7" fmla="*/ 61 h 309"/>
                    <a:gd name="T8" fmla="*/ 892 w 893"/>
                    <a:gd name="T9" fmla="*/ 0 h 309"/>
                    <a:gd name="T10" fmla="*/ 0 w 893"/>
                    <a:gd name="T11" fmla="*/ 82 h 30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93"/>
                    <a:gd name="T19" fmla="*/ 0 h 309"/>
                    <a:gd name="T20" fmla="*/ 893 w 893"/>
                    <a:gd name="T21" fmla="*/ 309 h 30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93" h="309">
                      <a:moveTo>
                        <a:pt x="0" y="82"/>
                      </a:moveTo>
                      <a:lnTo>
                        <a:pt x="0" y="143"/>
                      </a:lnTo>
                      <a:lnTo>
                        <a:pt x="617" y="308"/>
                      </a:lnTo>
                      <a:lnTo>
                        <a:pt x="892" y="61"/>
                      </a:lnTo>
                      <a:lnTo>
                        <a:pt x="892" y="0"/>
                      </a:lnTo>
                      <a:lnTo>
                        <a:pt x="0" y="82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9" name="Freeform 54"/>
                <p:cNvSpPr>
                  <a:spLocks/>
                </p:cNvSpPr>
                <p:nvPr/>
              </p:nvSpPr>
              <p:spPr bwMode="auto">
                <a:xfrm>
                  <a:off x="1362" y="3616"/>
                  <a:ext cx="909" cy="325"/>
                </a:xfrm>
                <a:custGeom>
                  <a:avLst/>
                  <a:gdLst>
                    <a:gd name="T0" fmla="*/ 0 w 909"/>
                    <a:gd name="T1" fmla="*/ 86 h 325"/>
                    <a:gd name="T2" fmla="*/ 0 w 909"/>
                    <a:gd name="T3" fmla="*/ 150 h 325"/>
                    <a:gd name="T4" fmla="*/ 628 w 909"/>
                    <a:gd name="T5" fmla="*/ 324 h 325"/>
                    <a:gd name="T6" fmla="*/ 908 w 909"/>
                    <a:gd name="T7" fmla="*/ 64 h 325"/>
                    <a:gd name="T8" fmla="*/ 908 w 909"/>
                    <a:gd name="T9" fmla="*/ 0 h 3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9"/>
                    <a:gd name="T16" fmla="*/ 0 h 325"/>
                    <a:gd name="T17" fmla="*/ 909 w 909"/>
                    <a:gd name="T18" fmla="*/ 325 h 3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9" h="325">
                      <a:moveTo>
                        <a:pt x="0" y="86"/>
                      </a:moveTo>
                      <a:lnTo>
                        <a:pt x="0" y="150"/>
                      </a:lnTo>
                      <a:lnTo>
                        <a:pt x="628" y="324"/>
                      </a:lnTo>
                      <a:lnTo>
                        <a:pt x="908" y="64"/>
                      </a:lnTo>
                      <a:lnTo>
                        <a:pt x="908" y="0"/>
                      </a:lnTo>
                    </a:path>
                  </a:pathLst>
                </a:custGeom>
                <a:grp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54" name="Freeform 55"/>
              <p:cNvSpPr>
                <a:spLocks/>
              </p:cNvSpPr>
              <p:nvPr/>
            </p:nvSpPr>
            <p:spPr bwMode="auto">
              <a:xfrm>
                <a:off x="1318" y="2810"/>
                <a:ext cx="671" cy="1081"/>
              </a:xfrm>
              <a:custGeom>
                <a:avLst/>
                <a:gdLst>
                  <a:gd name="T0" fmla="*/ 0 w 671"/>
                  <a:gd name="T1" fmla="*/ 0 h 1081"/>
                  <a:gd name="T2" fmla="*/ 670 w 671"/>
                  <a:gd name="T3" fmla="*/ 132 h 1081"/>
                  <a:gd name="T4" fmla="*/ 670 w 671"/>
                  <a:gd name="T5" fmla="*/ 1080 h 1081"/>
                  <a:gd name="T6" fmla="*/ 0 w 671"/>
                  <a:gd name="T7" fmla="*/ 908 h 1081"/>
                  <a:gd name="T8" fmla="*/ 0 w 671"/>
                  <a:gd name="T9" fmla="*/ 0 h 10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081"/>
                  <a:gd name="T17" fmla="*/ 671 w 671"/>
                  <a:gd name="T18" fmla="*/ 1081 h 10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081">
                    <a:moveTo>
                      <a:pt x="0" y="0"/>
                    </a:moveTo>
                    <a:lnTo>
                      <a:pt x="670" y="132"/>
                    </a:lnTo>
                    <a:lnTo>
                      <a:pt x="670" y="1080"/>
                    </a:lnTo>
                    <a:lnTo>
                      <a:pt x="0" y="908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5" name="Freeform 56"/>
              <p:cNvSpPr>
                <a:spLocks/>
              </p:cNvSpPr>
              <p:nvPr/>
            </p:nvSpPr>
            <p:spPr bwMode="auto">
              <a:xfrm>
                <a:off x="1988" y="2790"/>
                <a:ext cx="305" cy="1101"/>
              </a:xfrm>
              <a:custGeom>
                <a:avLst/>
                <a:gdLst>
                  <a:gd name="T0" fmla="*/ 0 w 305"/>
                  <a:gd name="T1" fmla="*/ 152 h 1101"/>
                  <a:gd name="T2" fmla="*/ 304 w 305"/>
                  <a:gd name="T3" fmla="*/ 0 h 1101"/>
                  <a:gd name="T4" fmla="*/ 304 w 305"/>
                  <a:gd name="T5" fmla="*/ 842 h 1101"/>
                  <a:gd name="T6" fmla="*/ 0 w 305"/>
                  <a:gd name="T7" fmla="*/ 1100 h 1101"/>
                  <a:gd name="T8" fmla="*/ 0 w 305"/>
                  <a:gd name="T9" fmla="*/ 152 h 1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5"/>
                  <a:gd name="T16" fmla="*/ 0 h 1101"/>
                  <a:gd name="T17" fmla="*/ 305 w 305"/>
                  <a:gd name="T18" fmla="*/ 1101 h 11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5" h="1101">
                    <a:moveTo>
                      <a:pt x="0" y="152"/>
                    </a:moveTo>
                    <a:lnTo>
                      <a:pt x="304" y="0"/>
                    </a:lnTo>
                    <a:lnTo>
                      <a:pt x="304" y="842"/>
                    </a:lnTo>
                    <a:lnTo>
                      <a:pt x="0" y="1100"/>
                    </a:lnTo>
                    <a:lnTo>
                      <a:pt x="0" y="152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6" name="Freeform 57"/>
              <p:cNvSpPr>
                <a:spLocks/>
              </p:cNvSpPr>
              <p:nvPr/>
            </p:nvSpPr>
            <p:spPr bwMode="auto">
              <a:xfrm>
                <a:off x="1858" y="2984"/>
                <a:ext cx="89" cy="195"/>
              </a:xfrm>
              <a:custGeom>
                <a:avLst/>
                <a:gdLst>
                  <a:gd name="T0" fmla="*/ 0 w 89"/>
                  <a:gd name="T1" fmla="*/ 0 h 195"/>
                  <a:gd name="T2" fmla="*/ 88 w 89"/>
                  <a:gd name="T3" fmla="*/ 22 h 195"/>
                  <a:gd name="T4" fmla="*/ 88 w 89"/>
                  <a:gd name="T5" fmla="*/ 194 h 195"/>
                  <a:gd name="T6" fmla="*/ 0 w 89"/>
                  <a:gd name="T7" fmla="*/ 172 h 195"/>
                  <a:gd name="T8" fmla="*/ 0 w 89"/>
                  <a:gd name="T9" fmla="*/ 0 h 1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195"/>
                  <a:gd name="T17" fmla="*/ 89 w 89"/>
                  <a:gd name="T18" fmla="*/ 195 h 1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195">
                    <a:moveTo>
                      <a:pt x="0" y="0"/>
                    </a:moveTo>
                    <a:lnTo>
                      <a:pt x="88" y="22"/>
                    </a:lnTo>
                    <a:lnTo>
                      <a:pt x="88" y="194"/>
                    </a:lnTo>
                    <a:lnTo>
                      <a:pt x="0" y="172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rgbClr val="004E4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7" name="Freeform 58"/>
              <p:cNvSpPr>
                <a:spLocks/>
              </p:cNvSpPr>
              <p:nvPr/>
            </p:nvSpPr>
            <p:spPr bwMode="auto">
              <a:xfrm>
                <a:off x="1870" y="3050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8" name="Freeform 59"/>
              <p:cNvSpPr>
                <a:spLocks/>
              </p:cNvSpPr>
              <p:nvPr/>
            </p:nvSpPr>
            <p:spPr bwMode="auto">
              <a:xfrm>
                <a:off x="1870" y="300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9" name="Freeform 60"/>
              <p:cNvSpPr>
                <a:spLocks/>
              </p:cNvSpPr>
              <p:nvPr/>
            </p:nvSpPr>
            <p:spPr bwMode="auto">
              <a:xfrm>
                <a:off x="1912" y="3016"/>
                <a:ext cx="23" cy="15"/>
              </a:xfrm>
              <a:custGeom>
                <a:avLst/>
                <a:gdLst>
                  <a:gd name="T0" fmla="*/ 0 w 23"/>
                  <a:gd name="T1" fmla="*/ 0 h 15"/>
                  <a:gd name="T2" fmla="*/ 21 w 23"/>
                  <a:gd name="T3" fmla="*/ 6 h 15"/>
                  <a:gd name="T4" fmla="*/ 22 w 23"/>
                  <a:gd name="T5" fmla="*/ 14 h 15"/>
                  <a:gd name="T6" fmla="*/ 0 w 23"/>
                  <a:gd name="T7" fmla="*/ 8 h 15"/>
                  <a:gd name="T8" fmla="*/ 0 w 23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15"/>
                  <a:gd name="T17" fmla="*/ 23 w 23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15">
                    <a:moveTo>
                      <a:pt x="0" y="0"/>
                    </a:moveTo>
                    <a:lnTo>
                      <a:pt x="21" y="6"/>
                    </a:lnTo>
                    <a:lnTo>
                      <a:pt x="22" y="14"/>
                    </a:lnTo>
                    <a:lnTo>
                      <a:pt x="0" y="8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0" name="Freeform 61"/>
              <p:cNvSpPr>
                <a:spLocks/>
              </p:cNvSpPr>
              <p:nvPr/>
            </p:nvSpPr>
            <p:spPr bwMode="auto">
              <a:xfrm>
                <a:off x="1870" y="313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1" name="Freeform 62"/>
              <p:cNvSpPr>
                <a:spLocks/>
              </p:cNvSpPr>
              <p:nvPr/>
            </p:nvSpPr>
            <p:spPr bwMode="auto">
              <a:xfrm>
                <a:off x="1384" y="2876"/>
                <a:ext cx="403" cy="835"/>
              </a:xfrm>
              <a:custGeom>
                <a:avLst/>
                <a:gdLst>
                  <a:gd name="T0" fmla="*/ 0 w 403"/>
                  <a:gd name="T1" fmla="*/ 0 h 835"/>
                  <a:gd name="T2" fmla="*/ 402 w 403"/>
                  <a:gd name="T3" fmla="*/ 86 h 835"/>
                  <a:gd name="T4" fmla="*/ 402 w 403"/>
                  <a:gd name="T5" fmla="*/ 834 h 835"/>
                  <a:gd name="T6" fmla="*/ 0 w 403"/>
                  <a:gd name="T7" fmla="*/ 728 h 835"/>
                  <a:gd name="T8" fmla="*/ 0 w 403"/>
                  <a:gd name="T9" fmla="*/ 0 h 8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3"/>
                  <a:gd name="T16" fmla="*/ 0 h 835"/>
                  <a:gd name="T17" fmla="*/ 403 w 403"/>
                  <a:gd name="T18" fmla="*/ 835 h 8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3" h="835">
                    <a:moveTo>
                      <a:pt x="0" y="0"/>
                    </a:moveTo>
                    <a:lnTo>
                      <a:pt x="402" y="86"/>
                    </a:lnTo>
                    <a:lnTo>
                      <a:pt x="402" y="834"/>
                    </a:lnTo>
                    <a:lnTo>
                      <a:pt x="0" y="728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62" name="Group 63"/>
              <p:cNvGrpSpPr>
                <a:grpSpLocks/>
              </p:cNvGrpSpPr>
              <p:nvPr/>
            </p:nvGrpSpPr>
            <p:grpSpPr bwMode="auto">
              <a:xfrm>
                <a:off x="1394" y="3016"/>
                <a:ext cx="391" cy="239"/>
                <a:chOff x="1394" y="3016"/>
                <a:chExt cx="391" cy="239"/>
              </a:xfrm>
              <a:grpFill/>
            </p:grpSpPr>
            <p:sp>
              <p:nvSpPr>
                <p:cNvPr id="155" name="Freeform 64"/>
                <p:cNvSpPr>
                  <a:spLocks/>
                </p:cNvSpPr>
                <p:nvPr/>
              </p:nvSpPr>
              <p:spPr bwMode="auto">
                <a:xfrm>
                  <a:off x="1394" y="3016"/>
                  <a:ext cx="383" cy="231"/>
                </a:xfrm>
                <a:custGeom>
                  <a:avLst/>
                  <a:gdLst>
                    <a:gd name="T0" fmla="*/ 0 w 383"/>
                    <a:gd name="T1" fmla="*/ 0 h 231"/>
                    <a:gd name="T2" fmla="*/ 382 w 383"/>
                    <a:gd name="T3" fmla="*/ 84 h 231"/>
                    <a:gd name="T4" fmla="*/ 382 w 383"/>
                    <a:gd name="T5" fmla="*/ 230 h 231"/>
                    <a:gd name="T6" fmla="*/ 0 w 383"/>
                    <a:gd name="T7" fmla="*/ 146 h 231"/>
                    <a:gd name="T8" fmla="*/ 0 w 383"/>
                    <a:gd name="T9" fmla="*/ 0 h 2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231"/>
                    <a:gd name="T17" fmla="*/ 383 w 383"/>
                    <a:gd name="T18" fmla="*/ 231 h 2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231">
                      <a:moveTo>
                        <a:pt x="0" y="0"/>
                      </a:moveTo>
                      <a:lnTo>
                        <a:pt x="382" y="84"/>
                      </a:lnTo>
                      <a:lnTo>
                        <a:pt x="382" y="230"/>
                      </a:lnTo>
                      <a:lnTo>
                        <a:pt x="0" y="14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6" name="Freeform 65"/>
                <p:cNvSpPr>
                  <a:spLocks/>
                </p:cNvSpPr>
                <p:nvPr/>
              </p:nvSpPr>
              <p:spPr bwMode="auto">
                <a:xfrm>
                  <a:off x="1394" y="3016"/>
                  <a:ext cx="391" cy="153"/>
                </a:xfrm>
                <a:custGeom>
                  <a:avLst/>
                  <a:gdLst>
                    <a:gd name="T0" fmla="*/ 0 w 391"/>
                    <a:gd name="T1" fmla="*/ 152 h 153"/>
                    <a:gd name="T2" fmla="*/ 0 w 391"/>
                    <a:gd name="T3" fmla="*/ 0 h 153"/>
                    <a:gd name="T4" fmla="*/ 390 w 391"/>
                    <a:gd name="T5" fmla="*/ 86 h 153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3"/>
                    <a:gd name="T11" fmla="*/ 391 w 391"/>
                    <a:gd name="T12" fmla="*/ 153 h 1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3">
                      <a:moveTo>
                        <a:pt x="0" y="152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7" name="Freeform 66"/>
                <p:cNvSpPr>
                  <a:spLocks/>
                </p:cNvSpPr>
                <p:nvPr/>
              </p:nvSpPr>
              <p:spPr bwMode="auto">
                <a:xfrm>
                  <a:off x="1394" y="3102"/>
                  <a:ext cx="391" cy="153"/>
                </a:xfrm>
                <a:custGeom>
                  <a:avLst/>
                  <a:gdLst>
                    <a:gd name="T0" fmla="*/ 0 w 391"/>
                    <a:gd name="T1" fmla="*/ 66 h 153"/>
                    <a:gd name="T2" fmla="*/ 390 w 391"/>
                    <a:gd name="T3" fmla="*/ 152 h 153"/>
                    <a:gd name="T4" fmla="*/ 390 w 391"/>
                    <a:gd name="T5" fmla="*/ 0 h 153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3"/>
                    <a:gd name="T11" fmla="*/ 391 w 391"/>
                    <a:gd name="T12" fmla="*/ 153 h 1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3">
                      <a:moveTo>
                        <a:pt x="0" y="66"/>
                      </a:moveTo>
                      <a:lnTo>
                        <a:pt x="390" y="152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63" name="Line 67"/>
              <p:cNvSpPr>
                <a:spLocks noChangeShapeType="1"/>
              </p:cNvSpPr>
              <p:nvPr/>
            </p:nvSpPr>
            <p:spPr bwMode="auto">
              <a:xfrm>
                <a:off x="1428" y="309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428" y="311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428" y="3130"/>
                <a:ext cx="330" cy="70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428" y="315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67" name="Freeform 71"/>
              <p:cNvSpPr>
                <a:spLocks/>
              </p:cNvSpPr>
              <p:nvPr/>
            </p:nvSpPr>
            <p:spPr bwMode="auto">
              <a:xfrm>
                <a:off x="1524" y="3056"/>
                <a:ext cx="223" cy="83"/>
              </a:xfrm>
              <a:custGeom>
                <a:avLst/>
                <a:gdLst>
                  <a:gd name="T0" fmla="*/ 0 w 223"/>
                  <a:gd name="T1" fmla="*/ 0 h 83"/>
                  <a:gd name="T2" fmla="*/ 222 w 223"/>
                  <a:gd name="T3" fmla="*/ 47 h 83"/>
                  <a:gd name="T4" fmla="*/ 222 w 223"/>
                  <a:gd name="T5" fmla="*/ 82 h 83"/>
                  <a:gd name="T6" fmla="*/ 0 w 223"/>
                  <a:gd name="T7" fmla="*/ 35 h 83"/>
                  <a:gd name="T8" fmla="*/ 0 w 223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83"/>
                  <a:gd name="T17" fmla="*/ 223 w 223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83">
                    <a:moveTo>
                      <a:pt x="0" y="0"/>
                    </a:moveTo>
                    <a:lnTo>
                      <a:pt x="222" y="47"/>
                    </a:lnTo>
                    <a:lnTo>
                      <a:pt x="222" y="82"/>
                    </a:lnTo>
                    <a:lnTo>
                      <a:pt x="0" y="3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68" name="Group 72"/>
              <p:cNvGrpSpPr>
                <a:grpSpLocks/>
              </p:cNvGrpSpPr>
              <p:nvPr/>
            </p:nvGrpSpPr>
            <p:grpSpPr bwMode="auto">
              <a:xfrm>
                <a:off x="1602" y="3100"/>
                <a:ext cx="27" cy="11"/>
                <a:chOff x="1602" y="3100"/>
                <a:chExt cx="27" cy="11"/>
              </a:xfrm>
              <a:grpFill/>
            </p:grpSpPr>
            <p:sp>
              <p:nvSpPr>
                <p:cNvPr id="153" name="Freeform 73"/>
                <p:cNvSpPr>
                  <a:spLocks/>
                </p:cNvSpPr>
                <p:nvPr/>
              </p:nvSpPr>
              <p:spPr bwMode="auto">
                <a:xfrm>
                  <a:off x="1610" y="3108"/>
                  <a:ext cx="19" cy="3"/>
                </a:xfrm>
                <a:custGeom>
                  <a:avLst/>
                  <a:gdLst>
                    <a:gd name="T0" fmla="*/ 1 w 19"/>
                    <a:gd name="T1" fmla="*/ 0 h 3"/>
                    <a:gd name="T2" fmla="*/ 17 w 19"/>
                    <a:gd name="T3" fmla="*/ 1 h 3"/>
                    <a:gd name="T4" fmla="*/ 18 w 19"/>
                    <a:gd name="T5" fmla="*/ 2 h 3"/>
                    <a:gd name="T6" fmla="*/ 0 w 19"/>
                    <a:gd name="T7" fmla="*/ 1 h 3"/>
                    <a:gd name="T8" fmla="*/ 1 w 19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3"/>
                    <a:gd name="T17" fmla="*/ 19 w 19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3">
                      <a:moveTo>
                        <a:pt x="1" y="0"/>
                      </a:moveTo>
                      <a:lnTo>
                        <a:pt x="17" y="1"/>
                      </a:lnTo>
                      <a:lnTo>
                        <a:pt x="18" y="2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4" name="Freeform 74"/>
                <p:cNvSpPr>
                  <a:spLocks/>
                </p:cNvSpPr>
                <p:nvPr/>
              </p:nvSpPr>
              <p:spPr bwMode="auto">
                <a:xfrm>
                  <a:off x="1602" y="3100"/>
                  <a:ext cx="19" cy="3"/>
                </a:xfrm>
                <a:custGeom>
                  <a:avLst/>
                  <a:gdLst>
                    <a:gd name="T0" fmla="*/ 1 w 19"/>
                    <a:gd name="T1" fmla="*/ 0 h 3"/>
                    <a:gd name="T2" fmla="*/ 17 w 19"/>
                    <a:gd name="T3" fmla="*/ 1 h 3"/>
                    <a:gd name="T4" fmla="*/ 18 w 19"/>
                    <a:gd name="T5" fmla="*/ 2 h 3"/>
                    <a:gd name="T6" fmla="*/ 0 w 19"/>
                    <a:gd name="T7" fmla="*/ 1 h 3"/>
                    <a:gd name="T8" fmla="*/ 1 w 19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3"/>
                    <a:gd name="T17" fmla="*/ 19 w 19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3">
                      <a:moveTo>
                        <a:pt x="1" y="0"/>
                      </a:moveTo>
                      <a:lnTo>
                        <a:pt x="17" y="1"/>
                      </a:lnTo>
                      <a:lnTo>
                        <a:pt x="18" y="2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69" name="Group 75"/>
              <p:cNvGrpSpPr>
                <a:grpSpLocks/>
              </p:cNvGrpSpPr>
              <p:nvPr/>
            </p:nvGrpSpPr>
            <p:grpSpPr bwMode="auto">
              <a:xfrm>
                <a:off x="1642" y="3088"/>
                <a:ext cx="27" cy="17"/>
                <a:chOff x="1642" y="3088"/>
                <a:chExt cx="27" cy="17"/>
              </a:xfrm>
              <a:grpFill/>
            </p:grpSpPr>
            <p:sp>
              <p:nvSpPr>
                <p:cNvPr id="151" name="Freeform 76"/>
                <p:cNvSpPr>
                  <a:spLocks/>
                </p:cNvSpPr>
                <p:nvPr/>
              </p:nvSpPr>
              <p:spPr bwMode="auto">
                <a:xfrm>
                  <a:off x="1650" y="309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2" name="Freeform 77"/>
                <p:cNvSpPr>
                  <a:spLocks/>
                </p:cNvSpPr>
                <p:nvPr/>
              </p:nvSpPr>
              <p:spPr bwMode="auto">
                <a:xfrm>
                  <a:off x="1642" y="3088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70" name="Group 78"/>
              <p:cNvGrpSpPr>
                <a:grpSpLocks/>
              </p:cNvGrpSpPr>
              <p:nvPr/>
            </p:nvGrpSpPr>
            <p:grpSpPr bwMode="auto">
              <a:xfrm>
                <a:off x="1732" y="3108"/>
                <a:ext cx="13" cy="29"/>
                <a:chOff x="1732" y="3108"/>
                <a:chExt cx="13" cy="29"/>
              </a:xfrm>
              <a:grpFill/>
            </p:grpSpPr>
            <p:sp>
              <p:nvSpPr>
                <p:cNvPr id="149" name="Freeform 79"/>
                <p:cNvSpPr>
                  <a:spLocks/>
                </p:cNvSpPr>
                <p:nvPr/>
              </p:nvSpPr>
              <p:spPr bwMode="auto">
                <a:xfrm>
                  <a:off x="1740" y="3116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2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50" name="Freeform 80"/>
                <p:cNvSpPr>
                  <a:spLocks/>
                </p:cNvSpPr>
                <p:nvPr/>
              </p:nvSpPr>
              <p:spPr bwMode="auto">
                <a:xfrm>
                  <a:off x="1732" y="3108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2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71" name="Freeform 81"/>
              <p:cNvSpPr>
                <a:spLocks/>
              </p:cNvSpPr>
              <p:nvPr/>
            </p:nvSpPr>
            <p:spPr bwMode="auto">
              <a:xfrm>
                <a:off x="1528" y="3062"/>
                <a:ext cx="49" cy="13"/>
              </a:xfrm>
              <a:custGeom>
                <a:avLst/>
                <a:gdLst>
                  <a:gd name="T0" fmla="*/ 2 w 49"/>
                  <a:gd name="T1" fmla="*/ 0 h 13"/>
                  <a:gd name="T2" fmla="*/ 47 w 49"/>
                  <a:gd name="T3" fmla="*/ 7 h 13"/>
                  <a:gd name="T4" fmla="*/ 48 w 49"/>
                  <a:gd name="T5" fmla="*/ 12 h 13"/>
                  <a:gd name="T6" fmla="*/ 0 w 49"/>
                  <a:gd name="T7" fmla="*/ 5 h 13"/>
                  <a:gd name="T8" fmla="*/ 2 w 49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"/>
                  <a:gd name="T16" fmla="*/ 0 h 13"/>
                  <a:gd name="T17" fmla="*/ 49 w 49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" h="13">
                    <a:moveTo>
                      <a:pt x="2" y="0"/>
                    </a:moveTo>
                    <a:lnTo>
                      <a:pt x="47" y="7"/>
                    </a:lnTo>
                    <a:lnTo>
                      <a:pt x="48" y="12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72" name="Group 82"/>
              <p:cNvGrpSpPr>
                <a:grpSpLocks/>
              </p:cNvGrpSpPr>
              <p:nvPr/>
            </p:nvGrpSpPr>
            <p:grpSpPr bwMode="auto">
              <a:xfrm>
                <a:off x="1528" y="3080"/>
                <a:ext cx="57" cy="23"/>
                <a:chOff x="1528" y="3080"/>
                <a:chExt cx="57" cy="23"/>
              </a:xfrm>
              <a:grpFill/>
            </p:grpSpPr>
            <p:sp>
              <p:nvSpPr>
                <p:cNvPr id="147" name="Freeform 83"/>
                <p:cNvSpPr>
                  <a:spLocks/>
                </p:cNvSpPr>
                <p:nvPr/>
              </p:nvSpPr>
              <p:spPr bwMode="auto">
                <a:xfrm>
                  <a:off x="1536" y="3088"/>
                  <a:ext cx="49" cy="15"/>
                </a:xfrm>
                <a:custGeom>
                  <a:avLst/>
                  <a:gdLst>
                    <a:gd name="T0" fmla="*/ 2 w 49"/>
                    <a:gd name="T1" fmla="*/ 0 h 15"/>
                    <a:gd name="T2" fmla="*/ 47 w 49"/>
                    <a:gd name="T3" fmla="*/ 7 h 15"/>
                    <a:gd name="T4" fmla="*/ 48 w 49"/>
                    <a:gd name="T5" fmla="*/ 14 h 15"/>
                    <a:gd name="T6" fmla="*/ 0 w 49"/>
                    <a:gd name="T7" fmla="*/ 6 h 15"/>
                    <a:gd name="T8" fmla="*/ 2 w 49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5"/>
                    <a:gd name="T17" fmla="*/ 49 w 49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5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4"/>
                      </a:lnTo>
                      <a:lnTo>
                        <a:pt x="0" y="6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48" name="Freeform 84"/>
                <p:cNvSpPr>
                  <a:spLocks/>
                </p:cNvSpPr>
                <p:nvPr/>
              </p:nvSpPr>
              <p:spPr bwMode="auto">
                <a:xfrm>
                  <a:off x="1528" y="3080"/>
                  <a:ext cx="49" cy="15"/>
                </a:xfrm>
                <a:custGeom>
                  <a:avLst/>
                  <a:gdLst>
                    <a:gd name="T0" fmla="*/ 2 w 49"/>
                    <a:gd name="T1" fmla="*/ 0 h 15"/>
                    <a:gd name="T2" fmla="*/ 47 w 49"/>
                    <a:gd name="T3" fmla="*/ 7 h 15"/>
                    <a:gd name="T4" fmla="*/ 48 w 49"/>
                    <a:gd name="T5" fmla="*/ 14 h 15"/>
                    <a:gd name="T6" fmla="*/ 0 w 49"/>
                    <a:gd name="T7" fmla="*/ 6 h 15"/>
                    <a:gd name="T8" fmla="*/ 2 w 49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5"/>
                    <a:gd name="T17" fmla="*/ 49 w 49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5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4"/>
                      </a:lnTo>
                      <a:lnTo>
                        <a:pt x="0" y="6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73" name="Freeform 85"/>
              <p:cNvSpPr>
                <a:spLocks/>
              </p:cNvSpPr>
              <p:nvPr/>
            </p:nvSpPr>
            <p:spPr bwMode="auto">
              <a:xfrm>
                <a:off x="1602" y="3078"/>
                <a:ext cx="19" cy="9"/>
              </a:xfrm>
              <a:custGeom>
                <a:avLst/>
                <a:gdLst>
                  <a:gd name="T0" fmla="*/ 0 w 19"/>
                  <a:gd name="T1" fmla="*/ 0 h 9"/>
                  <a:gd name="T2" fmla="*/ 17 w 19"/>
                  <a:gd name="T3" fmla="*/ 3 h 9"/>
                  <a:gd name="T4" fmla="*/ 18 w 19"/>
                  <a:gd name="T5" fmla="*/ 8 h 9"/>
                  <a:gd name="T6" fmla="*/ 0 w 19"/>
                  <a:gd name="T7" fmla="*/ 5 h 9"/>
                  <a:gd name="T8" fmla="*/ 0 w 1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9"/>
                  <a:gd name="T17" fmla="*/ 19 w 1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9">
                    <a:moveTo>
                      <a:pt x="0" y="0"/>
                    </a:moveTo>
                    <a:lnTo>
                      <a:pt x="17" y="3"/>
                    </a:lnTo>
                    <a:lnTo>
                      <a:pt x="18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74" name="Group 86"/>
              <p:cNvGrpSpPr>
                <a:grpSpLocks/>
              </p:cNvGrpSpPr>
              <p:nvPr/>
            </p:nvGrpSpPr>
            <p:grpSpPr bwMode="auto">
              <a:xfrm>
                <a:off x="1642" y="3108"/>
                <a:ext cx="25" cy="13"/>
                <a:chOff x="1642" y="3108"/>
                <a:chExt cx="25" cy="13"/>
              </a:xfrm>
              <a:grpFill/>
            </p:grpSpPr>
            <p:sp>
              <p:nvSpPr>
                <p:cNvPr id="145" name="Freeform 87"/>
                <p:cNvSpPr>
                  <a:spLocks/>
                </p:cNvSpPr>
                <p:nvPr/>
              </p:nvSpPr>
              <p:spPr bwMode="auto">
                <a:xfrm>
                  <a:off x="1650" y="3116"/>
                  <a:ext cx="17" cy="5"/>
                </a:xfrm>
                <a:custGeom>
                  <a:avLst/>
                  <a:gdLst>
                    <a:gd name="T0" fmla="*/ 0 w 17"/>
                    <a:gd name="T1" fmla="*/ 0 h 5"/>
                    <a:gd name="T2" fmla="*/ 16 w 17"/>
                    <a:gd name="T3" fmla="*/ 2 h 5"/>
                    <a:gd name="T4" fmla="*/ 16 w 17"/>
                    <a:gd name="T5" fmla="*/ 4 h 5"/>
                    <a:gd name="T6" fmla="*/ 0 w 17"/>
                    <a:gd name="T7" fmla="*/ 2 h 5"/>
                    <a:gd name="T8" fmla="*/ 0 w 17"/>
                    <a:gd name="T9" fmla="*/ 0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"/>
                    <a:gd name="T17" fmla="*/ 17 w 17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">
                      <a:moveTo>
                        <a:pt x="0" y="0"/>
                      </a:move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46" name="Freeform 88"/>
                <p:cNvSpPr>
                  <a:spLocks/>
                </p:cNvSpPr>
                <p:nvPr/>
              </p:nvSpPr>
              <p:spPr bwMode="auto">
                <a:xfrm>
                  <a:off x="1642" y="3108"/>
                  <a:ext cx="17" cy="5"/>
                </a:xfrm>
                <a:custGeom>
                  <a:avLst/>
                  <a:gdLst>
                    <a:gd name="T0" fmla="*/ 0 w 17"/>
                    <a:gd name="T1" fmla="*/ 0 h 5"/>
                    <a:gd name="T2" fmla="*/ 16 w 17"/>
                    <a:gd name="T3" fmla="*/ 2 h 5"/>
                    <a:gd name="T4" fmla="*/ 16 w 17"/>
                    <a:gd name="T5" fmla="*/ 4 h 5"/>
                    <a:gd name="T6" fmla="*/ 0 w 17"/>
                    <a:gd name="T7" fmla="*/ 2 h 5"/>
                    <a:gd name="T8" fmla="*/ 0 w 17"/>
                    <a:gd name="T9" fmla="*/ 0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"/>
                    <a:gd name="T17" fmla="*/ 17 w 17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">
                      <a:moveTo>
                        <a:pt x="0" y="0"/>
                      </a:move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75" name="Freeform 89"/>
              <p:cNvSpPr>
                <a:spLocks/>
              </p:cNvSpPr>
              <p:nvPr/>
            </p:nvSpPr>
            <p:spPr bwMode="auto">
              <a:xfrm>
                <a:off x="1682" y="3118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6" name="Freeform 90"/>
              <p:cNvSpPr>
                <a:spLocks/>
              </p:cNvSpPr>
              <p:nvPr/>
            </p:nvSpPr>
            <p:spPr bwMode="auto">
              <a:xfrm>
                <a:off x="1682" y="309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77" name="Group 91"/>
              <p:cNvGrpSpPr>
                <a:grpSpLocks/>
              </p:cNvGrpSpPr>
              <p:nvPr/>
            </p:nvGrpSpPr>
            <p:grpSpPr bwMode="auto">
              <a:xfrm>
                <a:off x="1394" y="2886"/>
                <a:ext cx="391" cy="195"/>
                <a:chOff x="1394" y="2886"/>
                <a:chExt cx="391" cy="195"/>
              </a:xfrm>
              <a:grpFill/>
            </p:grpSpPr>
            <p:sp>
              <p:nvSpPr>
                <p:cNvPr id="142" name="Freeform 92"/>
                <p:cNvSpPr>
                  <a:spLocks/>
                </p:cNvSpPr>
                <p:nvPr/>
              </p:nvSpPr>
              <p:spPr bwMode="auto">
                <a:xfrm>
                  <a:off x="1394" y="2886"/>
                  <a:ext cx="391" cy="195"/>
                </a:xfrm>
                <a:custGeom>
                  <a:avLst/>
                  <a:gdLst>
                    <a:gd name="T0" fmla="*/ 0 w 391"/>
                    <a:gd name="T1" fmla="*/ 0 h 195"/>
                    <a:gd name="T2" fmla="*/ 390 w 391"/>
                    <a:gd name="T3" fmla="*/ 86 h 195"/>
                    <a:gd name="T4" fmla="*/ 390 w 391"/>
                    <a:gd name="T5" fmla="*/ 194 h 195"/>
                    <a:gd name="T6" fmla="*/ 0 w 391"/>
                    <a:gd name="T7" fmla="*/ 108 h 195"/>
                    <a:gd name="T8" fmla="*/ 0 w 391"/>
                    <a:gd name="T9" fmla="*/ 0 h 1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1"/>
                    <a:gd name="T16" fmla="*/ 0 h 195"/>
                    <a:gd name="T17" fmla="*/ 391 w 391"/>
                    <a:gd name="T18" fmla="*/ 195 h 19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1" h="195">
                      <a:moveTo>
                        <a:pt x="0" y="0"/>
                      </a:moveTo>
                      <a:lnTo>
                        <a:pt x="390" y="86"/>
                      </a:lnTo>
                      <a:lnTo>
                        <a:pt x="390" y="194"/>
                      </a:lnTo>
                      <a:lnTo>
                        <a:pt x="0" y="108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43" name="Freeform 93"/>
                <p:cNvSpPr>
                  <a:spLocks/>
                </p:cNvSpPr>
                <p:nvPr/>
              </p:nvSpPr>
              <p:spPr bwMode="auto">
                <a:xfrm>
                  <a:off x="1394" y="2886"/>
                  <a:ext cx="391" cy="109"/>
                </a:xfrm>
                <a:custGeom>
                  <a:avLst/>
                  <a:gdLst>
                    <a:gd name="T0" fmla="*/ 0 w 391"/>
                    <a:gd name="T1" fmla="*/ 108 h 109"/>
                    <a:gd name="T2" fmla="*/ 0 w 391"/>
                    <a:gd name="T3" fmla="*/ 0 h 109"/>
                    <a:gd name="T4" fmla="*/ 390 w 391"/>
                    <a:gd name="T5" fmla="*/ 86 h 10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09"/>
                    <a:gd name="T11" fmla="*/ 391 w 39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09">
                      <a:moveTo>
                        <a:pt x="0" y="108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44" name="Freeform 94"/>
                <p:cNvSpPr>
                  <a:spLocks/>
                </p:cNvSpPr>
                <p:nvPr/>
              </p:nvSpPr>
              <p:spPr bwMode="auto">
                <a:xfrm>
                  <a:off x="1394" y="2972"/>
                  <a:ext cx="391" cy="109"/>
                </a:xfrm>
                <a:custGeom>
                  <a:avLst/>
                  <a:gdLst>
                    <a:gd name="T0" fmla="*/ 0 w 391"/>
                    <a:gd name="T1" fmla="*/ 22 h 109"/>
                    <a:gd name="T2" fmla="*/ 390 w 391"/>
                    <a:gd name="T3" fmla="*/ 108 h 109"/>
                    <a:gd name="T4" fmla="*/ 390 w 391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09"/>
                    <a:gd name="T11" fmla="*/ 391 w 39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09">
                      <a:moveTo>
                        <a:pt x="0" y="22"/>
                      </a:moveTo>
                      <a:lnTo>
                        <a:pt x="390" y="108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78" name="Freeform 95"/>
              <p:cNvSpPr>
                <a:spLocks/>
              </p:cNvSpPr>
              <p:nvPr/>
            </p:nvSpPr>
            <p:spPr bwMode="auto">
              <a:xfrm>
                <a:off x="1632" y="2958"/>
                <a:ext cx="121" cy="59"/>
              </a:xfrm>
              <a:custGeom>
                <a:avLst/>
                <a:gdLst>
                  <a:gd name="T0" fmla="*/ 0 w 121"/>
                  <a:gd name="T1" fmla="*/ 0 h 59"/>
                  <a:gd name="T2" fmla="*/ 120 w 121"/>
                  <a:gd name="T3" fmla="*/ 25 h 59"/>
                  <a:gd name="T4" fmla="*/ 120 w 121"/>
                  <a:gd name="T5" fmla="*/ 58 h 59"/>
                  <a:gd name="T6" fmla="*/ 0 w 121"/>
                  <a:gd name="T7" fmla="*/ 33 h 59"/>
                  <a:gd name="T8" fmla="*/ 0 w 121"/>
                  <a:gd name="T9" fmla="*/ 0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1"/>
                  <a:gd name="T16" fmla="*/ 0 h 59"/>
                  <a:gd name="T17" fmla="*/ 121 w 121"/>
                  <a:gd name="T18" fmla="*/ 59 h 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1" h="59">
                    <a:moveTo>
                      <a:pt x="0" y="0"/>
                    </a:moveTo>
                    <a:lnTo>
                      <a:pt x="120" y="25"/>
                    </a:lnTo>
                    <a:lnTo>
                      <a:pt x="120" y="58"/>
                    </a:lnTo>
                    <a:lnTo>
                      <a:pt x="0" y="3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79" name="Group 96"/>
              <p:cNvGrpSpPr>
                <a:grpSpLocks/>
              </p:cNvGrpSpPr>
              <p:nvPr/>
            </p:nvGrpSpPr>
            <p:grpSpPr bwMode="auto">
              <a:xfrm>
                <a:off x="1638" y="2966"/>
                <a:ext cx="27" cy="17"/>
                <a:chOff x="1638" y="2966"/>
                <a:chExt cx="27" cy="17"/>
              </a:xfrm>
              <a:grpFill/>
            </p:grpSpPr>
            <p:sp>
              <p:nvSpPr>
                <p:cNvPr id="140" name="Freeform 97"/>
                <p:cNvSpPr>
                  <a:spLocks/>
                </p:cNvSpPr>
                <p:nvPr/>
              </p:nvSpPr>
              <p:spPr bwMode="auto">
                <a:xfrm>
                  <a:off x="1646" y="2974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41" name="Freeform 98"/>
                <p:cNvSpPr>
                  <a:spLocks/>
                </p:cNvSpPr>
                <p:nvPr/>
              </p:nvSpPr>
              <p:spPr bwMode="auto">
                <a:xfrm>
                  <a:off x="1638" y="296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80" name="Line 99"/>
              <p:cNvSpPr>
                <a:spLocks noChangeShapeType="1"/>
              </p:cNvSpPr>
              <p:nvPr/>
            </p:nvSpPr>
            <p:spPr bwMode="auto">
              <a:xfrm>
                <a:off x="1418" y="2932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81" name="Line 100"/>
              <p:cNvSpPr>
                <a:spLocks noChangeShapeType="1"/>
              </p:cNvSpPr>
              <p:nvPr/>
            </p:nvSpPr>
            <p:spPr bwMode="auto">
              <a:xfrm>
                <a:off x="1418" y="2954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82" name="Line 101"/>
              <p:cNvSpPr>
                <a:spLocks noChangeShapeType="1"/>
              </p:cNvSpPr>
              <p:nvPr/>
            </p:nvSpPr>
            <p:spPr bwMode="auto">
              <a:xfrm>
                <a:off x="1418" y="2976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83" name="Freeform 102"/>
              <p:cNvSpPr>
                <a:spLocks/>
              </p:cNvSpPr>
              <p:nvPr/>
            </p:nvSpPr>
            <p:spPr bwMode="auto">
              <a:xfrm>
                <a:off x="1674" y="2986"/>
                <a:ext cx="17" cy="9"/>
              </a:xfrm>
              <a:custGeom>
                <a:avLst/>
                <a:gdLst>
                  <a:gd name="T0" fmla="*/ 0 w 17"/>
                  <a:gd name="T1" fmla="*/ 0 h 9"/>
                  <a:gd name="T2" fmla="*/ 15 w 17"/>
                  <a:gd name="T3" fmla="*/ 3 h 9"/>
                  <a:gd name="T4" fmla="*/ 16 w 17"/>
                  <a:gd name="T5" fmla="*/ 8 h 9"/>
                  <a:gd name="T6" fmla="*/ 0 w 17"/>
                  <a:gd name="T7" fmla="*/ 5 h 9"/>
                  <a:gd name="T8" fmla="*/ 0 w 1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"/>
                  <a:gd name="T17" fmla="*/ 17 w 17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">
                    <a:moveTo>
                      <a:pt x="0" y="0"/>
                    </a:moveTo>
                    <a:lnTo>
                      <a:pt x="15" y="3"/>
                    </a:lnTo>
                    <a:lnTo>
                      <a:pt x="16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84" name="Group 103"/>
              <p:cNvGrpSpPr>
                <a:grpSpLocks/>
              </p:cNvGrpSpPr>
              <p:nvPr/>
            </p:nvGrpSpPr>
            <p:grpSpPr bwMode="auto">
              <a:xfrm>
                <a:off x="1734" y="2990"/>
                <a:ext cx="15" cy="27"/>
                <a:chOff x="1734" y="2990"/>
                <a:chExt cx="15" cy="27"/>
              </a:xfrm>
              <a:grpFill/>
            </p:grpSpPr>
            <p:sp>
              <p:nvSpPr>
                <p:cNvPr id="138" name="Freeform 104"/>
                <p:cNvSpPr>
                  <a:spLocks/>
                </p:cNvSpPr>
                <p:nvPr/>
              </p:nvSpPr>
              <p:spPr bwMode="auto">
                <a:xfrm>
                  <a:off x="1742" y="2998"/>
                  <a:ext cx="7" cy="19"/>
                </a:xfrm>
                <a:custGeom>
                  <a:avLst/>
                  <a:gdLst>
                    <a:gd name="T0" fmla="*/ 0 w 7"/>
                    <a:gd name="T1" fmla="*/ 0 h 19"/>
                    <a:gd name="T2" fmla="*/ 0 w 7"/>
                    <a:gd name="T3" fmla="*/ 16 h 19"/>
                    <a:gd name="T4" fmla="*/ 6 w 7"/>
                    <a:gd name="T5" fmla="*/ 18 h 19"/>
                    <a:gd name="T6" fmla="*/ 6 w 7"/>
                    <a:gd name="T7" fmla="*/ 2 h 19"/>
                    <a:gd name="T8" fmla="*/ 0 w 7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9"/>
                    <a:gd name="T17" fmla="*/ 7 w 7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9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6" y="18"/>
                      </a:lnTo>
                      <a:lnTo>
                        <a:pt x="6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9" name="Freeform 105"/>
                <p:cNvSpPr>
                  <a:spLocks/>
                </p:cNvSpPr>
                <p:nvPr/>
              </p:nvSpPr>
              <p:spPr bwMode="auto">
                <a:xfrm>
                  <a:off x="1734" y="2990"/>
                  <a:ext cx="7" cy="19"/>
                </a:xfrm>
                <a:custGeom>
                  <a:avLst/>
                  <a:gdLst>
                    <a:gd name="T0" fmla="*/ 0 w 7"/>
                    <a:gd name="T1" fmla="*/ 0 h 19"/>
                    <a:gd name="T2" fmla="*/ 0 w 7"/>
                    <a:gd name="T3" fmla="*/ 16 h 19"/>
                    <a:gd name="T4" fmla="*/ 6 w 7"/>
                    <a:gd name="T5" fmla="*/ 18 h 19"/>
                    <a:gd name="T6" fmla="*/ 6 w 7"/>
                    <a:gd name="T7" fmla="*/ 2 h 19"/>
                    <a:gd name="T8" fmla="*/ 0 w 7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9"/>
                    <a:gd name="T17" fmla="*/ 7 w 7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9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6" y="18"/>
                      </a:lnTo>
                      <a:lnTo>
                        <a:pt x="6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85" name="Freeform 106"/>
              <p:cNvSpPr>
                <a:spLocks/>
              </p:cNvSpPr>
              <p:nvPr/>
            </p:nvSpPr>
            <p:spPr bwMode="auto">
              <a:xfrm>
                <a:off x="1642" y="2984"/>
                <a:ext cx="15" cy="5"/>
              </a:xfrm>
              <a:custGeom>
                <a:avLst/>
                <a:gdLst>
                  <a:gd name="T0" fmla="*/ 0 w 15"/>
                  <a:gd name="T1" fmla="*/ 0 h 5"/>
                  <a:gd name="T2" fmla="*/ 13 w 15"/>
                  <a:gd name="T3" fmla="*/ 2 h 5"/>
                  <a:gd name="T4" fmla="*/ 14 w 15"/>
                  <a:gd name="T5" fmla="*/ 4 h 5"/>
                  <a:gd name="T6" fmla="*/ 0 w 15"/>
                  <a:gd name="T7" fmla="*/ 2 h 5"/>
                  <a:gd name="T8" fmla="*/ 0 w 1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5"/>
                  <a:gd name="T17" fmla="*/ 15 w 1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5">
                    <a:moveTo>
                      <a:pt x="0" y="0"/>
                    </a:moveTo>
                    <a:lnTo>
                      <a:pt x="13" y="2"/>
                    </a:lnTo>
                    <a:lnTo>
                      <a:pt x="14" y="4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6" name="Freeform 107"/>
              <p:cNvSpPr>
                <a:spLocks/>
              </p:cNvSpPr>
              <p:nvPr/>
            </p:nvSpPr>
            <p:spPr bwMode="auto">
              <a:xfrm>
                <a:off x="1674" y="2972"/>
                <a:ext cx="17" cy="7"/>
              </a:xfrm>
              <a:custGeom>
                <a:avLst/>
                <a:gdLst>
                  <a:gd name="T0" fmla="*/ 0 w 17"/>
                  <a:gd name="T1" fmla="*/ 0 h 7"/>
                  <a:gd name="T2" fmla="*/ 16 w 17"/>
                  <a:gd name="T3" fmla="*/ 3 h 7"/>
                  <a:gd name="T4" fmla="*/ 16 w 17"/>
                  <a:gd name="T5" fmla="*/ 6 h 7"/>
                  <a:gd name="T6" fmla="*/ 0 w 17"/>
                  <a:gd name="T7" fmla="*/ 3 h 7"/>
                  <a:gd name="T8" fmla="*/ 0 w 1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7"/>
                  <a:gd name="T17" fmla="*/ 17 w 1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7">
                    <a:moveTo>
                      <a:pt x="0" y="0"/>
                    </a:moveTo>
                    <a:lnTo>
                      <a:pt x="16" y="3"/>
                    </a:lnTo>
                    <a:lnTo>
                      <a:pt x="16" y="6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87" name="Group 108"/>
              <p:cNvGrpSpPr>
                <a:grpSpLocks/>
              </p:cNvGrpSpPr>
              <p:nvPr/>
            </p:nvGrpSpPr>
            <p:grpSpPr bwMode="auto">
              <a:xfrm>
                <a:off x="1394" y="3190"/>
                <a:ext cx="391" cy="237"/>
                <a:chOff x="1394" y="3190"/>
                <a:chExt cx="391" cy="237"/>
              </a:xfrm>
              <a:grpFill/>
            </p:grpSpPr>
            <p:sp>
              <p:nvSpPr>
                <p:cNvPr id="135" name="Freeform 109"/>
                <p:cNvSpPr>
                  <a:spLocks/>
                </p:cNvSpPr>
                <p:nvPr/>
              </p:nvSpPr>
              <p:spPr bwMode="auto">
                <a:xfrm>
                  <a:off x="1394" y="3190"/>
                  <a:ext cx="383" cy="229"/>
                </a:xfrm>
                <a:custGeom>
                  <a:avLst/>
                  <a:gdLst>
                    <a:gd name="T0" fmla="*/ 0 w 383"/>
                    <a:gd name="T1" fmla="*/ 0 h 229"/>
                    <a:gd name="T2" fmla="*/ 382 w 383"/>
                    <a:gd name="T3" fmla="*/ 82 h 229"/>
                    <a:gd name="T4" fmla="*/ 382 w 383"/>
                    <a:gd name="T5" fmla="*/ 228 h 229"/>
                    <a:gd name="T6" fmla="*/ 0 w 383"/>
                    <a:gd name="T7" fmla="*/ 146 h 229"/>
                    <a:gd name="T8" fmla="*/ 0 w 383"/>
                    <a:gd name="T9" fmla="*/ 0 h 2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229"/>
                    <a:gd name="T17" fmla="*/ 383 w 383"/>
                    <a:gd name="T18" fmla="*/ 229 h 2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229">
                      <a:moveTo>
                        <a:pt x="0" y="0"/>
                      </a:moveTo>
                      <a:lnTo>
                        <a:pt x="382" y="82"/>
                      </a:lnTo>
                      <a:lnTo>
                        <a:pt x="382" y="228"/>
                      </a:lnTo>
                      <a:lnTo>
                        <a:pt x="0" y="14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6" name="Freeform 110"/>
                <p:cNvSpPr>
                  <a:spLocks/>
                </p:cNvSpPr>
                <p:nvPr/>
              </p:nvSpPr>
              <p:spPr bwMode="auto">
                <a:xfrm>
                  <a:off x="1394" y="3190"/>
                  <a:ext cx="391" cy="151"/>
                </a:xfrm>
                <a:custGeom>
                  <a:avLst/>
                  <a:gdLst>
                    <a:gd name="T0" fmla="*/ 0 w 391"/>
                    <a:gd name="T1" fmla="*/ 150 h 151"/>
                    <a:gd name="T2" fmla="*/ 0 w 391"/>
                    <a:gd name="T3" fmla="*/ 0 h 151"/>
                    <a:gd name="T4" fmla="*/ 390 w 391"/>
                    <a:gd name="T5" fmla="*/ 86 h 15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1"/>
                    <a:gd name="T11" fmla="*/ 391 w 391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1">
                      <a:moveTo>
                        <a:pt x="0" y="150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7" name="Freeform 111"/>
                <p:cNvSpPr>
                  <a:spLocks/>
                </p:cNvSpPr>
                <p:nvPr/>
              </p:nvSpPr>
              <p:spPr bwMode="auto">
                <a:xfrm>
                  <a:off x="1394" y="3276"/>
                  <a:ext cx="391" cy="151"/>
                </a:xfrm>
                <a:custGeom>
                  <a:avLst/>
                  <a:gdLst>
                    <a:gd name="T0" fmla="*/ 0 w 391"/>
                    <a:gd name="T1" fmla="*/ 64 h 151"/>
                    <a:gd name="T2" fmla="*/ 390 w 391"/>
                    <a:gd name="T3" fmla="*/ 150 h 151"/>
                    <a:gd name="T4" fmla="*/ 390 w 391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1"/>
                    <a:gd name="T11" fmla="*/ 391 w 391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1">
                      <a:moveTo>
                        <a:pt x="0" y="64"/>
                      </a:moveTo>
                      <a:lnTo>
                        <a:pt x="390" y="150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88" name="Line 112"/>
              <p:cNvSpPr>
                <a:spLocks noChangeShapeType="1"/>
              </p:cNvSpPr>
              <p:nvPr/>
            </p:nvSpPr>
            <p:spPr bwMode="auto">
              <a:xfrm>
                <a:off x="1428" y="3264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89" name="Line 113"/>
              <p:cNvSpPr>
                <a:spLocks noChangeShapeType="1"/>
              </p:cNvSpPr>
              <p:nvPr/>
            </p:nvSpPr>
            <p:spPr bwMode="auto">
              <a:xfrm>
                <a:off x="1428" y="3286"/>
                <a:ext cx="330" cy="70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90" name="Line 114"/>
              <p:cNvSpPr>
                <a:spLocks noChangeShapeType="1"/>
              </p:cNvSpPr>
              <p:nvPr/>
            </p:nvSpPr>
            <p:spPr bwMode="auto">
              <a:xfrm>
                <a:off x="1428" y="3302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91" name="Line 115"/>
              <p:cNvSpPr>
                <a:spLocks noChangeShapeType="1"/>
              </p:cNvSpPr>
              <p:nvPr/>
            </p:nvSpPr>
            <p:spPr bwMode="auto">
              <a:xfrm>
                <a:off x="1428" y="3322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92" name="Freeform 116"/>
              <p:cNvSpPr>
                <a:spLocks/>
              </p:cNvSpPr>
              <p:nvPr/>
            </p:nvSpPr>
            <p:spPr bwMode="auto">
              <a:xfrm>
                <a:off x="1524" y="3228"/>
                <a:ext cx="223" cy="83"/>
              </a:xfrm>
              <a:custGeom>
                <a:avLst/>
                <a:gdLst>
                  <a:gd name="T0" fmla="*/ 0 w 223"/>
                  <a:gd name="T1" fmla="*/ 0 h 83"/>
                  <a:gd name="T2" fmla="*/ 222 w 223"/>
                  <a:gd name="T3" fmla="*/ 47 h 83"/>
                  <a:gd name="T4" fmla="*/ 222 w 223"/>
                  <a:gd name="T5" fmla="*/ 82 h 83"/>
                  <a:gd name="T6" fmla="*/ 0 w 223"/>
                  <a:gd name="T7" fmla="*/ 35 h 83"/>
                  <a:gd name="T8" fmla="*/ 0 w 223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83"/>
                  <a:gd name="T17" fmla="*/ 223 w 223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83">
                    <a:moveTo>
                      <a:pt x="0" y="0"/>
                    </a:moveTo>
                    <a:lnTo>
                      <a:pt x="222" y="47"/>
                    </a:lnTo>
                    <a:lnTo>
                      <a:pt x="222" y="82"/>
                    </a:lnTo>
                    <a:lnTo>
                      <a:pt x="0" y="3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93" name="Freeform 117"/>
              <p:cNvSpPr>
                <a:spLocks/>
              </p:cNvSpPr>
              <p:nvPr/>
            </p:nvSpPr>
            <p:spPr bwMode="auto">
              <a:xfrm>
                <a:off x="1602" y="3272"/>
                <a:ext cx="19" cy="3"/>
              </a:xfrm>
              <a:custGeom>
                <a:avLst/>
                <a:gdLst>
                  <a:gd name="T0" fmla="*/ 1 w 19"/>
                  <a:gd name="T1" fmla="*/ 0 h 3"/>
                  <a:gd name="T2" fmla="*/ 17 w 19"/>
                  <a:gd name="T3" fmla="*/ 1 h 3"/>
                  <a:gd name="T4" fmla="*/ 18 w 19"/>
                  <a:gd name="T5" fmla="*/ 2 h 3"/>
                  <a:gd name="T6" fmla="*/ 0 w 19"/>
                  <a:gd name="T7" fmla="*/ 1 h 3"/>
                  <a:gd name="T8" fmla="*/ 1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"/>
                  <a:gd name="T17" fmla="*/ 19 w 19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">
                    <a:moveTo>
                      <a:pt x="1" y="0"/>
                    </a:moveTo>
                    <a:lnTo>
                      <a:pt x="17" y="1"/>
                    </a:lnTo>
                    <a:lnTo>
                      <a:pt x="18" y="2"/>
                    </a:lnTo>
                    <a:lnTo>
                      <a:pt x="0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94" name="Group 118"/>
              <p:cNvGrpSpPr>
                <a:grpSpLocks/>
              </p:cNvGrpSpPr>
              <p:nvPr/>
            </p:nvGrpSpPr>
            <p:grpSpPr bwMode="auto">
              <a:xfrm>
                <a:off x="1642" y="3260"/>
                <a:ext cx="27" cy="17"/>
                <a:chOff x="1642" y="3260"/>
                <a:chExt cx="27" cy="17"/>
              </a:xfrm>
              <a:grpFill/>
            </p:grpSpPr>
            <p:sp>
              <p:nvSpPr>
                <p:cNvPr id="133" name="Freeform 119"/>
                <p:cNvSpPr>
                  <a:spLocks/>
                </p:cNvSpPr>
                <p:nvPr/>
              </p:nvSpPr>
              <p:spPr bwMode="auto">
                <a:xfrm>
                  <a:off x="1650" y="3268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4" name="Freeform 120"/>
                <p:cNvSpPr>
                  <a:spLocks/>
                </p:cNvSpPr>
                <p:nvPr/>
              </p:nvSpPr>
              <p:spPr bwMode="auto">
                <a:xfrm>
                  <a:off x="1642" y="3260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95" name="Group 121"/>
              <p:cNvGrpSpPr>
                <a:grpSpLocks/>
              </p:cNvGrpSpPr>
              <p:nvPr/>
            </p:nvGrpSpPr>
            <p:grpSpPr bwMode="auto">
              <a:xfrm>
                <a:off x="1732" y="3282"/>
                <a:ext cx="13" cy="27"/>
                <a:chOff x="1732" y="3282"/>
                <a:chExt cx="13" cy="27"/>
              </a:xfrm>
              <a:grpFill/>
            </p:grpSpPr>
            <p:sp>
              <p:nvSpPr>
                <p:cNvPr id="131" name="Freeform 122"/>
                <p:cNvSpPr>
                  <a:spLocks/>
                </p:cNvSpPr>
                <p:nvPr/>
              </p:nvSpPr>
              <p:spPr bwMode="auto">
                <a:xfrm>
                  <a:off x="1740" y="3290"/>
                  <a:ext cx="5" cy="19"/>
                </a:xfrm>
                <a:custGeom>
                  <a:avLst/>
                  <a:gdLst>
                    <a:gd name="T0" fmla="*/ 0 w 5"/>
                    <a:gd name="T1" fmla="*/ 0 h 19"/>
                    <a:gd name="T2" fmla="*/ 0 w 5"/>
                    <a:gd name="T3" fmla="*/ 15 h 19"/>
                    <a:gd name="T4" fmla="*/ 4 w 5"/>
                    <a:gd name="T5" fmla="*/ 18 h 19"/>
                    <a:gd name="T6" fmla="*/ 4 w 5"/>
                    <a:gd name="T7" fmla="*/ 2 h 19"/>
                    <a:gd name="T8" fmla="*/ 0 w 5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9"/>
                    <a:gd name="T17" fmla="*/ 5 w 5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9">
                      <a:moveTo>
                        <a:pt x="0" y="0"/>
                      </a:moveTo>
                      <a:lnTo>
                        <a:pt x="0" y="15"/>
                      </a:lnTo>
                      <a:lnTo>
                        <a:pt x="4" y="18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2" name="Freeform 123"/>
                <p:cNvSpPr>
                  <a:spLocks/>
                </p:cNvSpPr>
                <p:nvPr/>
              </p:nvSpPr>
              <p:spPr bwMode="auto">
                <a:xfrm>
                  <a:off x="1732" y="3282"/>
                  <a:ext cx="5" cy="19"/>
                </a:xfrm>
                <a:custGeom>
                  <a:avLst/>
                  <a:gdLst>
                    <a:gd name="T0" fmla="*/ 0 w 5"/>
                    <a:gd name="T1" fmla="*/ 0 h 19"/>
                    <a:gd name="T2" fmla="*/ 0 w 5"/>
                    <a:gd name="T3" fmla="*/ 15 h 19"/>
                    <a:gd name="T4" fmla="*/ 4 w 5"/>
                    <a:gd name="T5" fmla="*/ 18 h 19"/>
                    <a:gd name="T6" fmla="*/ 4 w 5"/>
                    <a:gd name="T7" fmla="*/ 2 h 19"/>
                    <a:gd name="T8" fmla="*/ 0 w 5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9"/>
                    <a:gd name="T17" fmla="*/ 5 w 5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9">
                      <a:moveTo>
                        <a:pt x="0" y="0"/>
                      </a:moveTo>
                      <a:lnTo>
                        <a:pt x="0" y="15"/>
                      </a:lnTo>
                      <a:lnTo>
                        <a:pt x="4" y="18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96" name="Freeform 124"/>
              <p:cNvSpPr>
                <a:spLocks/>
              </p:cNvSpPr>
              <p:nvPr/>
            </p:nvSpPr>
            <p:spPr bwMode="auto">
              <a:xfrm>
                <a:off x="1528" y="3236"/>
                <a:ext cx="49" cy="13"/>
              </a:xfrm>
              <a:custGeom>
                <a:avLst/>
                <a:gdLst>
                  <a:gd name="T0" fmla="*/ 2 w 49"/>
                  <a:gd name="T1" fmla="*/ 0 h 13"/>
                  <a:gd name="T2" fmla="*/ 47 w 49"/>
                  <a:gd name="T3" fmla="*/ 7 h 13"/>
                  <a:gd name="T4" fmla="*/ 48 w 49"/>
                  <a:gd name="T5" fmla="*/ 12 h 13"/>
                  <a:gd name="T6" fmla="*/ 0 w 49"/>
                  <a:gd name="T7" fmla="*/ 5 h 13"/>
                  <a:gd name="T8" fmla="*/ 2 w 49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"/>
                  <a:gd name="T16" fmla="*/ 0 h 13"/>
                  <a:gd name="T17" fmla="*/ 49 w 49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" h="13">
                    <a:moveTo>
                      <a:pt x="2" y="0"/>
                    </a:moveTo>
                    <a:lnTo>
                      <a:pt x="47" y="7"/>
                    </a:lnTo>
                    <a:lnTo>
                      <a:pt x="48" y="12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97" name="Group 125"/>
              <p:cNvGrpSpPr>
                <a:grpSpLocks/>
              </p:cNvGrpSpPr>
              <p:nvPr/>
            </p:nvGrpSpPr>
            <p:grpSpPr bwMode="auto">
              <a:xfrm>
                <a:off x="1528" y="3252"/>
                <a:ext cx="57" cy="21"/>
                <a:chOff x="1528" y="3252"/>
                <a:chExt cx="57" cy="21"/>
              </a:xfrm>
              <a:grpFill/>
            </p:grpSpPr>
            <p:sp>
              <p:nvSpPr>
                <p:cNvPr id="129" name="Freeform 126"/>
                <p:cNvSpPr>
                  <a:spLocks/>
                </p:cNvSpPr>
                <p:nvPr/>
              </p:nvSpPr>
              <p:spPr bwMode="auto">
                <a:xfrm>
                  <a:off x="1536" y="3260"/>
                  <a:ext cx="49" cy="13"/>
                </a:xfrm>
                <a:custGeom>
                  <a:avLst/>
                  <a:gdLst>
                    <a:gd name="T0" fmla="*/ 2 w 49"/>
                    <a:gd name="T1" fmla="*/ 0 h 13"/>
                    <a:gd name="T2" fmla="*/ 47 w 49"/>
                    <a:gd name="T3" fmla="*/ 7 h 13"/>
                    <a:gd name="T4" fmla="*/ 48 w 49"/>
                    <a:gd name="T5" fmla="*/ 12 h 13"/>
                    <a:gd name="T6" fmla="*/ 0 w 49"/>
                    <a:gd name="T7" fmla="*/ 5 h 13"/>
                    <a:gd name="T8" fmla="*/ 2 w 49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3"/>
                    <a:gd name="T17" fmla="*/ 49 w 49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3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2"/>
                      </a:lnTo>
                      <a:lnTo>
                        <a:pt x="0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30" name="Freeform 127"/>
                <p:cNvSpPr>
                  <a:spLocks/>
                </p:cNvSpPr>
                <p:nvPr/>
              </p:nvSpPr>
              <p:spPr bwMode="auto">
                <a:xfrm>
                  <a:off x="1528" y="3252"/>
                  <a:ext cx="49" cy="13"/>
                </a:xfrm>
                <a:custGeom>
                  <a:avLst/>
                  <a:gdLst>
                    <a:gd name="T0" fmla="*/ 2 w 49"/>
                    <a:gd name="T1" fmla="*/ 0 h 13"/>
                    <a:gd name="T2" fmla="*/ 47 w 49"/>
                    <a:gd name="T3" fmla="*/ 7 h 13"/>
                    <a:gd name="T4" fmla="*/ 48 w 49"/>
                    <a:gd name="T5" fmla="*/ 12 h 13"/>
                    <a:gd name="T6" fmla="*/ 0 w 49"/>
                    <a:gd name="T7" fmla="*/ 5 h 13"/>
                    <a:gd name="T8" fmla="*/ 2 w 49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3"/>
                    <a:gd name="T17" fmla="*/ 49 w 49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3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2"/>
                      </a:lnTo>
                      <a:lnTo>
                        <a:pt x="0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98" name="Freeform 128"/>
              <p:cNvSpPr>
                <a:spLocks/>
              </p:cNvSpPr>
              <p:nvPr/>
            </p:nvSpPr>
            <p:spPr bwMode="auto">
              <a:xfrm>
                <a:off x="1602" y="3250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99" name="Group 129"/>
              <p:cNvGrpSpPr>
                <a:grpSpLocks/>
              </p:cNvGrpSpPr>
              <p:nvPr/>
            </p:nvGrpSpPr>
            <p:grpSpPr bwMode="auto">
              <a:xfrm>
                <a:off x="1642" y="3282"/>
                <a:ext cx="25" cy="11"/>
                <a:chOff x="1642" y="3282"/>
                <a:chExt cx="25" cy="11"/>
              </a:xfrm>
              <a:grpFill/>
            </p:grpSpPr>
            <p:sp>
              <p:nvSpPr>
                <p:cNvPr id="127" name="Freeform 130"/>
                <p:cNvSpPr>
                  <a:spLocks/>
                </p:cNvSpPr>
                <p:nvPr/>
              </p:nvSpPr>
              <p:spPr bwMode="auto">
                <a:xfrm>
                  <a:off x="1650" y="3290"/>
                  <a:ext cx="17" cy="3"/>
                </a:xfrm>
                <a:custGeom>
                  <a:avLst/>
                  <a:gdLst>
                    <a:gd name="T0" fmla="*/ 0 w 17"/>
                    <a:gd name="T1" fmla="*/ 0 h 3"/>
                    <a:gd name="T2" fmla="*/ 16 w 17"/>
                    <a:gd name="T3" fmla="*/ 1 h 3"/>
                    <a:gd name="T4" fmla="*/ 16 w 17"/>
                    <a:gd name="T5" fmla="*/ 2 h 3"/>
                    <a:gd name="T6" fmla="*/ 0 w 17"/>
                    <a:gd name="T7" fmla="*/ 1 h 3"/>
                    <a:gd name="T8" fmla="*/ 0 w 17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3"/>
                    <a:gd name="T17" fmla="*/ 17 w 17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3">
                      <a:moveTo>
                        <a:pt x="0" y="0"/>
                      </a:move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28" name="Freeform 131"/>
                <p:cNvSpPr>
                  <a:spLocks/>
                </p:cNvSpPr>
                <p:nvPr/>
              </p:nvSpPr>
              <p:spPr bwMode="auto">
                <a:xfrm>
                  <a:off x="1642" y="3282"/>
                  <a:ext cx="17" cy="3"/>
                </a:xfrm>
                <a:custGeom>
                  <a:avLst/>
                  <a:gdLst>
                    <a:gd name="T0" fmla="*/ 0 w 17"/>
                    <a:gd name="T1" fmla="*/ 0 h 3"/>
                    <a:gd name="T2" fmla="*/ 16 w 17"/>
                    <a:gd name="T3" fmla="*/ 1 h 3"/>
                    <a:gd name="T4" fmla="*/ 16 w 17"/>
                    <a:gd name="T5" fmla="*/ 2 h 3"/>
                    <a:gd name="T6" fmla="*/ 0 w 17"/>
                    <a:gd name="T7" fmla="*/ 1 h 3"/>
                    <a:gd name="T8" fmla="*/ 0 w 17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3"/>
                    <a:gd name="T17" fmla="*/ 17 w 17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3">
                      <a:moveTo>
                        <a:pt x="0" y="0"/>
                      </a:move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00" name="Freeform 132"/>
              <p:cNvSpPr>
                <a:spLocks/>
              </p:cNvSpPr>
              <p:nvPr/>
            </p:nvSpPr>
            <p:spPr bwMode="auto">
              <a:xfrm>
                <a:off x="1682" y="3290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01" name="Freeform 133"/>
              <p:cNvSpPr>
                <a:spLocks/>
              </p:cNvSpPr>
              <p:nvPr/>
            </p:nvSpPr>
            <p:spPr bwMode="auto">
              <a:xfrm>
                <a:off x="1682" y="3270"/>
                <a:ext cx="19" cy="9"/>
              </a:xfrm>
              <a:custGeom>
                <a:avLst/>
                <a:gdLst>
                  <a:gd name="T0" fmla="*/ 0 w 19"/>
                  <a:gd name="T1" fmla="*/ 0 h 9"/>
                  <a:gd name="T2" fmla="*/ 17 w 19"/>
                  <a:gd name="T3" fmla="*/ 3 h 9"/>
                  <a:gd name="T4" fmla="*/ 18 w 19"/>
                  <a:gd name="T5" fmla="*/ 8 h 9"/>
                  <a:gd name="T6" fmla="*/ 0 w 19"/>
                  <a:gd name="T7" fmla="*/ 5 h 9"/>
                  <a:gd name="T8" fmla="*/ 0 w 1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9"/>
                  <a:gd name="T17" fmla="*/ 19 w 1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9">
                    <a:moveTo>
                      <a:pt x="0" y="0"/>
                    </a:moveTo>
                    <a:lnTo>
                      <a:pt x="17" y="3"/>
                    </a:lnTo>
                    <a:lnTo>
                      <a:pt x="18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02" name="Group 134"/>
              <p:cNvGrpSpPr>
                <a:grpSpLocks/>
              </p:cNvGrpSpPr>
              <p:nvPr/>
            </p:nvGrpSpPr>
            <p:grpSpPr bwMode="auto">
              <a:xfrm>
                <a:off x="1394" y="3362"/>
                <a:ext cx="391" cy="347"/>
                <a:chOff x="1394" y="3362"/>
                <a:chExt cx="391" cy="347"/>
              </a:xfrm>
              <a:grpFill/>
            </p:grpSpPr>
            <p:sp>
              <p:nvSpPr>
                <p:cNvPr id="124" name="Freeform 135"/>
                <p:cNvSpPr>
                  <a:spLocks/>
                </p:cNvSpPr>
                <p:nvPr/>
              </p:nvSpPr>
              <p:spPr bwMode="auto">
                <a:xfrm>
                  <a:off x="1394" y="3362"/>
                  <a:ext cx="383" cy="339"/>
                </a:xfrm>
                <a:custGeom>
                  <a:avLst/>
                  <a:gdLst>
                    <a:gd name="T0" fmla="*/ 0 w 383"/>
                    <a:gd name="T1" fmla="*/ 0 h 339"/>
                    <a:gd name="T2" fmla="*/ 382 w 383"/>
                    <a:gd name="T3" fmla="*/ 84 h 339"/>
                    <a:gd name="T4" fmla="*/ 382 w 383"/>
                    <a:gd name="T5" fmla="*/ 338 h 339"/>
                    <a:gd name="T6" fmla="*/ 0 w 383"/>
                    <a:gd name="T7" fmla="*/ 233 h 339"/>
                    <a:gd name="T8" fmla="*/ 0 w 383"/>
                    <a:gd name="T9" fmla="*/ 0 h 33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339"/>
                    <a:gd name="T17" fmla="*/ 383 w 383"/>
                    <a:gd name="T18" fmla="*/ 339 h 33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339">
                      <a:moveTo>
                        <a:pt x="0" y="0"/>
                      </a:moveTo>
                      <a:lnTo>
                        <a:pt x="382" y="84"/>
                      </a:lnTo>
                      <a:lnTo>
                        <a:pt x="382" y="338"/>
                      </a:lnTo>
                      <a:lnTo>
                        <a:pt x="0" y="23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25" name="Freeform 136"/>
                <p:cNvSpPr>
                  <a:spLocks/>
                </p:cNvSpPr>
                <p:nvPr/>
              </p:nvSpPr>
              <p:spPr bwMode="auto">
                <a:xfrm>
                  <a:off x="1394" y="3362"/>
                  <a:ext cx="391" cy="239"/>
                </a:xfrm>
                <a:custGeom>
                  <a:avLst/>
                  <a:gdLst>
                    <a:gd name="T0" fmla="*/ 0 w 391"/>
                    <a:gd name="T1" fmla="*/ 238 h 239"/>
                    <a:gd name="T2" fmla="*/ 0 w 391"/>
                    <a:gd name="T3" fmla="*/ 0 h 239"/>
                    <a:gd name="T4" fmla="*/ 390 w 391"/>
                    <a:gd name="T5" fmla="*/ 86 h 23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239"/>
                    <a:gd name="T11" fmla="*/ 391 w 391"/>
                    <a:gd name="T12" fmla="*/ 239 h 2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239">
                      <a:moveTo>
                        <a:pt x="0" y="238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26" name="Freeform 137"/>
                <p:cNvSpPr>
                  <a:spLocks/>
                </p:cNvSpPr>
                <p:nvPr/>
              </p:nvSpPr>
              <p:spPr bwMode="auto">
                <a:xfrm>
                  <a:off x="1394" y="3448"/>
                  <a:ext cx="391" cy="261"/>
                </a:xfrm>
                <a:custGeom>
                  <a:avLst/>
                  <a:gdLst>
                    <a:gd name="T0" fmla="*/ 0 w 391"/>
                    <a:gd name="T1" fmla="*/ 152 h 261"/>
                    <a:gd name="T2" fmla="*/ 390 w 391"/>
                    <a:gd name="T3" fmla="*/ 260 h 261"/>
                    <a:gd name="T4" fmla="*/ 390 w 391"/>
                    <a:gd name="T5" fmla="*/ 0 h 26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261"/>
                    <a:gd name="T11" fmla="*/ 391 w 391"/>
                    <a:gd name="T12" fmla="*/ 261 h 2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261">
                      <a:moveTo>
                        <a:pt x="0" y="152"/>
                      </a:moveTo>
                      <a:lnTo>
                        <a:pt x="390" y="260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03" name="Line 138"/>
              <p:cNvSpPr>
                <a:spLocks noChangeShapeType="1"/>
              </p:cNvSpPr>
              <p:nvPr/>
            </p:nvSpPr>
            <p:spPr bwMode="auto">
              <a:xfrm>
                <a:off x="1430" y="3526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04" name="Line 139"/>
              <p:cNvSpPr>
                <a:spLocks noChangeShapeType="1"/>
              </p:cNvSpPr>
              <p:nvPr/>
            </p:nvSpPr>
            <p:spPr bwMode="auto">
              <a:xfrm>
                <a:off x="1428" y="3544"/>
                <a:ext cx="330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05" name="Line 140"/>
              <p:cNvSpPr>
                <a:spLocks noChangeShapeType="1"/>
              </p:cNvSpPr>
              <p:nvPr/>
            </p:nvSpPr>
            <p:spPr bwMode="auto">
              <a:xfrm>
                <a:off x="1428" y="3564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06" name="Line 141"/>
              <p:cNvSpPr>
                <a:spLocks noChangeShapeType="1"/>
              </p:cNvSpPr>
              <p:nvPr/>
            </p:nvSpPr>
            <p:spPr bwMode="auto">
              <a:xfrm>
                <a:off x="1428" y="3584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07" name="Freeform 142"/>
              <p:cNvSpPr>
                <a:spLocks/>
              </p:cNvSpPr>
              <p:nvPr/>
            </p:nvSpPr>
            <p:spPr bwMode="auto">
              <a:xfrm>
                <a:off x="1576" y="3418"/>
                <a:ext cx="171" cy="69"/>
              </a:xfrm>
              <a:custGeom>
                <a:avLst/>
                <a:gdLst>
                  <a:gd name="T0" fmla="*/ 170 w 171"/>
                  <a:gd name="T1" fmla="*/ 34 h 69"/>
                  <a:gd name="T2" fmla="*/ 170 w 171"/>
                  <a:gd name="T3" fmla="*/ 68 h 69"/>
                  <a:gd name="T4" fmla="*/ 0 w 171"/>
                  <a:gd name="T5" fmla="*/ 34 h 69"/>
                  <a:gd name="T6" fmla="*/ 0 w 171"/>
                  <a:gd name="T7" fmla="*/ 0 h 69"/>
                  <a:gd name="T8" fmla="*/ 170 w 171"/>
                  <a:gd name="T9" fmla="*/ 34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1"/>
                  <a:gd name="T16" fmla="*/ 0 h 69"/>
                  <a:gd name="T17" fmla="*/ 171 w 171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1" h="69">
                    <a:moveTo>
                      <a:pt x="170" y="34"/>
                    </a:moveTo>
                    <a:lnTo>
                      <a:pt x="170" y="68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170" y="3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08" name="Freeform 143"/>
              <p:cNvSpPr>
                <a:spLocks/>
              </p:cNvSpPr>
              <p:nvPr/>
            </p:nvSpPr>
            <p:spPr bwMode="auto">
              <a:xfrm>
                <a:off x="1596" y="3448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09" name="Group 144"/>
              <p:cNvGrpSpPr>
                <a:grpSpLocks/>
              </p:cNvGrpSpPr>
              <p:nvPr/>
            </p:nvGrpSpPr>
            <p:grpSpPr bwMode="auto">
              <a:xfrm>
                <a:off x="1636" y="3436"/>
                <a:ext cx="27" cy="19"/>
                <a:chOff x="1636" y="3436"/>
                <a:chExt cx="27" cy="19"/>
              </a:xfrm>
              <a:grpFill/>
            </p:grpSpPr>
            <p:sp>
              <p:nvSpPr>
                <p:cNvPr id="122" name="Freeform 145"/>
                <p:cNvSpPr>
                  <a:spLocks/>
                </p:cNvSpPr>
                <p:nvPr/>
              </p:nvSpPr>
              <p:spPr bwMode="auto">
                <a:xfrm>
                  <a:off x="1644" y="3444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23" name="Freeform 146"/>
                <p:cNvSpPr>
                  <a:spLocks/>
                </p:cNvSpPr>
                <p:nvPr/>
              </p:nvSpPr>
              <p:spPr bwMode="auto">
                <a:xfrm>
                  <a:off x="1636" y="3436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110" name="Group 147"/>
              <p:cNvGrpSpPr>
                <a:grpSpLocks/>
              </p:cNvGrpSpPr>
              <p:nvPr/>
            </p:nvGrpSpPr>
            <p:grpSpPr bwMode="auto">
              <a:xfrm>
                <a:off x="1728" y="3456"/>
                <a:ext cx="13" cy="29"/>
                <a:chOff x="1728" y="3456"/>
                <a:chExt cx="13" cy="29"/>
              </a:xfrm>
              <a:grpFill/>
            </p:grpSpPr>
            <p:sp>
              <p:nvSpPr>
                <p:cNvPr id="120" name="Freeform 148"/>
                <p:cNvSpPr>
                  <a:spLocks/>
                </p:cNvSpPr>
                <p:nvPr/>
              </p:nvSpPr>
              <p:spPr bwMode="auto">
                <a:xfrm>
                  <a:off x="1736" y="3464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3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21" name="Freeform 149"/>
                <p:cNvSpPr>
                  <a:spLocks/>
                </p:cNvSpPr>
                <p:nvPr/>
              </p:nvSpPr>
              <p:spPr bwMode="auto">
                <a:xfrm>
                  <a:off x="1728" y="3456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3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111" name="Group 150"/>
              <p:cNvGrpSpPr>
                <a:grpSpLocks/>
              </p:cNvGrpSpPr>
              <p:nvPr/>
            </p:nvGrpSpPr>
            <p:grpSpPr bwMode="auto">
              <a:xfrm>
                <a:off x="1596" y="3426"/>
                <a:ext cx="27" cy="19"/>
                <a:chOff x="1596" y="3426"/>
                <a:chExt cx="27" cy="19"/>
              </a:xfrm>
              <a:grpFill/>
            </p:grpSpPr>
            <p:sp>
              <p:nvSpPr>
                <p:cNvPr id="118" name="Freeform 151"/>
                <p:cNvSpPr>
                  <a:spLocks/>
                </p:cNvSpPr>
                <p:nvPr/>
              </p:nvSpPr>
              <p:spPr bwMode="auto">
                <a:xfrm>
                  <a:off x="1604" y="3434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19" name="Freeform 152"/>
                <p:cNvSpPr>
                  <a:spLocks/>
                </p:cNvSpPr>
                <p:nvPr/>
              </p:nvSpPr>
              <p:spPr bwMode="auto">
                <a:xfrm>
                  <a:off x="1596" y="3426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12" name="Freeform 153"/>
              <p:cNvSpPr>
                <a:spLocks/>
              </p:cNvSpPr>
              <p:nvPr/>
            </p:nvSpPr>
            <p:spPr bwMode="auto">
              <a:xfrm>
                <a:off x="1636" y="3456"/>
                <a:ext cx="19" cy="7"/>
              </a:xfrm>
              <a:custGeom>
                <a:avLst/>
                <a:gdLst>
                  <a:gd name="T0" fmla="*/ 1 w 19"/>
                  <a:gd name="T1" fmla="*/ 0 h 7"/>
                  <a:gd name="T2" fmla="*/ 17 w 19"/>
                  <a:gd name="T3" fmla="*/ 3 h 7"/>
                  <a:gd name="T4" fmla="*/ 18 w 19"/>
                  <a:gd name="T5" fmla="*/ 6 h 7"/>
                  <a:gd name="T6" fmla="*/ 0 w 19"/>
                  <a:gd name="T7" fmla="*/ 3 h 7"/>
                  <a:gd name="T8" fmla="*/ 1 w 1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7"/>
                  <a:gd name="T17" fmla="*/ 19 w 19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7">
                    <a:moveTo>
                      <a:pt x="1" y="0"/>
                    </a:moveTo>
                    <a:lnTo>
                      <a:pt x="17" y="3"/>
                    </a:lnTo>
                    <a:lnTo>
                      <a:pt x="18" y="6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3" name="Freeform 154"/>
              <p:cNvSpPr>
                <a:spLocks/>
              </p:cNvSpPr>
              <p:nvPr/>
            </p:nvSpPr>
            <p:spPr bwMode="auto">
              <a:xfrm>
                <a:off x="1676" y="3466"/>
                <a:ext cx="19" cy="7"/>
              </a:xfrm>
              <a:custGeom>
                <a:avLst/>
                <a:gdLst>
                  <a:gd name="T0" fmla="*/ 1 w 19"/>
                  <a:gd name="T1" fmla="*/ 0 h 7"/>
                  <a:gd name="T2" fmla="*/ 18 w 19"/>
                  <a:gd name="T3" fmla="*/ 3 h 7"/>
                  <a:gd name="T4" fmla="*/ 18 w 19"/>
                  <a:gd name="T5" fmla="*/ 6 h 7"/>
                  <a:gd name="T6" fmla="*/ 0 w 19"/>
                  <a:gd name="T7" fmla="*/ 3 h 7"/>
                  <a:gd name="T8" fmla="*/ 1 w 1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7"/>
                  <a:gd name="T17" fmla="*/ 19 w 19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7">
                    <a:moveTo>
                      <a:pt x="1" y="0"/>
                    </a:moveTo>
                    <a:lnTo>
                      <a:pt x="18" y="3"/>
                    </a:lnTo>
                    <a:lnTo>
                      <a:pt x="18" y="6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14" name="Group 155"/>
              <p:cNvGrpSpPr>
                <a:grpSpLocks/>
              </p:cNvGrpSpPr>
              <p:nvPr/>
            </p:nvGrpSpPr>
            <p:grpSpPr bwMode="auto">
              <a:xfrm>
                <a:off x="1676" y="3446"/>
                <a:ext cx="27" cy="17"/>
                <a:chOff x="1676" y="3446"/>
                <a:chExt cx="27" cy="17"/>
              </a:xfrm>
              <a:grpFill/>
            </p:grpSpPr>
            <p:sp>
              <p:nvSpPr>
                <p:cNvPr id="116" name="Freeform 156"/>
                <p:cNvSpPr>
                  <a:spLocks/>
                </p:cNvSpPr>
                <p:nvPr/>
              </p:nvSpPr>
              <p:spPr bwMode="auto">
                <a:xfrm>
                  <a:off x="1684" y="3454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17" name="Freeform 157"/>
                <p:cNvSpPr>
                  <a:spLocks/>
                </p:cNvSpPr>
                <p:nvPr/>
              </p:nvSpPr>
              <p:spPr bwMode="auto">
                <a:xfrm>
                  <a:off x="1676" y="344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15" name="Freeform 158"/>
              <p:cNvSpPr>
                <a:spLocks/>
              </p:cNvSpPr>
              <p:nvPr/>
            </p:nvSpPr>
            <p:spPr bwMode="auto">
              <a:xfrm>
                <a:off x="1318" y="2682"/>
                <a:ext cx="975" cy="259"/>
              </a:xfrm>
              <a:custGeom>
                <a:avLst/>
                <a:gdLst>
                  <a:gd name="T0" fmla="*/ 0 w 975"/>
                  <a:gd name="T1" fmla="*/ 130 h 259"/>
                  <a:gd name="T2" fmla="*/ 670 w 975"/>
                  <a:gd name="T3" fmla="*/ 258 h 259"/>
                  <a:gd name="T4" fmla="*/ 974 w 975"/>
                  <a:gd name="T5" fmla="*/ 108 h 259"/>
                  <a:gd name="T6" fmla="*/ 346 w 975"/>
                  <a:gd name="T7" fmla="*/ 0 h 259"/>
                  <a:gd name="T8" fmla="*/ 0 w 975"/>
                  <a:gd name="T9" fmla="*/ 130 h 2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5"/>
                  <a:gd name="T16" fmla="*/ 0 h 259"/>
                  <a:gd name="T17" fmla="*/ 975 w 975"/>
                  <a:gd name="T18" fmla="*/ 259 h 2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5" h="259">
                    <a:moveTo>
                      <a:pt x="0" y="130"/>
                    </a:moveTo>
                    <a:lnTo>
                      <a:pt x="670" y="258"/>
                    </a:lnTo>
                    <a:lnTo>
                      <a:pt x="974" y="108"/>
                    </a:lnTo>
                    <a:lnTo>
                      <a:pt x="346" y="0"/>
                    </a:lnTo>
                    <a:lnTo>
                      <a:pt x="0" y="130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grpSp>
          <p:nvGrpSpPr>
            <p:cNvPr id="160" name="Group 51"/>
            <p:cNvGrpSpPr>
              <a:grpSpLocks/>
            </p:cNvGrpSpPr>
            <p:nvPr/>
          </p:nvGrpSpPr>
          <p:grpSpPr bwMode="auto">
            <a:xfrm>
              <a:off x="4728564" y="2638292"/>
              <a:ext cx="519112" cy="671513"/>
              <a:chOff x="1318" y="2682"/>
              <a:chExt cx="975" cy="1259"/>
            </a:xfrm>
            <a:grpFill/>
          </p:grpSpPr>
          <p:grpSp>
            <p:nvGrpSpPr>
              <p:cNvPr id="161" name="Group 52"/>
              <p:cNvGrpSpPr>
                <a:grpSpLocks/>
              </p:cNvGrpSpPr>
              <p:nvPr/>
            </p:nvGrpSpPr>
            <p:grpSpPr bwMode="auto">
              <a:xfrm>
                <a:off x="1362" y="3616"/>
                <a:ext cx="909" cy="325"/>
                <a:chOff x="1362" y="3616"/>
                <a:chExt cx="909" cy="325"/>
              </a:xfrm>
              <a:grpFill/>
            </p:grpSpPr>
            <p:sp>
              <p:nvSpPr>
                <p:cNvPr id="266" name="Freeform 53"/>
                <p:cNvSpPr>
                  <a:spLocks/>
                </p:cNvSpPr>
                <p:nvPr/>
              </p:nvSpPr>
              <p:spPr bwMode="auto">
                <a:xfrm>
                  <a:off x="1362" y="3616"/>
                  <a:ext cx="893" cy="309"/>
                </a:xfrm>
                <a:custGeom>
                  <a:avLst/>
                  <a:gdLst>
                    <a:gd name="T0" fmla="*/ 0 w 893"/>
                    <a:gd name="T1" fmla="*/ 82 h 309"/>
                    <a:gd name="T2" fmla="*/ 0 w 893"/>
                    <a:gd name="T3" fmla="*/ 143 h 309"/>
                    <a:gd name="T4" fmla="*/ 617 w 893"/>
                    <a:gd name="T5" fmla="*/ 308 h 309"/>
                    <a:gd name="T6" fmla="*/ 892 w 893"/>
                    <a:gd name="T7" fmla="*/ 61 h 309"/>
                    <a:gd name="T8" fmla="*/ 892 w 893"/>
                    <a:gd name="T9" fmla="*/ 0 h 309"/>
                    <a:gd name="T10" fmla="*/ 0 w 893"/>
                    <a:gd name="T11" fmla="*/ 82 h 30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93"/>
                    <a:gd name="T19" fmla="*/ 0 h 309"/>
                    <a:gd name="T20" fmla="*/ 893 w 893"/>
                    <a:gd name="T21" fmla="*/ 309 h 30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93" h="309">
                      <a:moveTo>
                        <a:pt x="0" y="82"/>
                      </a:moveTo>
                      <a:lnTo>
                        <a:pt x="0" y="143"/>
                      </a:lnTo>
                      <a:lnTo>
                        <a:pt x="617" y="308"/>
                      </a:lnTo>
                      <a:lnTo>
                        <a:pt x="892" y="61"/>
                      </a:lnTo>
                      <a:lnTo>
                        <a:pt x="892" y="0"/>
                      </a:lnTo>
                      <a:lnTo>
                        <a:pt x="0" y="82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67" name="Freeform 54"/>
                <p:cNvSpPr>
                  <a:spLocks/>
                </p:cNvSpPr>
                <p:nvPr/>
              </p:nvSpPr>
              <p:spPr bwMode="auto">
                <a:xfrm>
                  <a:off x="1362" y="3616"/>
                  <a:ext cx="909" cy="325"/>
                </a:xfrm>
                <a:custGeom>
                  <a:avLst/>
                  <a:gdLst>
                    <a:gd name="T0" fmla="*/ 0 w 909"/>
                    <a:gd name="T1" fmla="*/ 86 h 325"/>
                    <a:gd name="T2" fmla="*/ 0 w 909"/>
                    <a:gd name="T3" fmla="*/ 150 h 325"/>
                    <a:gd name="T4" fmla="*/ 628 w 909"/>
                    <a:gd name="T5" fmla="*/ 324 h 325"/>
                    <a:gd name="T6" fmla="*/ 908 w 909"/>
                    <a:gd name="T7" fmla="*/ 64 h 325"/>
                    <a:gd name="T8" fmla="*/ 908 w 909"/>
                    <a:gd name="T9" fmla="*/ 0 h 3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9"/>
                    <a:gd name="T16" fmla="*/ 0 h 325"/>
                    <a:gd name="T17" fmla="*/ 909 w 909"/>
                    <a:gd name="T18" fmla="*/ 325 h 3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9" h="325">
                      <a:moveTo>
                        <a:pt x="0" y="86"/>
                      </a:moveTo>
                      <a:lnTo>
                        <a:pt x="0" y="150"/>
                      </a:lnTo>
                      <a:lnTo>
                        <a:pt x="628" y="324"/>
                      </a:lnTo>
                      <a:lnTo>
                        <a:pt x="908" y="64"/>
                      </a:lnTo>
                      <a:lnTo>
                        <a:pt x="908" y="0"/>
                      </a:lnTo>
                    </a:path>
                  </a:pathLst>
                </a:custGeom>
                <a:grp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62" name="Freeform 55"/>
              <p:cNvSpPr>
                <a:spLocks/>
              </p:cNvSpPr>
              <p:nvPr/>
            </p:nvSpPr>
            <p:spPr bwMode="auto">
              <a:xfrm>
                <a:off x="1318" y="2810"/>
                <a:ext cx="671" cy="1081"/>
              </a:xfrm>
              <a:custGeom>
                <a:avLst/>
                <a:gdLst>
                  <a:gd name="T0" fmla="*/ 0 w 671"/>
                  <a:gd name="T1" fmla="*/ 0 h 1081"/>
                  <a:gd name="T2" fmla="*/ 670 w 671"/>
                  <a:gd name="T3" fmla="*/ 132 h 1081"/>
                  <a:gd name="T4" fmla="*/ 670 w 671"/>
                  <a:gd name="T5" fmla="*/ 1080 h 1081"/>
                  <a:gd name="T6" fmla="*/ 0 w 671"/>
                  <a:gd name="T7" fmla="*/ 908 h 1081"/>
                  <a:gd name="T8" fmla="*/ 0 w 671"/>
                  <a:gd name="T9" fmla="*/ 0 h 10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081"/>
                  <a:gd name="T17" fmla="*/ 671 w 671"/>
                  <a:gd name="T18" fmla="*/ 1081 h 10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081">
                    <a:moveTo>
                      <a:pt x="0" y="0"/>
                    </a:moveTo>
                    <a:lnTo>
                      <a:pt x="670" y="132"/>
                    </a:lnTo>
                    <a:lnTo>
                      <a:pt x="670" y="1080"/>
                    </a:lnTo>
                    <a:lnTo>
                      <a:pt x="0" y="908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Freeform 56"/>
              <p:cNvSpPr>
                <a:spLocks/>
              </p:cNvSpPr>
              <p:nvPr/>
            </p:nvSpPr>
            <p:spPr bwMode="auto">
              <a:xfrm>
                <a:off x="1988" y="2790"/>
                <a:ext cx="305" cy="1101"/>
              </a:xfrm>
              <a:custGeom>
                <a:avLst/>
                <a:gdLst>
                  <a:gd name="T0" fmla="*/ 0 w 305"/>
                  <a:gd name="T1" fmla="*/ 152 h 1101"/>
                  <a:gd name="T2" fmla="*/ 304 w 305"/>
                  <a:gd name="T3" fmla="*/ 0 h 1101"/>
                  <a:gd name="T4" fmla="*/ 304 w 305"/>
                  <a:gd name="T5" fmla="*/ 842 h 1101"/>
                  <a:gd name="T6" fmla="*/ 0 w 305"/>
                  <a:gd name="T7" fmla="*/ 1100 h 1101"/>
                  <a:gd name="T8" fmla="*/ 0 w 305"/>
                  <a:gd name="T9" fmla="*/ 152 h 1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5"/>
                  <a:gd name="T16" fmla="*/ 0 h 1101"/>
                  <a:gd name="T17" fmla="*/ 305 w 305"/>
                  <a:gd name="T18" fmla="*/ 1101 h 11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5" h="1101">
                    <a:moveTo>
                      <a:pt x="0" y="152"/>
                    </a:moveTo>
                    <a:lnTo>
                      <a:pt x="304" y="0"/>
                    </a:lnTo>
                    <a:lnTo>
                      <a:pt x="304" y="842"/>
                    </a:lnTo>
                    <a:lnTo>
                      <a:pt x="0" y="1100"/>
                    </a:lnTo>
                    <a:lnTo>
                      <a:pt x="0" y="152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4" name="Freeform 57"/>
              <p:cNvSpPr>
                <a:spLocks/>
              </p:cNvSpPr>
              <p:nvPr/>
            </p:nvSpPr>
            <p:spPr bwMode="auto">
              <a:xfrm>
                <a:off x="1858" y="2984"/>
                <a:ext cx="89" cy="195"/>
              </a:xfrm>
              <a:custGeom>
                <a:avLst/>
                <a:gdLst>
                  <a:gd name="T0" fmla="*/ 0 w 89"/>
                  <a:gd name="T1" fmla="*/ 0 h 195"/>
                  <a:gd name="T2" fmla="*/ 88 w 89"/>
                  <a:gd name="T3" fmla="*/ 22 h 195"/>
                  <a:gd name="T4" fmla="*/ 88 w 89"/>
                  <a:gd name="T5" fmla="*/ 194 h 195"/>
                  <a:gd name="T6" fmla="*/ 0 w 89"/>
                  <a:gd name="T7" fmla="*/ 172 h 195"/>
                  <a:gd name="T8" fmla="*/ 0 w 89"/>
                  <a:gd name="T9" fmla="*/ 0 h 1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195"/>
                  <a:gd name="T17" fmla="*/ 89 w 89"/>
                  <a:gd name="T18" fmla="*/ 195 h 1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195">
                    <a:moveTo>
                      <a:pt x="0" y="0"/>
                    </a:moveTo>
                    <a:lnTo>
                      <a:pt x="88" y="22"/>
                    </a:lnTo>
                    <a:lnTo>
                      <a:pt x="88" y="194"/>
                    </a:lnTo>
                    <a:lnTo>
                      <a:pt x="0" y="172"/>
                    </a:lnTo>
                    <a:lnTo>
                      <a:pt x="0" y="0"/>
                    </a:lnTo>
                  </a:path>
                </a:pathLst>
              </a:custGeom>
              <a:grpFill/>
              <a:ln w="12700" cap="rnd">
                <a:solidFill>
                  <a:srgbClr val="004E4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5" name="Freeform 58"/>
              <p:cNvSpPr>
                <a:spLocks/>
              </p:cNvSpPr>
              <p:nvPr/>
            </p:nvSpPr>
            <p:spPr bwMode="auto">
              <a:xfrm>
                <a:off x="1870" y="3050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6" name="Freeform 59"/>
              <p:cNvSpPr>
                <a:spLocks/>
              </p:cNvSpPr>
              <p:nvPr/>
            </p:nvSpPr>
            <p:spPr bwMode="auto">
              <a:xfrm>
                <a:off x="1870" y="300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7" name="Freeform 60"/>
              <p:cNvSpPr>
                <a:spLocks/>
              </p:cNvSpPr>
              <p:nvPr/>
            </p:nvSpPr>
            <p:spPr bwMode="auto">
              <a:xfrm>
                <a:off x="1912" y="3016"/>
                <a:ext cx="23" cy="15"/>
              </a:xfrm>
              <a:custGeom>
                <a:avLst/>
                <a:gdLst>
                  <a:gd name="T0" fmla="*/ 0 w 23"/>
                  <a:gd name="T1" fmla="*/ 0 h 15"/>
                  <a:gd name="T2" fmla="*/ 21 w 23"/>
                  <a:gd name="T3" fmla="*/ 6 h 15"/>
                  <a:gd name="T4" fmla="*/ 22 w 23"/>
                  <a:gd name="T5" fmla="*/ 14 h 15"/>
                  <a:gd name="T6" fmla="*/ 0 w 23"/>
                  <a:gd name="T7" fmla="*/ 8 h 15"/>
                  <a:gd name="T8" fmla="*/ 0 w 23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15"/>
                  <a:gd name="T17" fmla="*/ 23 w 23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15">
                    <a:moveTo>
                      <a:pt x="0" y="0"/>
                    </a:moveTo>
                    <a:lnTo>
                      <a:pt x="21" y="6"/>
                    </a:lnTo>
                    <a:lnTo>
                      <a:pt x="22" y="14"/>
                    </a:lnTo>
                    <a:lnTo>
                      <a:pt x="0" y="8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8" name="Freeform 61"/>
              <p:cNvSpPr>
                <a:spLocks/>
              </p:cNvSpPr>
              <p:nvPr/>
            </p:nvSpPr>
            <p:spPr bwMode="auto">
              <a:xfrm>
                <a:off x="1870" y="313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9" name="Freeform 62"/>
              <p:cNvSpPr>
                <a:spLocks/>
              </p:cNvSpPr>
              <p:nvPr/>
            </p:nvSpPr>
            <p:spPr bwMode="auto">
              <a:xfrm>
                <a:off x="1384" y="2876"/>
                <a:ext cx="403" cy="835"/>
              </a:xfrm>
              <a:custGeom>
                <a:avLst/>
                <a:gdLst>
                  <a:gd name="T0" fmla="*/ 0 w 403"/>
                  <a:gd name="T1" fmla="*/ 0 h 835"/>
                  <a:gd name="T2" fmla="*/ 402 w 403"/>
                  <a:gd name="T3" fmla="*/ 86 h 835"/>
                  <a:gd name="T4" fmla="*/ 402 w 403"/>
                  <a:gd name="T5" fmla="*/ 834 h 835"/>
                  <a:gd name="T6" fmla="*/ 0 w 403"/>
                  <a:gd name="T7" fmla="*/ 728 h 835"/>
                  <a:gd name="T8" fmla="*/ 0 w 403"/>
                  <a:gd name="T9" fmla="*/ 0 h 8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3"/>
                  <a:gd name="T16" fmla="*/ 0 h 835"/>
                  <a:gd name="T17" fmla="*/ 403 w 403"/>
                  <a:gd name="T18" fmla="*/ 835 h 8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3" h="835">
                    <a:moveTo>
                      <a:pt x="0" y="0"/>
                    </a:moveTo>
                    <a:lnTo>
                      <a:pt x="402" y="86"/>
                    </a:lnTo>
                    <a:lnTo>
                      <a:pt x="402" y="834"/>
                    </a:lnTo>
                    <a:lnTo>
                      <a:pt x="0" y="728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70" name="Group 63"/>
              <p:cNvGrpSpPr>
                <a:grpSpLocks/>
              </p:cNvGrpSpPr>
              <p:nvPr/>
            </p:nvGrpSpPr>
            <p:grpSpPr bwMode="auto">
              <a:xfrm>
                <a:off x="1394" y="3016"/>
                <a:ext cx="391" cy="239"/>
                <a:chOff x="1394" y="3016"/>
                <a:chExt cx="391" cy="239"/>
              </a:xfrm>
              <a:grpFill/>
            </p:grpSpPr>
            <p:sp>
              <p:nvSpPr>
                <p:cNvPr id="263" name="Freeform 64"/>
                <p:cNvSpPr>
                  <a:spLocks/>
                </p:cNvSpPr>
                <p:nvPr/>
              </p:nvSpPr>
              <p:spPr bwMode="auto">
                <a:xfrm>
                  <a:off x="1394" y="3016"/>
                  <a:ext cx="383" cy="231"/>
                </a:xfrm>
                <a:custGeom>
                  <a:avLst/>
                  <a:gdLst>
                    <a:gd name="T0" fmla="*/ 0 w 383"/>
                    <a:gd name="T1" fmla="*/ 0 h 231"/>
                    <a:gd name="T2" fmla="*/ 382 w 383"/>
                    <a:gd name="T3" fmla="*/ 84 h 231"/>
                    <a:gd name="T4" fmla="*/ 382 w 383"/>
                    <a:gd name="T5" fmla="*/ 230 h 231"/>
                    <a:gd name="T6" fmla="*/ 0 w 383"/>
                    <a:gd name="T7" fmla="*/ 146 h 231"/>
                    <a:gd name="T8" fmla="*/ 0 w 383"/>
                    <a:gd name="T9" fmla="*/ 0 h 2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231"/>
                    <a:gd name="T17" fmla="*/ 383 w 383"/>
                    <a:gd name="T18" fmla="*/ 231 h 2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231">
                      <a:moveTo>
                        <a:pt x="0" y="0"/>
                      </a:moveTo>
                      <a:lnTo>
                        <a:pt x="382" y="84"/>
                      </a:lnTo>
                      <a:lnTo>
                        <a:pt x="382" y="230"/>
                      </a:lnTo>
                      <a:lnTo>
                        <a:pt x="0" y="14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64" name="Freeform 65"/>
                <p:cNvSpPr>
                  <a:spLocks/>
                </p:cNvSpPr>
                <p:nvPr/>
              </p:nvSpPr>
              <p:spPr bwMode="auto">
                <a:xfrm>
                  <a:off x="1394" y="3016"/>
                  <a:ext cx="391" cy="153"/>
                </a:xfrm>
                <a:custGeom>
                  <a:avLst/>
                  <a:gdLst>
                    <a:gd name="T0" fmla="*/ 0 w 391"/>
                    <a:gd name="T1" fmla="*/ 152 h 153"/>
                    <a:gd name="T2" fmla="*/ 0 w 391"/>
                    <a:gd name="T3" fmla="*/ 0 h 153"/>
                    <a:gd name="T4" fmla="*/ 390 w 391"/>
                    <a:gd name="T5" fmla="*/ 86 h 153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3"/>
                    <a:gd name="T11" fmla="*/ 391 w 391"/>
                    <a:gd name="T12" fmla="*/ 153 h 1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3">
                      <a:moveTo>
                        <a:pt x="0" y="152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65" name="Freeform 66"/>
                <p:cNvSpPr>
                  <a:spLocks/>
                </p:cNvSpPr>
                <p:nvPr/>
              </p:nvSpPr>
              <p:spPr bwMode="auto">
                <a:xfrm>
                  <a:off x="1394" y="3102"/>
                  <a:ext cx="391" cy="153"/>
                </a:xfrm>
                <a:custGeom>
                  <a:avLst/>
                  <a:gdLst>
                    <a:gd name="T0" fmla="*/ 0 w 391"/>
                    <a:gd name="T1" fmla="*/ 66 h 153"/>
                    <a:gd name="T2" fmla="*/ 390 w 391"/>
                    <a:gd name="T3" fmla="*/ 152 h 153"/>
                    <a:gd name="T4" fmla="*/ 390 w 391"/>
                    <a:gd name="T5" fmla="*/ 0 h 153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3"/>
                    <a:gd name="T11" fmla="*/ 391 w 391"/>
                    <a:gd name="T12" fmla="*/ 153 h 1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3">
                      <a:moveTo>
                        <a:pt x="0" y="66"/>
                      </a:moveTo>
                      <a:lnTo>
                        <a:pt x="390" y="152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71" name="Line 67"/>
              <p:cNvSpPr>
                <a:spLocks noChangeShapeType="1"/>
              </p:cNvSpPr>
              <p:nvPr/>
            </p:nvSpPr>
            <p:spPr bwMode="auto">
              <a:xfrm>
                <a:off x="1428" y="309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72" name="Line 68"/>
              <p:cNvSpPr>
                <a:spLocks noChangeShapeType="1"/>
              </p:cNvSpPr>
              <p:nvPr/>
            </p:nvSpPr>
            <p:spPr bwMode="auto">
              <a:xfrm>
                <a:off x="1428" y="311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73" name="Line 69"/>
              <p:cNvSpPr>
                <a:spLocks noChangeShapeType="1"/>
              </p:cNvSpPr>
              <p:nvPr/>
            </p:nvSpPr>
            <p:spPr bwMode="auto">
              <a:xfrm>
                <a:off x="1428" y="3130"/>
                <a:ext cx="330" cy="70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74" name="Line 70"/>
              <p:cNvSpPr>
                <a:spLocks noChangeShapeType="1"/>
              </p:cNvSpPr>
              <p:nvPr/>
            </p:nvSpPr>
            <p:spPr bwMode="auto">
              <a:xfrm>
                <a:off x="1428" y="3150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75" name="Freeform 71"/>
              <p:cNvSpPr>
                <a:spLocks/>
              </p:cNvSpPr>
              <p:nvPr/>
            </p:nvSpPr>
            <p:spPr bwMode="auto">
              <a:xfrm>
                <a:off x="1524" y="3056"/>
                <a:ext cx="223" cy="83"/>
              </a:xfrm>
              <a:custGeom>
                <a:avLst/>
                <a:gdLst>
                  <a:gd name="T0" fmla="*/ 0 w 223"/>
                  <a:gd name="T1" fmla="*/ 0 h 83"/>
                  <a:gd name="T2" fmla="*/ 222 w 223"/>
                  <a:gd name="T3" fmla="*/ 47 h 83"/>
                  <a:gd name="T4" fmla="*/ 222 w 223"/>
                  <a:gd name="T5" fmla="*/ 82 h 83"/>
                  <a:gd name="T6" fmla="*/ 0 w 223"/>
                  <a:gd name="T7" fmla="*/ 35 h 83"/>
                  <a:gd name="T8" fmla="*/ 0 w 223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83"/>
                  <a:gd name="T17" fmla="*/ 223 w 223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83">
                    <a:moveTo>
                      <a:pt x="0" y="0"/>
                    </a:moveTo>
                    <a:lnTo>
                      <a:pt x="222" y="47"/>
                    </a:lnTo>
                    <a:lnTo>
                      <a:pt x="222" y="82"/>
                    </a:lnTo>
                    <a:lnTo>
                      <a:pt x="0" y="3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76" name="Group 72"/>
              <p:cNvGrpSpPr>
                <a:grpSpLocks/>
              </p:cNvGrpSpPr>
              <p:nvPr/>
            </p:nvGrpSpPr>
            <p:grpSpPr bwMode="auto">
              <a:xfrm>
                <a:off x="1602" y="3100"/>
                <a:ext cx="27" cy="11"/>
                <a:chOff x="1602" y="3100"/>
                <a:chExt cx="27" cy="11"/>
              </a:xfrm>
              <a:grpFill/>
            </p:grpSpPr>
            <p:sp>
              <p:nvSpPr>
                <p:cNvPr id="261" name="Freeform 73"/>
                <p:cNvSpPr>
                  <a:spLocks/>
                </p:cNvSpPr>
                <p:nvPr/>
              </p:nvSpPr>
              <p:spPr bwMode="auto">
                <a:xfrm>
                  <a:off x="1610" y="3108"/>
                  <a:ext cx="19" cy="3"/>
                </a:xfrm>
                <a:custGeom>
                  <a:avLst/>
                  <a:gdLst>
                    <a:gd name="T0" fmla="*/ 1 w 19"/>
                    <a:gd name="T1" fmla="*/ 0 h 3"/>
                    <a:gd name="T2" fmla="*/ 17 w 19"/>
                    <a:gd name="T3" fmla="*/ 1 h 3"/>
                    <a:gd name="T4" fmla="*/ 18 w 19"/>
                    <a:gd name="T5" fmla="*/ 2 h 3"/>
                    <a:gd name="T6" fmla="*/ 0 w 19"/>
                    <a:gd name="T7" fmla="*/ 1 h 3"/>
                    <a:gd name="T8" fmla="*/ 1 w 19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3"/>
                    <a:gd name="T17" fmla="*/ 19 w 19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3">
                      <a:moveTo>
                        <a:pt x="1" y="0"/>
                      </a:moveTo>
                      <a:lnTo>
                        <a:pt x="17" y="1"/>
                      </a:lnTo>
                      <a:lnTo>
                        <a:pt x="18" y="2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62" name="Freeform 74"/>
                <p:cNvSpPr>
                  <a:spLocks/>
                </p:cNvSpPr>
                <p:nvPr/>
              </p:nvSpPr>
              <p:spPr bwMode="auto">
                <a:xfrm>
                  <a:off x="1602" y="3100"/>
                  <a:ext cx="19" cy="3"/>
                </a:xfrm>
                <a:custGeom>
                  <a:avLst/>
                  <a:gdLst>
                    <a:gd name="T0" fmla="*/ 1 w 19"/>
                    <a:gd name="T1" fmla="*/ 0 h 3"/>
                    <a:gd name="T2" fmla="*/ 17 w 19"/>
                    <a:gd name="T3" fmla="*/ 1 h 3"/>
                    <a:gd name="T4" fmla="*/ 18 w 19"/>
                    <a:gd name="T5" fmla="*/ 2 h 3"/>
                    <a:gd name="T6" fmla="*/ 0 w 19"/>
                    <a:gd name="T7" fmla="*/ 1 h 3"/>
                    <a:gd name="T8" fmla="*/ 1 w 19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3"/>
                    <a:gd name="T17" fmla="*/ 19 w 19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3">
                      <a:moveTo>
                        <a:pt x="1" y="0"/>
                      </a:moveTo>
                      <a:lnTo>
                        <a:pt x="17" y="1"/>
                      </a:lnTo>
                      <a:lnTo>
                        <a:pt x="18" y="2"/>
                      </a:lnTo>
                      <a:lnTo>
                        <a:pt x="0" y="1"/>
                      </a:lnTo>
                      <a:lnTo>
                        <a:pt x="1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177" name="Group 75"/>
              <p:cNvGrpSpPr>
                <a:grpSpLocks/>
              </p:cNvGrpSpPr>
              <p:nvPr/>
            </p:nvGrpSpPr>
            <p:grpSpPr bwMode="auto">
              <a:xfrm>
                <a:off x="1642" y="3088"/>
                <a:ext cx="27" cy="17"/>
                <a:chOff x="1642" y="3088"/>
                <a:chExt cx="27" cy="17"/>
              </a:xfrm>
              <a:grpFill/>
            </p:grpSpPr>
            <p:sp>
              <p:nvSpPr>
                <p:cNvPr id="259" name="Freeform 76"/>
                <p:cNvSpPr>
                  <a:spLocks/>
                </p:cNvSpPr>
                <p:nvPr/>
              </p:nvSpPr>
              <p:spPr bwMode="auto">
                <a:xfrm>
                  <a:off x="1650" y="309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60" name="Freeform 77"/>
                <p:cNvSpPr>
                  <a:spLocks/>
                </p:cNvSpPr>
                <p:nvPr/>
              </p:nvSpPr>
              <p:spPr bwMode="auto">
                <a:xfrm>
                  <a:off x="1642" y="3088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178" name="Group 78"/>
              <p:cNvGrpSpPr>
                <a:grpSpLocks/>
              </p:cNvGrpSpPr>
              <p:nvPr/>
            </p:nvGrpSpPr>
            <p:grpSpPr bwMode="auto">
              <a:xfrm>
                <a:off x="1732" y="3108"/>
                <a:ext cx="13" cy="29"/>
                <a:chOff x="1732" y="3108"/>
                <a:chExt cx="13" cy="29"/>
              </a:xfrm>
              <a:grpFill/>
            </p:grpSpPr>
            <p:sp>
              <p:nvSpPr>
                <p:cNvPr id="257" name="Freeform 79"/>
                <p:cNvSpPr>
                  <a:spLocks/>
                </p:cNvSpPr>
                <p:nvPr/>
              </p:nvSpPr>
              <p:spPr bwMode="auto">
                <a:xfrm>
                  <a:off x="1740" y="3116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2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8" name="Freeform 80"/>
                <p:cNvSpPr>
                  <a:spLocks/>
                </p:cNvSpPr>
                <p:nvPr/>
              </p:nvSpPr>
              <p:spPr bwMode="auto">
                <a:xfrm>
                  <a:off x="1732" y="3108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2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79" name="Freeform 81"/>
              <p:cNvSpPr>
                <a:spLocks/>
              </p:cNvSpPr>
              <p:nvPr/>
            </p:nvSpPr>
            <p:spPr bwMode="auto">
              <a:xfrm>
                <a:off x="1528" y="3062"/>
                <a:ext cx="49" cy="13"/>
              </a:xfrm>
              <a:custGeom>
                <a:avLst/>
                <a:gdLst>
                  <a:gd name="T0" fmla="*/ 2 w 49"/>
                  <a:gd name="T1" fmla="*/ 0 h 13"/>
                  <a:gd name="T2" fmla="*/ 47 w 49"/>
                  <a:gd name="T3" fmla="*/ 7 h 13"/>
                  <a:gd name="T4" fmla="*/ 48 w 49"/>
                  <a:gd name="T5" fmla="*/ 12 h 13"/>
                  <a:gd name="T6" fmla="*/ 0 w 49"/>
                  <a:gd name="T7" fmla="*/ 5 h 13"/>
                  <a:gd name="T8" fmla="*/ 2 w 49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"/>
                  <a:gd name="T16" fmla="*/ 0 h 13"/>
                  <a:gd name="T17" fmla="*/ 49 w 49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" h="13">
                    <a:moveTo>
                      <a:pt x="2" y="0"/>
                    </a:moveTo>
                    <a:lnTo>
                      <a:pt x="47" y="7"/>
                    </a:lnTo>
                    <a:lnTo>
                      <a:pt x="48" y="12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80" name="Group 82"/>
              <p:cNvGrpSpPr>
                <a:grpSpLocks/>
              </p:cNvGrpSpPr>
              <p:nvPr/>
            </p:nvGrpSpPr>
            <p:grpSpPr bwMode="auto">
              <a:xfrm>
                <a:off x="1528" y="3080"/>
                <a:ext cx="57" cy="23"/>
                <a:chOff x="1528" y="3080"/>
                <a:chExt cx="57" cy="23"/>
              </a:xfrm>
              <a:grpFill/>
            </p:grpSpPr>
            <p:sp>
              <p:nvSpPr>
                <p:cNvPr id="255" name="Freeform 83"/>
                <p:cNvSpPr>
                  <a:spLocks/>
                </p:cNvSpPr>
                <p:nvPr/>
              </p:nvSpPr>
              <p:spPr bwMode="auto">
                <a:xfrm>
                  <a:off x="1536" y="3088"/>
                  <a:ext cx="49" cy="15"/>
                </a:xfrm>
                <a:custGeom>
                  <a:avLst/>
                  <a:gdLst>
                    <a:gd name="T0" fmla="*/ 2 w 49"/>
                    <a:gd name="T1" fmla="*/ 0 h 15"/>
                    <a:gd name="T2" fmla="*/ 47 w 49"/>
                    <a:gd name="T3" fmla="*/ 7 h 15"/>
                    <a:gd name="T4" fmla="*/ 48 w 49"/>
                    <a:gd name="T5" fmla="*/ 14 h 15"/>
                    <a:gd name="T6" fmla="*/ 0 w 49"/>
                    <a:gd name="T7" fmla="*/ 6 h 15"/>
                    <a:gd name="T8" fmla="*/ 2 w 49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5"/>
                    <a:gd name="T17" fmla="*/ 49 w 49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5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4"/>
                      </a:lnTo>
                      <a:lnTo>
                        <a:pt x="0" y="6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6" name="Freeform 84"/>
                <p:cNvSpPr>
                  <a:spLocks/>
                </p:cNvSpPr>
                <p:nvPr/>
              </p:nvSpPr>
              <p:spPr bwMode="auto">
                <a:xfrm>
                  <a:off x="1528" y="3080"/>
                  <a:ext cx="49" cy="15"/>
                </a:xfrm>
                <a:custGeom>
                  <a:avLst/>
                  <a:gdLst>
                    <a:gd name="T0" fmla="*/ 2 w 49"/>
                    <a:gd name="T1" fmla="*/ 0 h 15"/>
                    <a:gd name="T2" fmla="*/ 47 w 49"/>
                    <a:gd name="T3" fmla="*/ 7 h 15"/>
                    <a:gd name="T4" fmla="*/ 48 w 49"/>
                    <a:gd name="T5" fmla="*/ 14 h 15"/>
                    <a:gd name="T6" fmla="*/ 0 w 49"/>
                    <a:gd name="T7" fmla="*/ 6 h 15"/>
                    <a:gd name="T8" fmla="*/ 2 w 49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5"/>
                    <a:gd name="T17" fmla="*/ 49 w 49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5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4"/>
                      </a:lnTo>
                      <a:lnTo>
                        <a:pt x="0" y="6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81" name="Freeform 85"/>
              <p:cNvSpPr>
                <a:spLocks/>
              </p:cNvSpPr>
              <p:nvPr/>
            </p:nvSpPr>
            <p:spPr bwMode="auto">
              <a:xfrm>
                <a:off x="1602" y="3078"/>
                <a:ext cx="19" cy="9"/>
              </a:xfrm>
              <a:custGeom>
                <a:avLst/>
                <a:gdLst>
                  <a:gd name="T0" fmla="*/ 0 w 19"/>
                  <a:gd name="T1" fmla="*/ 0 h 9"/>
                  <a:gd name="T2" fmla="*/ 17 w 19"/>
                  <a:gd name="T3" fmla="*/ 3 h 9"/>
                  <a:gd name="T4" fmla="*/ 18 w 19"/>
                  <a:gd name="T5" fmla="*/ 8 h 9"/>
                  <a:gd name="T6" fmla="*/ 0 w 19"/>
                  <a:gd name="T7" fmla="*/ 5 h 9"/>
                  <a:gd name="T8" fmla="*/ 0 w 1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9"/>
                  <a:gd name="T17" fmla="*/ 19 w 1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9">
                    <a:moveTo>
                      <a:pt x="0" y="0"/>
                    </a:moveTo>
                    <a:lnTo>
                      <a:pt x="17" y="3"/>
                    </a:lnTo>
                    <a:lnTo>
                      <a:pt x="18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82" name="Group 86"/>
              <p:cNvGrpSpPr>
                <a:grpSpLocks/>
              </p:cNvGrpSpPr>
              <p:nvPr/>
            </p:nvGrpSpPr>
            <p:grpSpPr bwMode="auto">
              <a:xfrm>
                <a:off x="1642" y="3108"/>
                <a:ext cx="25" cy="13"/>
                <a:chOff x="1642" y="3108"/>
                <a:chExt cx="25" cy="13"/>
              </a:xfrm>
              <a:grpFill/>
            </p:grpSpPr>
            <p:sp>
              <p:nvSpPr>
                <p:cNvPr id="253" name="Freeform 87"/>
                <p:cNvSpPr>
                  <a:spLocks/>
                </p:cNvSpPr>
                <p:nvPr/>
              </p:nvSpPr>
              <p:spPr bwMode="auto">
                <a:xfrm>
                  <a:off x="1650" y="3116"/>
                  <a:ext cx="17" cy="5"/>
                </a:xfrm>
                <a:custGeom>
                  <a:avLst/>
                  <a:gdLst>
                    <a:gd name="T0" fmla="*/ 0 w 17"/>
                    <a:gd name="T1" fmla="*/ 0 h 5"/>
                    <a:gd name="T2" fmla="*/ 16 w 17"/>
                    <a:gd name="T3" fmla="*/ 2 h 5"/>
                    <a:gd name="T4" fmla="*/ 16 w 17"/>
                    <a:gd name="T5" fmla="*/ 4 h 5"/>
                    <a:gd name="T6" fmla="*/ 0 w 17"/>
                    <a:gd name="T7" fmla="*/ 2 h 5"/>
                    <a:gd name="T8" fmla="*/ 0 w 17"/>
                    <a:gd name="T9" fmla="*/ 0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"/>
                    <a:gd name="T17" fmla="*/ 17 w 17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">
                      <a:moveTo>
                        <a:pt x="0" y="0"/>
                      </a:move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4" name="Freeform 88"/>
                <p:cNvSpPr>
                  <a:spLocks/>
                </p:cNvSpPr>
                <p:nvPr/>
              </p:nvSpPr>
              <p:spPr bwMode="auto">
                <a:xfrm>
                  <a:off x="1642" y="3108"/>
                  <a:ext cx="17" cy="5"/>
                </a:xfrm>
                <a:custGeom>
                  <a:avLst/>
                  <a:gdLst>
                    <a:gd name="T0" fmla="*/ 0 w 17"/>
                    <a:gd name="T1" fmla="*/ 0 h 5"/>
                    <a:gd name="T2" fmla="*/ 16 w 17"/>
                    <a:gd name="T3" fmla="*/ 2 h 5"/>
                    <a:gd name="T4" fmla="*/ 16 w 17"/>
                    <a:gd name="T5" fmla="*/ 4 h 5"/>
                    <a:gd name="T6" fmla="*/ 0 w 17"/>
                    <a:gd name="T7" fmla="*/ 2 h 5"/>
                    <a:gd name="T8" fmla="*/ 0 w 17"/>
                    <a:gd name="T9" fmla="*/ 0 h 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"/>
                    <a:gd name="T17" fmla="*/ 17 w 17"/>
                    <a:gd name="T18" fmla="*/ 5 h 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">
                      <a:moveTo>
                        <a:pt x="0" y="0"/>
                      </a:moveTo>
                      <a:lnTo>
                        <a:pt x="16" y="2"/>
                      </a:lnTo>
                      <a:lnTo>
                        <a:pt x="16" y="4"/>
                      </a:lnTo>
                      <a:lnTo>
                        <a:pt x="0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83" name="Freeform 89"/>
              <p:cNvSpPr>
                <a:spLocks/>
              </p:cNvSpPr>
              <p:nvPr/>
            </p:nvSpPr>
            <p:spPr bwMode="auto">
              <a:xfrm>
                <a:off x="1682" y="3118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4" name="Freeform 90"/>
              <p:cNvSpPr>
                <a:spLocks/>
              </p:cNvSpPr>
              <p:nvPr/>
            </p:nvSpPr>
            <p:spPr bwMode="auto">
              <a:xfrm>
                <a:off x="1682" y="3096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85" name="Group 91"/>
              <p:cNvGrpSpPr>
                <a:grpSpLocks/>
              </p:cNvGrpSpPr>
              <p:nvPr/>
            </p:nvGrpSpPr>
            <p:grpSpPr bwMode="auto">
              <a:xfrm>
                <a:off x="1394" y="2886"/>
                <a:ext cx="391" cy="195"/>
                <a:chOff x="1394" y="2886"/>
                <a:chExt cx="391" cy="195"/>
              </a:xfrm>
              <a:grpFill/>
            </p:grpSpPr>
            <p:sp>
              <p:nvSpPr>
                <p:cNvPr id="250" name="Freeform 92"/>
                <p:cNvSpPr>
                  <a:spLocks/>
                </p:cNvSpPr>
                <p:nvPr/>
              </p:nvSpPr>
              <p:spPr bwMode="auto">
                <a:xfrm>
                  <a:off x="1394" y="2886"/>
                  <a:ext cx="391" cy="195"/>
                </a:xfrm>
                <a:custGeom>
                  <a:avLst/>
                  <a:gdLst>
                    <a:gd name="T0" fmla="*/ 0 w 391"/>
                    <a:gd name="T1" fmla="*/ 0 h 195"/>
                    <a:gd name="T2" fmla="*/ 390 w 391"/>
                    <a:gd name="T3" fmla="*/ 86 h 195"/>
                    <a:gd name="T4" fmla="*/ 390 w 391"/>
                    <a:gd name="T5" fmla="*/ 194 h 195"/>
                    <a:gd name="T6" fmla="*/ 0 w 391"/>
                    <a:gd name="T7" fmla="*/ 108 h 195"/>
                    <a:gd name="T8" fmla="*/ 0 w 391"/>
                    <a:gd name="T9" fmla="*/ 0 h 19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1"/>
                    <a:gd name="T16" fmla="*/ 0 h 195"/>
                    <a:gd name="T17" fmla="*/ 391 w 391"/>
                    <a:gd name="T18" fmla="*/ 195 h 19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1" h="195">
                      <a:moveTo>
                        <a:pt x="0" y="0"/>
                      </a:moveTo>
                      <a:lnTo>
                        <a:pt x="390" y="86"/>
                      </a:lnTo>
                      <a:lnTo>
                        <a:pt x="390" y="194"/>
                      </a:lnTo>
                      <a:lnTo>
                        <a:pt x="0" y="108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1" name="Freeform 93"/>
                <p:cNvSpPr>
                  <a:spLocks/>
                </p:cNvSpPr>
                <p:nvPr/>
              </p:nvSpPr>
              <p:spPr bwMode="auto">
                <a:xfrm>
                  <a:off x="1394" y="2886"/>
                  <a:ext cx="391" cy="109"/>
                </a:xfrm>
                <a:custGeom>
                  <a:avLst/>
                  <a:gdLst>
                    <a:gd name="T0" fmla="*/ 0 w 391"/>
                    <a:gd name="T1" fmla="*/ 108 h 109"/>
                    <a:gd name="T2" fmla="*/ 0 w 391"/>
                    <a:gd name="T3" fmla="*/ 0 h 109"/>
                    <a:gd name="T4" fmla="*/ 390 w 391"/>
                    <a:gd name="T5" fmla="*/ 86 h 10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09"/>
                    <a:gd name="T11" fmla="*/ 391 w 39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09">
                      <a:moveTo>
                        <a:pt x="0" y="108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2" name="Freeform 94"/>
                <p:cNvSpPr>
                  <a:spLocks/>
                </p:cNvSpPr>
                <p:nvPr/>
              </p:nvSpPr>
              <p:spPr bwMode="auto">
                <a:xfrm>
                  <a:off x="1394" y="2972"/>
                  <a:ext cx="391" cy="109"/>
                </a:xfrm>
                <a:custGeom>
                  <a:avLst/>
                  <a:gdLst>
                    <a:gd name="T0" fmla="*/ 0 w 391"/>
                    <a:gd name="T1" fmla="*/ 22 h 109"/>
                    <a:gd name="T2" fmla="*/ 390 w 391"/>
                    <a:gd name="T3" fmla="*/ 108 h 109"/>
                    <a:gd name="T4" fmla="*/ 390 w 391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09"/>
                    <a:gd name="T11" fmla="*/ 391 w 39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09">
                      <a:moveTo>
                        <a:pt x="0" y="22"/>
                      </a:moveTo>
                      <a:lnTo>
                        <a:pt x="390" y="108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86" name="Freeform 95"/>
              <p:cNvSpPr>
                <a:spLocks/>
              </p:cNvSpPr>
              <p:nvPr/>
            </p:nvSpPr>
            <p:spPr bwMode="auto">
              <a:xfrm>
                <a:off x="1632" y="2958"/>
                <a:ext cx="121" cy="59"/>
              </a:xfrm>
              <a:custGeom>
                <a:avLst/>
                <a:gdLst>
                  <a:gd name="T0" fmla="*/ 0 w 121"/>
                  <a:gd name="T1" fmla="*/ 0 h 59"/>
                  <a:gd name="T2" fmla="*/ 120 w 121"/>
                  <a:gd name="T3" fmla="*/ 25 h 59"/>
                  <a:gd name="T4" fmla="*/ 120 w 121"/>
                  <a:gd name="T5" fmla="*/ 58 h 59"/>
                  <a:gd name="T6" fmla="*/ 0 w 121"/>
                  <a:gd name="T7" fmla="*/ 33 h 59"/>
                  <a:gd name="T8" fmla="*/ 0 w 121"/>
                  <a:gd name="T9" fmla="*/ 0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1"/>
                  <a:gd name="T16" fmla="*/ 0 h 59"/>
                  <a:gd name="T17" fmla="*/ 121 w 121"/>
                  <a:gd name="T18" fmla="*/ 59 h 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1" h="59">
                    <a:moveTo>
                      <a:pt x="0" y="0"/>
                    </a:moveTo>
                    <a:lnTo>
                      <a:pt x="120" y="25"/>
                    </a:lnTo>
                    <a:lnTo>
                      <a:pt x="120" y="58"/>
                    </a:lnTo>
                    <a:lnTo>
                      <a:pt x="0" y="3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87" name="Group 96"/>
              <p:cNvGrpSpPr>
                <a:grpSpLocks/>
              </p:cNvGrpSpPr>
              <p:nvPr/>
            </p:nvGrpSpPr>
            <p:grpSpPr bwMode="auto">
              <a:xfrm>
                <a:off x="1638" y="2966"/>
                <a:ext cx="27" cy="17"/>
                <a:chOff x="1638" y="2966"/>
                <a:chExt cx="27" cy="17"/>
              </a:xfrm>
              <a:grpFill/>
            </p:grpSpPr>
            <p:sp>
              <p:nvSpPr>
                <p:cNvPr id="248" name="Freeform 97"/>
                <p:cNvSpPr>
                  <a:spLocks/>
                </p:cNvSpPr>
                <p:nvPr/>
              </p:nvSpPr>
              <p:spPr bwMode="auto">
                <a:xfrm>
                  <a:off x="1646" y="2974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9" name="Freeform 98"/>
                <p:cNvSpPr>
                  <a:spLocks/>
                </p:cNvSpPr>
                <p:nvPr/>
              </p:nvSpPr>
              <p:spPr bwMode="auto">
                <a:xfrm>
                  <a:off x="1638" y="296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88" name="Line 99"/>
              <p:cNvSpPr>
                <a:spLocks noChangeShapeType="1"/>
              </p:cNvSpPr>
              <p:nvPr/>
            </p:nvSpPr>
            <p:spPr bwMode="auto">
              <a:xfrm>
                <a:off x="1418" y="2932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89" name="Line 100"/>
              <p:cNvSpPr>
                <a:spLocks noChangeShapeType="1"/>
              </p:cNvSpPr>
              <p:nvPr/>
            </p:nvSpPr>
            <p:spPr bwMode="auto">
              <a:xfrm>
                <a:off x="1418" y="2954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90" name="Line 101"/>
              <p:cNvSpPr>
                <a:spLocks noChangeShapeType="1"/>
              </p:cNvSpPr>
              <p:nvPr/>
            </p:nvSpPr>
            <p:spPr bwMode="auto">
              <a:xfrm>
                <a:off x="1418" y="2976"/>
                <a:ext cx="196" cy="36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91" name="Freeform 102"/>
              <p:cNvSpPr>
                <a:spLocks/>
              </p:cNvSpPr>
              <p:nvPr/>
            </p:nvSpPr>
            <p:spPr bwMode="auto">
              <a:xfrm>
                <a:off x="1674" y="2986"/>
                <a:ext cx="17" cy="9"/>
              </a:xfrm>
              <a:custGeom>
                <a:avLst/>
                <a:gdLst>
                  <a:gd name="T0" fmla="*/ 0 w 17"/>
                  <a:gd name="T1" fmla="*/ 0 h 9"/>
                  <a:gd name="T2" fmla="*/ 15 w 17"/>
                  <a:gd name="T3" fmla="*/ 3 h 9"/>
                  <a:gd name="T4" fmla="*/ 16 w 17"/>
                  <a:gd name="T5" fmla="*/ 8 h 9"/>
                  <a:gd name="T6" fmla="*/ 0 w 17"/>
                  <a:gd name="T7" fmla="*/ 5 h 9"/>
                  <a:gd name="T8" fmla="*/ 0 w 1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9"/>
                  <a:gd name="T17" fmla="*/ 17 w 17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9">
                    <a:moveTo>
                      <a:pt x="0" y="0"/>
                    </a:moveTo>
                    <a:lnTo>
                      <a:pt x="15" y="3"/>
                    </a:lnTo>
                    <a:lnTo>
                      <a:pt x="16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92" name="Group 103"/>
              <p:cNvGrpSpPr>
                <a:grpSpLocks/>
              </p:cNvGrpSpPr>
              <p:nvPr/>
            </p:nvGrpSpPr>
            <p:grpSpPr bwMode="auto">
              <a:xfrm>
                <a:off x="1734" y="2990"/>
                <a:ext cx="15" cy="27"/>
                <a:chOff x="1734" y="2990"/>
                <a:chExt cx="15" cy="27"/>
              </a:xfrm>
              <a:grpFill/>
            </p:grpSpPr>
            <p:sp>
              <p:nvSpPr>
                <p:cNvPr id="246" name="Freeform 104"/>
                <p:cNvSpPr>
                  <a:spLocks/>
                </p:cNvSpPr>
                <p:nvPr/>
              </p:nvSpPr>
              <p:spPr bwMode="auto">
                <a:xfrm>
                  <a:off x="1742" y="2998"/>
                  <a:ext cx="7" cy="19"/>
                </a:xfrm>
                <a:custGeom>
                  <a:avLst/>
                  <a:gdLst>
                    <a:gd name="T0" fmla="*/ 0 w 7"/>
                    <a:gd name="T1" fmla="*/ 0 h 19"/>
                    <a:gd name="T2" fmla="*/ 0 w 7"/>
                    <a:gd name="T3" fmla="*/ 16 h 19"/>
                    <a:gd name="T4" fmla="*/ 6 w 7"/>
                    <a:gd name="T5" fmla="*/ 18 h 19"/>
                    <a:gd name="T6" fmla="*/ 6 w 7"/>
                    <a:gd name="T7" fmla="*/ 2 h 19"/>
                    <a:gd name="T8" fmla="*/ 0 w 7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9"/>
                    <a:gd name="T17" fmla="*/ 7 w 7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9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6" y="18"/>
                      </a:lnTo>
                      <a:lnTo>
                        <a:pt x="6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7" name="Freeform 105"/>
                <p:cNvSpPr>
                  <a:spLocks/>
                </p:cNvSpPr>
                <p:nvPr/>
              </p:nvSpPr>
              <p:spPr bwMode="auto">
                <a:xfrm>
                  <a:off x="1734" y="2990"/>
                  <a:ext cx="7" cy="19"/>
                </a:xfrm>
                <a:custGeom>
                  <a:avLst/>
                  <a:gdLst>
                    <a:gd name="T0" fmla="*/ 0 w 7"/>
                    <a:gd name="T1" fmla="*/ 0 h 19"/>
                    <a:gd name="T2" fmla="*/ 0 w 7"/>
                    <a:gd name="T3" fmla="*/ 16 h 19"/>
                    <a:gd name="T4" fmla="*/ 6 w 7"/>
                    <a:gd name="T5" fmla="*/ 18 h 19"/>
                    <a:gd name="T6" fmla="*/ 6 w 7"/>
                    <a:gd name="T7" fmla="*/ 2 h 19"/>
                    <a:gd name="T8" fmla="*/ 0 w 7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"/>
                    <a:gd name="T16" fmla="*/ 0 h 19"/>
                    <a:gd name="T17" fmla="*/ 7 w 7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" h="19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6" y="18"/>
                      </a:lnTo>
                      <a:lnTo>
                        <a:pt x="6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93" name="Freeform 106"/>
              <p:cNvSpPr>
                <a:spLocks/>
              </p:cNvSpPr>
              <p:nvPr/>
            </p:nvSpPr>
            <p:spPr bwMode="auto">
              <a:xfrm>
                <a:off x="1642" y="2984"/>
                <a:ext cx="15" cy="5"/>
              </a:xfrm>
              <a:custGeom>
                <a:avLst/>
                <a:gdLst>
                  <a:gd name="T0" fmla="*/ 0 w 15"/>
                  <a:gd name="T1" fmla="*/ 0 h 5"/>
                  <a:gd name="T2" fmla="*/ 13 w 15"/>
                  <a:gd name="T3" fmla="*/ 2 h 5"/>
                  <a:gd name="T4" fmla="*/ 14 w 15"/>
                  <a:gd name="T5" fmla="*/ 4 h 5"/>
                  <a:gd name="T6" fmla="*/ 0 w 15"/>
                  <a:gd name="T7" fmla="*/ 2 h 5"/>
                  <a:gd name="T8" fmla="*/ 0 w 1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5"/>
                  <a:gd name="T17" fmla="*/ 15 w 1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5">
                    <a:moveTo>
                      <a:pt x="0" y="0"/>
                    </a:moveTo>
                    <a:lnTo>
                      <a:pt x="13" y="2"/>
                    </a:lnTo>
                    <a:lnTo>
                      <a:pt x="14" y="4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94" name="Freeform 107"/>
              <p:cNvSpPr>
                <a:spLocks/>
              </p:cNvSpPr>
              <p:nvPr/>
            </p:nvSpPr>
            <p:spPr bwMode="auto">
              <a:xfrm>
                <a:off x="1674" y="2972"/>
                <a:ext cx="17" cy="7"/>
              </a:xfrm>
              <a:custGeom>
                <a:avLst/>
                <a:gdLst>
                  <a:gd name="T0" fmla="*/ 0 w 17"/>
                  <a:gd name="T1" fmla="*/ 0 h 7"/>
                  <a:gd name="T2" fmla="*/ 16 w 17"/>
                  <a:gd name="T3" fmla="*/ 3 h 7"/>
                  <a:gd name="T4" fmla="*/ 16 w 17"/>
                  <a:gd name="T5" fmla="*/ 6 h 7"/>
                  <a:gd name="T6" fmla="*/ 0 w 17"/>
                  <a:gd name="T7" fmla="*/ 3 h 7"/>
                  <a:gd name="T8" fmla="*/ 0 w 1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7"/>
                  <a:gd name="T17" fmla="*/ 17 w 1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7">
                    <a:moveTo>
                      <a:pt x="0" y="0"/>
                    </a:moveTo>
                    <a:lnTo>
                      <a:pt x="16" y="3"/>
                    </a:lnTo>
                    <a:lnTo>
                      <a:pt x="16" y="6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195" name="Group 108"/>
              <p:cNvGrpSpPr>
                <a:grpSpLocks/>
              </p:cNvGrpSpPr>
              <p:nvPr/>
            </p:nvGrpSpPr>
            <p:grpSpPr bwMode="auto">
              <a:xfrm>
                <a:off x="1394" y="3190"/>
                <a:ext cx="391" cy="237"/>
                <a:chOff x="1394" y="3190"/>
                <a:chExt cx="391" cy="237"/>
              </a:xfrm>
              <a:grpFill/>
            </p:grpSpPr>
            <p:sp>
              <p:nvSpPr>
                <p:cNvPr id="243" name="Freeform 109"/>
                <p:cNvSpPr>
                  <a:spLocks/>
                </p:cNvSpPr>
                <p:nvPr/>
              </p:nvSpPr>
              <p:spPr bwMode="auto">
                <a:xfrm>
                  <a:off x="1394" y="3190"/>
                  <a:ext cx="383" cy="229"/>
                </a:xfrm>
                <a:custGeom>
                  <a:avLst/>
                  <a:gdLst>
                    <a:gd name="T0" fmla="*/ 0 w 383"/>
                    <a:gd name="T1" fmla="*/ 0 h 229"/>
                    <a:gd name="T2" fmla="*/ 382 w 383"/>
                    <a:gd name="T3" fmla="*/ 82 h 229"/>
                    <a:gd name="T4" fmla="*/ 382 w 383"/>
                    <a:gd name="T5" fmla="*/ 228 h 229"/>
                    <a:gd name="T6" fmla="*/ 0 w 383"/>
                    <a:gd name="T7" fmla="*/ 146 h 229"/>
                    <a:gd name="T8" fmla="*/ 0 w 383"/>
                    <a:gd name="T9" fmla="*/ 0 h 2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229"/>
                    <a:gd name="T17" fmla="*/ 383 w 383"/>
                    <a:gd name="T18" fmla="*/ 229 h 2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229">
                      <a:moveTo>
                        <a:pt x="0" y="0"/>
                      </a:moveTo>
                      <a:lnTo>
                        <a:pt x="382" y="82"/>
                      </a:lnTo>
                      <a:lnTo>
                        <a:pt x="382" y="228"/>
                      </a:lnTo>
                      <a:lnTo>
                        <a:pt x="0" y="14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4" name="Freeform 110"/>
                <p:cNvSpPr>
                  <a:spLocks/>
                </p:cNvSpPr>
                <p:nvPr/>
              </p:nvSpPr>
              <p:spPr bwMode="auto">
                <a:xfrm>
                  <a:off x="1394" y="3190"/>
                  <a:ext cx="391" cy="151"/>
                </a:xfrm>
                <a:custGeom>
                  <a:avLst/>
                  <a:gdLst>
                    <a:gd name="T0" fmla="*/ 0 w 391"/>
                    <a:gd name="T1" fmla="*/ 150 h 151"/>
                    <a:gd name="T2" fmla="*/ 0 w 391"/>
                    <a:gd name="T3" fmla="*/ 0 h 151"/>
                    <a:gd name="T4" fmla="*/ 390 w 391"/>
                    <a:gd name="T5" fmla="*/ 86 h 15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1"/>
                    <a:gd name="T11" fmla="*/ 391 w 391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1">
                      <a:moveTo>
                        <a:pt x="0" y="150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5" name="Freeform 111"/>
                <p:cNvSpPr>
                  <a:spLocks/>
                </p:cNvSpPr>
                <p:nvPr/>
              </p:nvSpPr>
              <p:spPr bwMode="auto">
                <a:xfrm>
                  <a:off x="1394" y="3276"/>
                  <a:ext cx="391" cy="151"/>
                </a:xfrm>
                <a:custGeom>
                  <a:avLst/>
                  <a:gdLst>
                    <a:gd name="T0" fmla="*/ 0 w 391"/>
                    <a:gd name="T1" fmla="*/ 64 h 151"/>
                    <a:gd name="T2" fmla="*/ 390 w 391"/>
                    <a:gd name="T3" fmla="*/ 150 h 151"/>
                    <a:gd name="T4" fmla="*/ 390 w 391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151"/>
                    <a:gd name="T11" fmla="*/ 391 w 391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151">
                      <a:moveTo>
                        <a:pt x="0" y="64"/>
                      </a:moveTo>
                      <a:lnTo>
                        <a:pt x="390" y="150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196" name="Line 112"/>
              <p:cNvSpPr>
                <a:spLocks noChangeShapeType="1"/>
              </p:cNvSpPr>
              <p:nvPr/>
            </p:nvSpPr>
            <p:spPr bwMode="auto">
              <a:xfrm>
                <a:off x="1428" y="3264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97" name="Line 113"/>
              <p:cNvSpPr>
                <a:spLocks noChangeShapeType="1"/>
              </p:cNvSpPr>
              <p:nvPr/>
            </p:nvSpPr>
            <p:spPr bwMode="auto">
              <a:xfrm>
                <a:off x="1428" y="3286"/>
                <a:ext cx="330" cy="70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98" name="Line 114"/>
              <p:cNvSpPr>
                <a:spLocks noChangeShapeType="1"/>
              </p:cNvSpPr>
              <p:nvPr/>
            </p:nvSpPr>
            <p:spPr bwMode="auto">
              <a:xfrm>
                <a:off x="1428" y="3302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199" name="Line 115"/>
              <p:cNvSpPr>
                <a:spLocks noChangeShapeType="1"/>
              </p:cNvSpPr>
              <p:nvPr/>
            </p:nvSpPr>
            <p:spPr bwMode="auto">
              <a:xfrm>
                <a:off x="1428" y="3322"/>
                <a:ext cx="330" cy="7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200" name="Freeform 116"/>
              <p:cNvSpPr>
                <a:spLocks/>
              </p:cNvSpPr>
              <p:nvPr/>
            </p:nvSpPr>
            <p:spPr bwMode="auto">
              <a:xfrm>
                <a:off x="1524" y="3228"/>
                <a:ext cx="223" cy="83"/>
              </a:xfrm>
              <a:custGeom>
                <a:avLst/>
                <a:gdLst>
                  <a:gd name="T0" fmla="*/ 0 w 223"/>
                  <a:gd name="T1" fmla="*/ 0 h 83"/>
                  <a:gd name="T2" fmla="*/ 222 w 223"/>
                  <a:gd name="T3" fmla="*/ 47 h 83"/>
                  <a:gd name="T4" fmla="*/ 222 w 223"/>
                  <a:gd name="T5" fmla="*/ 82 h 83"/>
                  <a:gd name="T6" fmla="*/ 0 w 223"/>
                  <a:gd name="T7" fmla="*/ 35 h 83"/>
                  <a:gd name="T8" fmla="*/ 0 w 223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83"/>
                  <a:gd name="T17" fmla="*/ 223 w 223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83">
                    <a:moveTo>
                      <a:pt x="0" y="0"/>
                    </a:moveTo>
                    <a:lnTo>
                      <a:pt x="222" y="47"/>
                    </a:lnTo>
                    <a:lnTo>
                      <a:pt x="222" y="82"/>
                    </a:lnTo>
                    <a:lnTo>
                      <a:pt x="0" y="3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01" name="Freeform 117"/>
              <p:cNvSpPr>
                <a:spLocks/>
              </p:cNvSpPr>
              <p:nvPr/>
            </p:nvSpPr>
            <p:spPr bwMode="auto">
              <a:xfrm>
                <a:off x="1602" y="3272"/>
                <a:ext cx="19" cy="3"/>
              </a:xfrm>
              <a:custGeom>
                <a:avLst/>
                <a:gdLst>
                  <a:gd name="T0" fmla="*/ 1 w 19"/>
                  <a:gd name="T1" fmla="*/ 0 h 3"/>
                  <a:gd name="T2" fmla="*/ 17 w 19"/>
                  <a:gd name="T3" fmla="*/ 1 h 3"/>
                  <a:gd name="T4" fmla="*/ 18 w 19"/>
                  <a:gd name="T5" fmla="*/ 2 h 3"/>
                  <a:gd name="T6" fmla="*/ 0 w 19"/>
                  <a:gd name="T7" fmla="*/ 1 h 3"/>
                  <a:gd name="T8" fmla="*/ 1 w 19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3"/>
                  <a:gd name="T17" fmla="*/ 19 w 19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3">
                    <a:moveTo>
                      <a:pt x="1" y="0"/>
                    </a:moveTo>
                    <a:lnTo>
                      <a:pt x="17" y="1"/>
                    </a:lnTo>
                    <a:lnTo>
                      <a:pt x="18" y="2"/>
                    </a:lnTo>
                    <a:lnTo>
                      <a:pt x="0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02" name="Group 118"/>
              <p:cNvGrpSpPr>
                <a:grpSpLocks/>
              </p:cNvGrpSpPr>
              <p:nvPr/>
            </p:nvGrpSpPr>
            <p:grpSpPr bwMode="auto">
              <a:xfrm>
                <a:off x="1642" y="3260"/>
                <a:ext cx="27" cy="17"/>
                <a:chOff x="1642" y="3260"/>
                <a:chExt cx="27" cy="17"/>
              </a:xfrm>
              <a:grpFill/>
            </p:grpSpPr>
            <p:sp>
              <p:nvSpPr>
                <p:cNvPr id="241" name="Freeform 119"/>
                <p:cNvSpPr>
                  <a:spLocks/>
                </p:cNvSpPr>
                <p:nvPr/>
              </p:nvSpPr>
              <p:spPr bwMode="auto">
                <a:xfrm>
                  <a:off x="1650" y="3268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2" name="Freeform 120"/>
                <p:cNvSpPr>
                  <a:spLocks/>
                </p:cNvSpPr>
                <p:nvPr/>
              </p:nvSpPr>
              <p:spPr bwMode="auto">
                <a:xfrm>
                  <a:off x="1642" y="3260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203" name="Group 121"/>
              <p:cNvGrpSpPr>
                <a:grpSpLocks/>
              </p:cNvGrpSpPr>
              <p:nvPr/>
            </p:nvGrpSpPr>
            <p:grpSpPr bwMode="auto">
              <a:xfrm>
                <a:off x="1732" y="3282"/>
                <a:ext cx="13" cy="27"/>
                <a:chOff x="1732" y="3282"/>
                <a:chExt cx="13" cy="27"/>
              </a:xfrm>
              <a:grpFill/>
            </p:grpSpPr>
            <p:sp>
              <p:nvSpPr>
                <p:cNvPr id="239" name="Freeform 122"/>
                <p:cNvSpPr>
                  <a:spLocks/>
                </p:cNvSpPr>
                <p:nvPr/>
              </p:nvSpPr>
              <p:spPr bwMode="auto">
                <a:xfrm>
                  <a:off x="1740" y="3290"/>
                  <a:ext cx="5" cy="19"/>
                </a:xfrm>
                <a:custGeom>
                  <a:avLst/>
                  <a:gdLst>
                    <a:gd name="T0" fmla="*/ 0 w 5"/>
                    <a:gd name="T1" fmla="*/ 0 h 19"/>
                    <a:gd name="T2" fmla="*/ 0 w 5"/>
                    <a:gd name="T3" fmla="*/ 15 h 19"/>
                    <a:gd name="T4" fmla="*/ 4 w 5"/>
                    <a:gd name="T5" fmla="*/ 18 h 19"/>
                    <a:gd name="T6" fmla="*/ 4 w 5"/>
                    <a:gd name="T7" fmla="*/ 2 h 19"/>
                    <a:gd name="T8" fmla="*/ 0 w 5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9"/>
                    <a:gd name="T17" fmla="*/ 5 w 5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9">
                      <a:moveTo>
                        <a:pt x="0" y="0"/>
                      </a:moveTo>
                      <a:lnTo>
                        <a:pt x="0" y="15"/>
                      </a:lnTo>
                      <a:lnTo>
                        <a:pt x="4" y="18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0" name="Freeform 123"/>
                <p:cNvSpPr>
                  <a:spLocks/>
                </p:cNvSpPr>
                <p:nvPr/>
              </p:nvSpPr>
              <p:spPr bwMode="auto">
                <a:xfrm>
                  <a:off x="1732" y="3282"/>
                  <a:ext cx="5" cy="19"/>
                </a:xfrm>
                <a:custGeom>
                  <a:avLst/>
                  <a:gdLst>
                    <a:gd name="T0" fmla="*/ 0 w 5"/>
                    <a:gd name="T1" fmla="*/ 0 h 19"/>
                    <a:gd name="T2" fmla="*/ 0 w 5"/>
                    <a:gd name="T3" fmla="*/ 15 h 19"/>
                    <a:gd name="T4" fmla="*/ 4 w 5"/>
                    <a:gd name="T5" fmla="*/ 18 h 19"/>
                    <a:gd name="T6" fmla="*/ 4 w 5"/>
                    <a:gd name="T7" fmla="*/ 2 h 19"/>
                    <a:gd name="T8" fmla="*/ 0 w 5"/>
                    <a:gd name="T9" fmla="*/ 0 h 1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19"/>
                    <a:gd name="T17" fmla="*/ 5 w 5"/>
                    <a:gd name="T18" fmla="*/ 19 h 1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19">
                      <a:moveTo>
                        <a:pt x="0" y="0"/>
                      </a:moveTo>
                      <a:lnTo>
                        <a:pt x="0" y="15"/>
                      </a:lnTo>
                      <a:lnTo>
                        <a:pt x="4" y="18"/>
                      </a:lnTo>
                      <a:lnTo>
                        <a:pt x="4" y="2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04" name="Freeform 124"/>
              <p:cNvSpPr>
                <a:spLocks/>
              </p:cNvSpPr>
              <p:nvPr/>
            </p:nvSpPr>
            <p:spPr bwMode="auto">
              <a:xfrm>
                <a:off x="1528" y="3236"/>
                <a:ext cx="49" cy="13"/>
              </a:xfrm>
              <a:custGeom>
                <a:avLst/>
                <a:gdLst>
                  <a:gd name="T0" fmla="*/ 2 w 49"/>
                  <a:gd name="T1" fmla="*/ 0 h 13"/>
                  <a:gd name="T2" fmla="*/ 47 w 49"/>
                  <a:gd name="T3" fmla="*/ 7 h 13"/>
                  <a:gd name="T4" fmla="*/ 48 w 49"/>
                  <a:gd name="T5" fmla="*/ 12 h 13"/>
                  <a:gd name="T6" fmla="*/ 0 w 49"/>
                  <a:gd name="T7" fmla="*/ 5 h 13"/>
                  <a:gd name="T8" fmla="*/ 2 w 49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"/>
                  <a:gd name="T16" fmla="*/ 0 h 13"/>
                  <a:gd name="T17" fmla="*/ 49 w 49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" h="13">
                    <a:moveTo>
                      <a:pt x="2" y="0"/>
                    </a:moveTo>
                    <a:lnTo>
                      <a:pt x="47" y="7"/>
                    </a:lnTo>
                    <a:lnTo>
                      <a:pt x="48" y="12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05" name="Group 125"/>
              <p:cNvGrpSpPr>
                <a:grpSpLocks/>
              </p:cNvGrpSpPr>
              <p:nvPr/>
            </p:nvGrpSpPr>
            <p:grpSpPr bwMode="auto">
              <a:xfrm>
                <a:off x="1528" y="3252"/>
                <a:ext cx="57" cy="21"/>
                <a:chOff x="1528" y="3252"/>
                <a:chExt cx="57" cy="21"/>
              </a:xfrm>
              <a:grpFill/>
            </p:grpSpPr>
            <p:sp>
              <p:nvSpPr>
                <p:cNvPr id="237" name="Freeform 126"/>
                <p:cNvSpPr>
                  <a:spLocks/>
                </p:cNvSpPr>
                <p:nvPr/>
              </p:nvSpPr>
              <p:spPr bwMode="auto">
                <a:xfrm>
                  <a:off x="1536" y="3260"/>
                  <a:ext cx="49" cy="13"/>
                </a:xfrm>
                <a:custGeom>
                  <a:avLst/>
                  <a:gdLst>
                    <a:gd name="T0" fmla="*/ 2 w 49"/>
                    <a:gd name="T1" fmla="*/ 0 h 13"/>
                    <a:gd name="T2" fmla="*/ 47 w 49"/>
                    <a:gd name="T3" fmla="*/ 7 h 13"/>
                    <a:gd name="T4" fmla="*/ 48 w 49"/>
                    <a:gd name="T5" fmla="*/ 12 h 13"/>
                    <a:gd name="T6" fmla="*/ 0 w 49"/>
                    <a:gd name="T7" fmla="*/ 5 h 13"/>
                    <a:gd name="T8" fmla="*/ 2 w 49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3"/>
                    <a:gd name="T17" fmla="*/ 49 w 49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3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2"/>
                      </a:lnTo>
                      <a:lnTo>
                        <a:pt x="0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38" name="Freeform 127"/>
                <p:cNvSpPr>
                  <a:spLocks/>
                </p:cNvSpPr>
                <p:nvPr/>
              </p:nvSpPr>
              <p:spPr bwMode="auto">
                <a:xfrm>
                  <a:off x="1528" y="3252"/>
                  <a:ext cx="49" cy="13"/>
                </a:xfrm>
                <a:custGeom>
                  <a:avLst/>
                  <a:gdLst>
                    <a:gd name="T0" fmla="*/ 2 w 49"/>
                    <a:gd name="T1" fmla="*/ 0 h 13"/>
                    <a:gd name="T2" fmla="*/ 47 w 49"/>
                    <a:gd name="T3" fmla="*/ 7 h 13"/>
                    <a:gd name="T4" fmla="*/ 48 w 49"/>
                    <a:gd name="T5" fmla="*/ 12 h 13"/>
                    <a:gd name="T6" fmla="*/ 0 w 49"/>
                    <a:gd name="T7" fmla="*/ 5 h 13"/>
                    <a:gd name="T8" fmla="*/ 2 w 49"/>
                    <a:gd name="T9" fmla="*/ 0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13"/>
                    <a:gd name="T17" fmla="*/ 49 w 49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13">
                      <a:moveTo>
                        <a:pt x="2" y="0"/>
                      </a:moveTo>
                      <a:lnTo>
                        <a:pt x="47" y="7"/>
                      </a:lnTo>
                      <a:lnTo>
                        <a:pt x="48" y="12"/>
                      </a:lnTo>
                      <a:lnTo>
                        <a:pt x="0" y="5"/>
                      </a:lnTo>
                      <a:lnTo>
                        <a:pt x="2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06" name="Freeform 128"/>
              <p:cNvSpPr>
                <a:spLocks/>
              </p:cNvSpPr>
              <p:nvPr/>
            </p:nvSpPr>
            <p:spPr bwMode="auto">
              <a:xfrm>
                <a:off x="1602" y="3250"/>
                <a:ext cx="19" cy="11"/>
              </a:xfrm>
              <a:custGeom>
                <a:avLst/>
                <a:gdLst>
                  <a:gd name="T0" fmla="*/ 0 w 19"/>
                  <a:gd name="T1" fmla="*/ 0 h 11"/>
                  <a:gd name="T2" fmla="*/ 17 w 19"/>
                  <a:gd name="T3" fmla="*/ 4 h 11"/>
                  <a:gd name="T4" fmla="*/ 18 w 19"/>
                  <a:gd name="T5" fmla="*/ 10 h 11"/>
                  <a:gd name="T6" fmla="*/ 0 w 19"/>
                  <a:gd name="T7" fmla="*/ 6 h 11"/>
                  <a:gd name="T8" fmla="*/ 0 w 19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11"/>
                  <a:gd name="T17" fmla="*/ 19 w 19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11">
                    <a:moveTo>
                      <a:pt x="0" y="0"/>
                    </a:moveTo>
                    <a:lnTo>
                      <a:pt x="17" y="4"/>
                    </a:lnTo>
                    <a:lnTo>
                      <a:pt x="18" y="10"/>
                    </a:lnTo>
                    <a:lnTo>
                      <a:pt x="0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07" name="Group 129"/>
              <p:cNvGrpSpPr>
                <a:grpSpLocks/>
              </p:cNvGrpSpPr>
              <p:nvPr/>
            </p:nvGrpSpPr>
            <p:grpSpPr bwMode="auto">
              <a:xfrm>
                <a:off x="1642" y="3282"/>
                <a:ext cx="25" cy="11"/>
                <a:chOff x="1642" y="3282"/>
                <a:chExt cx="25" cy="11"/>
              </a:xfrm>
              <a:grpFill/>
            </p:grpSpPr>
            <p:sp>
              <p:nvSpPr>
                <p:cNvPr id="235" name="Freeform 130"/>
                <p:cNvSpPr>
                  <a:spLocks/>
                </p:cNvSpPr>
                <p:nvPr/>
              </p:nvSpPr>
              <p:spPr bwMode="auto">
                <a:xfrm>
                  <a:off x="1650" y="3290"/>
                  <a:ext cx="17" cy="3"/>
                </a:xfrm>
                <a:custGeom>
                  <a:avLst/>
                  <a:gdLst>
                    <a:gd name="T0" fmla="*/ 0 w 17"/>
                    <a:gd name="T1" fmla="*/ 0 h 3"/>
                    <a:gd name="T2" fmla="*/ 16 w 17"/>
                    <a:gd name="T3" fmla="*/ 1 h 3"/>
                    <a:gd name="T4" fmla="*/ 16 w 17"/>
                    <a:gd name="T5" fmla="*/ 2 h 3"/>
                    <a:gd name="T6" fmla="*/ 0 w 17"/>
                    <a:gd name="T7" fmla="*/ 1 h 3"/>
                    <a:gd name="T8" fmla="*/ 0 w 17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3"/>
                    <a:gd name="T17" fmla="*/ 17 w 17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3">
                      <a:moveTo>
                        <a:pt x="0" y="0"/>
                      </a:move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36" name="Freeform 131"/>
                <p:cNvSpPr>
                  <a:spLocks/>
                </p:cNvSpPr>
                <p:nvPr/>
              </p:nvSpPr>
              <p:spPr bwMode="auto">
                <a:xfrm>
                  <a:off x="1642" y="3282"/>
                  <a:ext cx="17" cy="3"/>
                </a:xfrm>
                <a:custGeom>
                  <a:avLst/>
                  <a:gdLst>
                    <a:gd name="T0" fmla="*/ 0 w 17"/>
                    <a:gd name="T1" fmla="*/ 0 h 3"/>
                    <a:gd name="T2" fmla="*/ 16 w 17"/>
                    <a:gd name="T3" fmla="*/ 1 h 3"/>
                    <a:gd name="T4" fmla="*/ 16 w 17"/>
                    <a:gd name="T5" fmla="*/ 2 h 3"/>
                    <a:gd name="T6" fmla="*/ 0 w 17"/>
                    <a:gd name="T7" fmla="*/ 1 h 3"/>
                    <a:gd name="T8" fmla="*/ 0 w 17"/>
                    <a:gd name="T9" fmla="*/ 0 h 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3"/>
                    <a:gd name="T17" fmla="*/ 17 w 17"/>
                    <a:gd name="T18" fmla="*/ 3 h 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3">
                      <a:moveTo>
                        <a:pt x="0" y="0"/>
                      </a:move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0" y="1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08" name="Freeform 132"/>
              <p:cNvSpPr>
                <a:spLocks/>
              </p:cNvSpPr>
              <p:nvPr/>
            </p:nvSpPr>
            <p:spPr bwMode="auto">
              <a:xfrm>
                <a:off x="1682" y="3290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09" name="Freeform 133"/>
              <p:cNvSpPr>
                <a:spLocks/>
              </p:cNvSpPr>
              <p:nvPr/>
            </p:nvSpPr>
            <p:spPr bwMode="auto">
              <a:xfrm>
                <a:off x="1682" y="3270"/>
                <a:ext cx="19" cy="9"/>
              </a:xfrm>
              <a:custGeom>
                <a:avLst/>
                <a:gdLst>
                  <a:gd name="T0" fmla="*/ 0 w 19"/>
                  <a:gd name="T1" fmla="*/ 0 h 9"/>
                  <a:gd name="T2" fmla="*/ 17 w 19"/>
                  <a:gd name="T3" fmla="*/ 3 h 9"/>
                  <a:gd name="T4" fmla="*/ 18 w 19"/>
                  <a:gd name="T5" fmla="*/ 8 h 9"/>
                  <a:gd name="T6" fmla="*/ 0 w 19"/>
                  <a:gd name="T7" fmla="*/ 5 h 9"/>
                  <a:gd name="T8" fmla="*/ 0 w 1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9"/>
                  <a:gd name="T17" fmla="*/ 19 w 1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9">
                    <a:moveTo>
                      <a:pt x="0" y="0"/>
                    </a:moveTo>
                    <a:lnTo>
                      <a:pt x="17" y="3"/>
                    </a:lnTo>
                    <a:lnTo>
                      <a:pt x="18" y="8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10" name="Group 134"/>
              <p:cNvGrpSpPr>
                <a:grpSpLocks/>
              </p:cNvGrpSpPr>
              <p:nvPr/>
            </p:nvGrpSpPr>
            <p:grpSpPr bwMode="auto">
              <a:xfrm>
                <a:off x="1394" y="3362"/>
                <a:ext cx="391" cy="347"/>
                <a:chOff x="1394" y="3362"/>
                <a:chExt cx="391" cy="347"/>
              </a:xfrm>
              <a:grpFill/>
            </p:grpSpPr>
            <p:sp>
              <p:nvSpPr>
                <p:cNvPr id="232" name="Freeform 135"/>
                <p:cNvSpPr>
                  <a:spLocks/>
                </p:cNvSpPr>
                <p:nvPr/>
              </p:nvSpPr>
              <p:spPr bwMode="auto">
                <a:xfrm>
                  <a:off x="1394" y="3362"/>
                  <a:ext cx="383" cy="339"/>
                </a:xfrm>
                <a:custGeom>
                  <a:avLst/>
                  <a:gdLst>
                    <a:gd name="T0" fmla="*/ 0 w 383"/>
                    <a:gd name="T1" fmla="*/ 0 h 339"/>
                    <a:gd name="T2" fmla="*/ 382 w 383"/>
                    <a:gd name="T3" fmla="*/ 84 h 339"/>
                    <a:gd name="T4" fmla="*/ 382 w 383"/>
                    <a:gd name="T5" fmla="*/ 338 h 339"/>
                    <a:gd name="T6" fmla="*/ 0 w 383"/>
                    <a:gd name="T7" fmla="*/ 233 h 339"/>
                    <a:gd name="T8" fmla="*/ 0 w 383"/>
                    <a:gd name="T9" fmla="*/ 0 h 33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3"/>
                    <a:gd name="T16" fmla="*/ 0 h 339"/>
                    <a:gd name="T17" fmla="*/ 383 w 383"/>
                    <a:gd name="T18" fmla="*/ 339 h 33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3" h="339">
                      <a:moveTo>
                        <a:pt x="0" y="0"/>
                      </a:moveTo>
                      <a:lnTo>
                        <a:pt x="382" y="84"/>
                      </a:lnTo>
                      <a:lnTo>
                        <a:pt x="382" y="338"/>
                      </a:lnTo>
                      <a:lnTo>
                        <a:pt x="0" y="23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33" name="Freeform 136"/>
                <p:cNvSpPr>
                  <a:spLocks/>
                </p:cNvSpPr>
                <p:nvPr/>
              </p:nvSpPr>
              <p:spPr bwMode="auto">
                <a:xfrm>
                  <a:off x="1394" y="3362"/>
                  <a:ext cx="391" cy="239"/>
                </a:xfrm>
                <a:custGeom>
                  <a:avLst/>
                  <a:gdLst>
                    <a:gd name="T0" fmla="*/ 0 w 391"/>
                    <a:gd name="T1" fmla="*/ 238 h 239"/>
                    <a:gd name="T2" fmla="*/ 0 w 391"/>
                    <a:gd name="T3" fmla="*/ 0 h 239"/>
                    <a:gd name="T4" fmla="*/ 390 w 391"/>
                    <a:gd name="T5" fmla="*/ 86 h 239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239"/>
                    <a:gd name="T11" fmla="*/ 391 w 391"/>
                    <a:gd name="T12" fmla="*/ 239 h 2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239">
                      <a:moveTo>
                        <a:pt x="0" y="238"/>
                      </a:moveTo>
                      <a:lnTo>
                        <a:pt x="0" y="0"/>
                      </a:lnTo>
                      <a:lnTo>
                        <a:pt x="390" y="86"/>
                      </a:lnTo>
                    </a:path>
                  </a:pathLst>
                </a:custGeom>
                <a:grpFill/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34" name="Freeform 137"/>
                <p:cNvSpPr>
                  <a:spLocks/>
                </p:cNvSpPr>
                <p:nvPr/>
              </p:nvSpPr>
              <p:spPr bwMode="auto">
                <a:xfrm>
                  <a:off x="1394" y="3448"/>
                  <a:ext cx="391" cy="261"/>
                </a:xfrm>
                <a:custGeom>
                  <a:avLst/>
                  <a:gdLst>
                    <a:gd name="T0" fmla="*/ 0 w 391"/>
                    <a:gd name="T1" fmla="*/ 152 h 261"/>
                    <a:gd name="T2" fmla="*/ 390 w 391"/>
                    <a:gd name="T3" fmla="*/ 260 h 261"/>
                    <a:gd name="T4" fmla="*/ 390 w 391"/>
                    <a:gd name="T5" fmla="*/ 0 h 261"/>
                    <a:gd name="T6" fmla="*/ 0 60000 65536"/>
                    <a:gd name="T7" fmla="*/ 0 60000 65536"/>
                    <a:gd name="T8" fmla="*/ 0 60000 65536"/>
                    <a:gd name="T9" fmla="*/ 0 w 391"/>
                    <a:gd name="T10" fmla="*/ 0 h 261"/>
                    <a:gd name="T11" fmla="*/ 391 w 391"/>
                    <a:gd name="T12" fmla="*/ 261 h 2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1" h="261">
                      <a:moveTo>
                        <a:pt x="0" y="152"/>
                      </a:moveTo>
                      <a:lnTo>
                        <a:pt x="390" y="260"/>
                      </a:lnTo>
                      <a:lnTo>
                        <a:pt x="390" y="0"/>
                      </a:lnTo>
                    </a:path>
                  </a:pathLst>
                </a:custGeom>
                <a:grpFill/>
                <a:ln w="12700" cap="rnd">
                  <a:solidFill>
                    <a:srgbClr val="91919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11" name="Line 138"/>
              <p:cNvSpPr>
                <a:spLocks noChangeShapeType="1"/>
              </p:cNvSpPr>
              <p:nvPr/>
            </p:nvSpPr>
            <p:spPr bwMode="auto">
              <a:xfrm>
                <a:off x="1430" y="3526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212" name="Line 139"/>
              <p:cNvSpPr>
                <a:spLocks noChangeShapeType="1"/>
              </p:cNvSpPr>
              <p:nvPr/>
            </p:nvSpPr>
            <p:spPr bwMode="auto">
              <a:xfrm>
                <a:off x="1428" y="3544"/>
                <a:ext cx="330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213" name="Line 140"/>
              <p:cNvSpPr>
                <a:spLocks noChangeShapeType="1"/>
              </p:cNvSpPr>
              <p:nvPr/>
            </p:nvSpPr>
            <p:spPr bwMode="auto">
              <a:xfrm>
                <a:off x="1428" y="3564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214" name="Line 141"/>
              <p:cNvSpPr>
                <a:spLocks noChangeShapeType="1"/>
              </p:cNvSpPr>
              <p:nvPr/>
            </p:nvSpPr>
            <p:spPr bwMode="auto">
              <a:xfrm>
                <a:off x="1428" y="3584"/>
                <a:ext cx="328" cy="82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215" name="Freeform 142"/>
              <p:cNvSpPr>
                <a:spLocks/>
              </p:cNvSpPr>
              <p:nvPr/>
            </p:nvSpPr>
            <p:spPr bwMode="auto">
              <a:xfrm>
                <a:off x="1576" y="3418"/>
                <a:ext cx="171" cy="69"/>
              </a:xfrm>
              <a:custGeom>
                <a:avLst/>
                <a:gdLst>
                  <a:gd name="T0" fmla="*/ 170 w 171"/>
                  <a:gd name="T1" fmla="*/ 34 h 69"/>
                  <a:gd name="T2" fmla="*/ 170 w 171"/>
                  <a:gd name="T3" fmla="*/ 68 h 69"/>
                  <a:gd name="T4" fmla="*/ 0 w 171"/>
                  <a:gd name="T5" fmla="*/ 34 h 69"/>
                  <a:gd name="T6" fmla="*/ 0 w 171"/>
                  <a:gd name="T7" fmla="*/ 0 h 69"/>
                  <a:gd name="T8" fmla="*/ 170 w 171"/>
                  <a:gd name="T9" fmla="*/ 34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1"/>
                  <a:gd name="T16" fmla="*/ 0 h 69"/>
                  <a:gd name="T17" fmla="*/ 171 w 171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1" h="69">
                    <a:moveTo>
                      <a:pt x="170" y="34"/>
                    </a:moveTo>
                    <a:lnTo>
                      <a:pt x="170" y="68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170" y="3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16" name="Freeform 143"/>
              <p:cNvSpPr>
                <a:spLocks/>
              </p:cNvSpPr>
              <p:nvPr/>
            </p:nvSpPr>
            <p:spPr bwMode="auto">
              <a:xfrm>
                <a:off x="1596" y="3448"/>
                <a:ext cx="19" cy="5"/>
              </a:xfrm>
              <a:custGeom>
                <a:avLst/>
                <a:gdLst>
                  <a:gd name="T0" fmla="*/ 1 w 19"/>
                  <a:gd name="T1" fmla="*/ 0 h 5"/>
                  <a:gd name="T2" fmla="*/ 18 w 19"/>
                  <a:gd name="T3" fmla="*/ 2 h 5"/>
                  <a:gd name="T4" fmla="*/ 18 w 19"/>
                  <a:gd name="T5" fmla="*/ 4 h 5"/>
                  <a:gd name="T6" fmla="*/ 0 w 19"/>
                  <a:gd name="T7" fmla="*/ 2 h 5"/>
                  <a:gd name="T8" fmla="*/ 1 w 19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5"/>
                  <a:gd name="T17" fmla="*/ 19 w 19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5">
                    <a:moveTo>
                      <a:pt x="1" y="0"/>
                    </a:moveTo>
                    <a:lnTo>
                      <a:pt x="18" y="2"/>
                    </a:lnTo>
                    <a:lnTo>
                      <a:pt x="18" y="4"/>
                    </a:lnTo>
                    <a:lnTo>
                      <a:pt x="0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17" name="Group 144"/>
              <p:cNvGrpSpPr>
                <a:grpSpLocks/>
              </p:cNvGrpSpPr>
              <p:nvPr/>
            </p:nvGrpSpPr>
            <p:grpSpPr bwMode="auto">
              <a:xfrm>
                <a:off x="1636" y="3436"/>
                <a:ext cx="27" cy="19"/>
                <a:chOff x="1636" y="3436"/>
                <a:chExt cx="27" cy="19"/>
              </a:xfrm>
              <a:grpFill/>
            </p:grpSpPr>
            <p:sp>
              <p:nvSpPr>
                <p:cNvPr id="230" name="Freeform 145"/>
                <p:cNvSpPr>
                  <a:spLocks/>
                </p:cNvSpPr>
                <p:nvPr/>
              </p:nvSpPr>
              <p:spPr bwMode="auto">
                <a:xfrm>
                  <a:off x="1644" y="3444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31" name="Freeform 146"/>
                <p:cNvSpPr>
                  <a:spLocks/>
                </p:cNvSpPr>
                <p:nvPr/>
              </p:nvSpPr>
              <p:spPr bwMode="auto">
                <a:xfrm>
                  <a:off x="1636" y="3436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218" name="Group 147"/>
              <p:cNvGrpSpPr>
                <a:grpSpLocks/>
              </p:cNvGrpSpPr>
              <p:nvPr/>
            </p:nvGrpSpPr>
            <p:grpSpPr bwMode="auto">
              <a:xfrm>
                <a:off x="1728" y="3456"/>
                <a:ext cx="13" cy="29"/>
                <a:chOff x="1728" y="3456"/>
                <a:chExt cx="13" cy="29"/>
              </a:xfrm>
              <a:grpFill/>
            </p:grpSpPr>
            <p:sp>
              <p:nvSpPr>
                <p:cNvPr id="228" name="Freeform 148"/>
                <p:cNvSpPr>
                  <a:spLocks/>
                </p:cNvSpPr>
                <p:nvPr/>
              </p:nvSpPr>
              <p:spPr bwMode="auto">
                <a:xfrm>
                  <a:off x="1736" y="3464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3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29" name="Freeform 149"/>
                <p:cNvSpPr>
                  <a:spLocks/>
                </p:cNvSpPr>
                <p:nvPr/>
              </p:nvSpPr>
              <p:spPr bwMode="auto">
                <a:xfrm>
                  <a:off x="1728" y="3456"/>
                  <a:ext cx="5" cy="21"/>
                </a:xfrm>
                <a:custGeom>
                  <a:avLst/>
                  <a:gdLst>
                    <a:gd name="T0" fmla="*/ 0 w 5"/>
                    <a:gd name="T1" fmla="*/ 0 h 21"/>
                    <a:gd name="T2" fmla="*/ 0 w 5"/>
                    <a:gd name="T3" fmla="*/ 17 h 21"/>
                    <a:gd name="T4" fmla="*/ 4 w 5"/>
                    <a:gd name="T5" fmla="*/ 20 h 21"/>
                    <a:gd name="T6" fmla="*/ 4 w 5"/>
                    <a:gd name="T7" fmla="*/ 3 h 21"/>
                    <a:gd name="T8" fmla="*/ 0 w 5"/>
                    <a:gd name="T9" fmla="*/ 0 h 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"/>
                    <a:gd name="T16" fmla="*/ 0 h 21"/>
                    <a:gd name="T17" fmla="*/ 5 w 5"/>
                    <a:gd name="T18" fmla="*/ 21 h 2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" h="21">
                      <a:moveTo>
                        <a:pt x="0" y="0"/>
                      </a:moveTo>
                      <a:lnTo>
                        <a:pt x="0" y="17"/>
                      </a:lnTo>
                      <a:lnTo>
                        <a:pt x="4" y="20"/>
                      </a:lnTo>
                      <a:lnTo>
                        <a:pt x="4" y="3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grpSp>
            <p:nvGrpSpPr>
              <p:cNvPr id="219" name="Group 150"/>
              <p:cNvGrpSpPr>
                <a:grpSpLocks/>
              </p:cNvGrpSpPr>
              <p:nvPr/>
            </p:nvGrpSpPr>
            <p:grpSpPr bwMode="auto">
              <a:xfrm>
                <a:off x="1596" y="3426"/>
                <a:ext cx="27" cy="19"/>
                <a:chOff x="1596" y="3426"/>
                <a:chExt cx="27" cy="19"/>
              </a:xfrm>
              <a:grpFill/>
            </p:grpSpPr>
            <p:sp>
              <p:nvSpPr>
                <p:cNvPr id="226" name="Freeform 151"/>
                <p:cNvSpPr>
                  <a:spLocks/>
                </p:cNvSpPr>
                <p:nvPr/>
              </p:nvSpPr>
              <p:spPr bwMode="auto">
                <a:xfrm>
                  <a:off x="1604" y="3434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27" name="Freeform 152"/>
                <p:cNvSpPr>
                  <a:spLocks/>
                </p:cNvSpPr>
                <p:nvPr/>
              </p:nvSpPr>
              <p:spPr bwMode="auto">
                <a:xfrm>
                  <a:off x="1596" y="3426"/>
                  <a:ext cx="19" cy="11"/>
                </a:xfrm>
                <a:custGeom>
                  <a:avLst/>
                  <a:gdLst>
                    <a:gd name="T0" fmla="*/ 0 w 19"/>
                    <a:gd name="T1" fmla="*/ 0 h 11"/>
                    <a:gd name="T2" fmla="*/ 17 w 19"/>
                    <a:gd name="T3" fmla="*/ 4 h 11"/>
                    <a:gd name="T4" fmla="*/ 18 w 19"/>
                    <a:gd name="T5" fmla="*/ 10 h 11"/>
                    <a:gd name="T6" fmla="*/ 0 w 19"/>
                    <a:gd name="T7" fmla="*/ 6 h 11"/>
                    <a:gd name="T8" fmla="*/ 0 w 19"/>
                    <a:gd name="T9" fmla="*/ 0 h 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11"/>
                    <a:gd name="T17" fmla="*/ 19 w 19"/>
                    <a:gd name="T18" fmla="*/ 11 h 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11">
                      <a:moveTo>
                        <a:pt x="0" y="0"/>
                      </a:moveTo>
                      <a:lnTo>
                        <a:pt x="17" y="4"/>
                      </a:lnTo>
                      <a:lnTo>
                        <a:pt x="18" y="10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20" name="Freeform 153"/>
              <p:cNvSpPr>
                <a:spLocks/>
              </p:cNvSpPr>
              <p:nvPr/>
            </p:nvSpPr>
            <p:spPr bwMode="auto">
              <a:xfrm>
                <a:off x="1636" y="3456"/>
                <a:ext cx="19" cy="7"/>
              </a:xfrm>
              <a:custGeom>
                <a:avLst/>
                <a:gdLst>
                  <a:gd name="T0" fmla="*/ 1 w 19"/>
                  <a:gd name="T1" fmla="*/ 0 h 7"/>
                  <a:gd name="T2" fmla="*/ 17 w 19"/>
                  <a:gd name="T3" fmla="*/ 3 h 7"/>
                  <a:gd name="T4" fmla="*/ 18 w 19"/>
                  <a:gd name="T5" fmla="*/ 6 h 7"/>
                  <a:gd name="T6" fmla="*/ 0 w 19"/>
                  <a:gd name="T7" fmla="*/ 3 h 7"/>
                  <a:gd name="T8" fmla="*/ 1 w 1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7"/>
                  <a:gd name="T17" fmla="*/ 19 w 19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7">
                    <a:moveTo>
                      <a:pt x="1" y="0"/>
                    </a:moveTo>
                    <a:lnTo>
                      <a:pt x="17" y="3"/>
                    </a:lnTo>
                    <a:lnTo>
                      <a:pt x="18" y="6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21" name="Freeform 154"/>
              <p:cNvSpPr>
                <a:spLocks/>
              </p:cNvSpPr>
              <p:nvPr/>
            </p:nvSpPr>
            <p:spPr bwMode="auto">
              <a:xfrm>
                <a:off x="1676" y="3466"/>
                <a:ext cx="19" cy="7"/>
              </a:xfrm>
              <a:custGeom>
                <a:avLst/>
                <a:gdLst>
                  <a:gd name="T0" fmla="*/ 1 w 19"/>
                  <a:gd name="T1" fmla="*/ 0 h 7"/>
                  <a:gd name="T2" fmla="*/ 18 w 19"/>
                  <a:gd name="T3" fmla="*/ 3 h 7"/>
                  <a:gd name="T4" fmla="*/ 18 w 19"/>
                  <a:gd name="T5" fmla="*/ 6 h 7"/>
                  <a:gd name="T6" fmla="*/ 0 w 19"/>
                  <a:gd name="T7" fmla="*/ 3 h 7"/>
                  <a:gd name="T8" fmla="*/ 1 w 19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7"/>
                  <a:gd name="T17" fmla="*/ 19 w 19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7">
                    <a:moveTo>
                      <a:pt x="1" y="0"/>
                    </a:moveTo>
                    <a:lnTo>
                      <a:pt x="18" y="3"/>
                    </a:lnTo>
                    <a:lnTo>
                      <a:pt x="18" y="6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grpSp>
            <p:nvGrpSpPr>
              <p:cNvPr id="222" name="Group 155"/>
              <p:cNvGrpSpPr>
                <a:grpSpLocks/>
              </p:cNvGrpSpPr>
              <p:nvPr/>
            </p:nvGrpSpPr>
            <p:grpSpPr bwMode="auto">
              <a:xfrm>
                <a:off x="1676" y="3446"/>
                <a:ext cx="27" cy="17"/>
                <a:chOff x="1676" y="3446"/>
                <a:chExt cx="27" cy="17"/>
              </a:xfrm>
              <a:grpFill/>
            </p:grpSpPr>
            <p:sp>
              <p:nvSpPr>
                <p:cNvPr id="224" name="Freeform 156"/>
                <p:cNvSpPr>
                  <a:spLocks/>
                </p:cNvSpPr>
                <p:nvPr/>
              </p:nvSpPr>
              <p:spPr bwMode="auto">
                <a:xfrm>
                  <a:off x="1684" y="3454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25" name="Freeform 157"/>
                <p:cNvSpPr>
                  <a:spLocks/>
                </p:cNvSpPr>
                <p:nvPr/>
              </p:nvSpPr>
              <p:spPr bwMode="auto">
                <a:xfrm>
                  <a:off x="1676" y="3446"/>
                  <a:ext cx="19" cy="9"/>
                </a:xfrm>
                <a:custGeom>
                  <a:avLst/>
                  <a:gdLst>
                    <a:gd name="T0" fmla="*/ 0 w 19"/>
                    <a:gd name="T1" fmla="*/ 0 h 9"/>
                    <a:gd name="T2" fmla="*/ 17 w 19"/>
                    <a:gd name="T3" fmla="*/ 3 h 9"/>
                    <a:gd name="T4" fmla="*/ 18 w 19"/>
                    <a:gd name="T5" fmla="*/ 8 h 9"/>
                    <a:gd name="T6" fmla="*/ 0 w 19"/>
                    <a:gd name="T7" fmla="*/ 5 h 9"/>
                    <a:gd name="T8" fmla="*/ 0 w 19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"/>
                    <a:gd name="T17" fmla="*/ 19 w 19"/>
                    <a:gd name="T18" fmla="*/ 9 h 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">
                      <a:moveTo>
                        <a:pt x="0" y="0"/>
                      </a:moveTo>
                      <a:lnTo>
                        <a:pt x="17" y="3"/>
                      </a:lnTo>
                      <a:lnTo>
                        <a:pt x="18" y="8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23" name="Freeform 158"/>
              <p:cNvSpPr>
                <a:spLocks/>
              </p:cNvSpPr>
              <p:nvPr/>
            </p:nvSpPr>
            <p:spPr bwMode="auto">
              <a:xfrm>
                <a:off x="1318" y="2682"/>
                <a:ext cx="975" cy="259"/>
              </a:xfrm>
              <a:custGeom>
                <a:avLst/>
                <a:gdLst>
                  <a:gd name="T0" fmla="*/ 0 w 975"/>
                  <a:gd name="T1" fmla="*/ 130 h 259"/>
                  <a:gd name="T2" fmla="*/ 670 w 975"/>
                  <a:gd name="T3" fmla="*/ 258 h 259"/>
                  <a:gd name="T4" fmla="*/ 974 w 975"/>
                  <a:gd name="T5" fmla="*/ 108 h 259"/>
                  <a:gd name="T6" fmla="*/ 346 w 975"/>
                  <a:gd name="T7" fmla="*/ 0 h 259"/>
                  <a:gd name="T8" fmla="*/ 0 w 975"/>
                  <a:gd name="T9" fmla="*/ 130 h 2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5"/>
                  <a:gd name="T16" fmla="*/ 0 h 259"/>
                  <a:gd name="T17" fmla="*/ 975 w 975"/>
                  <a:gd name="T18" fmla="*/ 259 h 2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5" h="259">
                    <a:moveTo>
                      <a:pt x="0" y="130"/>
                    </a:moveTo>
                    <a:lnTo>
                      <a:pt x="670" y="258"/>
                    </a:lnTo>
                    <a:lnTo>
                      <a:pt x="974" y="108"/>
                    </a:lnTo>
                    <a:lnTo>
                      <a:pt x="346" y="0"/>
                    </a:lnTo>
                    <a:lnTo>
                      <a:pt x="0" y="130"/>
                    </a:lnTo>
                  </a:path>
                </a:pathLst>
              </a:custGeom>
              <a:grp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268" name="TextBox 147"/>
            <p:cNvSpPr txBox="1">
              <a:spLocks noChangeArrowheads="1"/>
            </p:cNvSpPr>
            <p:nvPr/>
          </p:nvSpPr>
          <p:spPr bwMode="auto">
            <a:xfrm>
              <a:off x="4061846" y="2320889"/>
              <a:ext cx="1201105" cy="180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면접체험 관리시스템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19672" y="1196752"/>
            <a:ext cx="954107" cy="1914151"/>
            <a:chOff x="2483768" y="1796930"/>
            <a:chExt cx="954107" cy="1914151"/>
          </a:xfrm>
        </p:grpSpPr>
        <p:grpSp>
          <p:nvGrpSpPr>
            <p:cNvPr id="4" name="그룹 3"/>
            <p:cNvGrpSpPr/>
            <p:nvPr/>
          </p:nvGrpSpPr>
          <p:grpSpPr>
            <a:xfrm>
              <a:off x="2490058" y="2071753"/>
              <a:ext cx="936103" cy="1639328"/>
              <a:chOff x="251521" y="1278850"/>
              <a:chExt cx="2952328" cy="3950352"/>
            </a:xfrm>
          </p:grpSpPr>
          <p:sp>
            <p:nvSpPr>
              <p:cNvPr id="43" name="타원 42"/>
              <p:cNvSpPr/>
              <p:nvPr/>
            </p:nvSpPr>
            <p:spPr bwMode="auto">
              <a:xfrm>
                <a:off x="648768" y="1840013"/>
                <a:ext cx="2106971" cy="2669107"/>
              </a:xfrm>
              <a:prstGeom prst="ellipse">
                <a:avLst/>
              </a:prstGeom>
              <a:solidFill>
                <a:srgbClr val="0000FF">
                  <a:alpha val="8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rtlCol="0" anchor="ctr"/>
              <a:lstStyle/>
              <a:p>
                <a:pPr algn="ctr" defTabSz="739775">
                  <a:buNone/>
                </a:pPr>
                <a:endParaRPr lang="ko-KR" altLang="en-US" sz="800" dirty="0">
                  <a:latin typeface="+mn-ea"/>
                  <a:ea typeface="+mn-ea"/>
                </a:endParaRPr>
              </a:p>
            </p:txBody>
          </p:sp>
          <p:pic>
            <p:nvPicPr>
              <p:cNvPr id="44" name="Picture 2" descr="C:\Users\rainend-pc\AppData\Local\Microsoft\Windows\INetCache\IE\7M1WC1SM\001_I7lmMFw[1]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02" t="7670" r="10064" b="7178"/>
              <a:stretch/>
            </p:blipFill>
            <p:spPr bwMode="auto">
              <a:xfrm>
                <a:off x="592260" y="1802897"/>
                <a:ext cx="680331" cy="507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3" descr="C:\Users\rainend-pc\AppData\Local\Microsoft\Windows\INetCache\IE\TQC18W3N\insidelogo[1].jpg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82" t="3503" r="7418" b="2621"/>
              <a:stretch/>
            </p:blipFill>
            <p:spPr bwMode="auto">
              <a:xfrm>
                <a:off x="2201159" y="1768476"/>
                <a:ext cx="813547" cy="5762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4" descr="C:\Users\rainend-pc\AppData\Local\Microsoft\Windows\INetCache\IE\LOURFXGQ\monitor-155565_640[1]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8694" y="1332403"/>
                <a:ext cx="792089" cy="6324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Picture 12" descr="C:\Users\rainend-pc\AppData\Local\Microsoft\Windows\INetCache\IE\7M1WC1SM\1234[1].jpg"/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969"/>
              <a:stretch/>
            </p:blipFill>
            <p:spPr bwMode="auto">
              <a:xfrm>
                <a:off x="1272591" y="3597019"/>
                <a:ext cx="761099" cy="11145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16" descr="C:\Users\rainend-pc\AppData\Local\Microsoft\Windows\INetCache\IE\9RJGMRLX\insidelogo[1].jp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31" t="3980" r="4936" b="5834"/>
              <a:stretch/>
            </p:blipFill>
            <p:spPr bwMode="auto">
              <a:xfrm>
                <a:off x="433868" y="2468673"/>
                <a:ext cx="590140" cy="449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직사각형 48"/>
              <p:cNvSpPr/>
              <p:nvPr/>
            </p:nvSpPr>
            <p:spPr bwMode="auto">
              <a:xfrm>
                <a:off x="251521" y="1278850"/>
                <a:ext cx="2952328" cy="3950352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lIns="82550" tIns="41275" rIns="82550" bIns="41275" rtlCol="0" anchor="ctr"/>
              <a:lstStyle/>
              <a:p>
                <a:pPr algn="ctr" defTabSz="739775">
                  <a:buNone/>
                </a:pPr>
                <a:endParaRPr lang="ko-KR" altLang="en-US" sz="800" dirty="0">
                  <a:latin typeface="+mn-ea"/>
                  <a:ea typeface="+mn-ea"/>
                </a:endParaRPr>
              </a:p>
            </p:txBody>
          </p:sp>
          <p:pic>
            <p:nvPicPr>
              <p:cNvPr id="50" name="Picture 16" descr="C:\Users\rainend-pc\AppData\Local\Microsoft\Windows\INetCache\IE\9RJGMRLX\insidelogo[1].jp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31" t="3980" r="4936" b="5834"/>
              <a:stretch/>
            </p:blipFill>
            <p:spPr bwMode="auto">
              <a:xfrm>
                <a:off x="2460669" y="2396320"/>
                <a:ext cx="590140" cy="449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9" name="TextBox 147"/>
            <p:cNvSpPr txBox="1">
              <a:spLocks noChangeArrowheads="1"/>
            </p:cNvSpPr>
            <p:nvPr/>
          </p:nvSpPr>
          <p:spPr bwMode="auto">
            <a:xfrm>
              <a:off x="2483768" y="1796930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면접체험관</a:t>
              </a:r>
            </a:p>
          </p:txBody>
        </p:sp>
      </p:grpSp>
      <p:sp>
        <p:nvSpPr>
          <p:cNvPr id="271" name="원통 270"/>
          <p:cNvSpPr/>
          <p:nvPr/>
        </p:nvSpPr>
        <p:spPr>
          <a:xfrm>
            <a:off x="6516216" y="971857"/>
            <a:ext cx="809279" cy="296903"/>
          </a:xfrm>
          <a:prstGeom prst="can">
            <a:avLst>
              <a:gd name="adj" fmla="val 15163"/>
            </a:avLst>
          </a:prstGeom>
          <a:solidFill>
            <a:srgbClr val="00206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회원정보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23528" y="2991130"/>
            <a:ext cx="954107" cy="873773"/>
            <a:chOff x="593557" y="1508898"/>
            <a:chExt cx="954107" cy="873773"/>
          </a:xfrm>
        </p:grpSpPr>
        <p:pic>
          <p:nvPicPr>
            <p:cNvPr id="273" name="Picture 2" descr="users group iconì ëí ì´ë¯¸ì§ ê²ìê²°ê³¼">
              <a:extLst>
                <a:ext uri="{FF2B5EF4-FFF2-40B4-BE49-F238E27FC236}">
                  <a16:creationId xmlns:a16="http://schemas.microsoft.com/office/drawing/2014/main" id="{69E7ECEB-644C-4B20-ACF1-E5ED59D371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1848344"/>
              <a:ext cx="534327" cy="534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4" name="TextBox 147"/>
            <p:cNvSpPr txBox="1">
              <a:spLocks noChangeArrowheads="1"/>
            </p:cNvSpPr>
            <p:nvPr/>
          </p:nvSpPr>
          <p:spPr bwMode="auto">
            <a:xfrm>
              <a:off x="593557" y="1508898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면접준비생</a:t>
              </a:r>
            </a:p>
          </p:txBody>
        </p:sp>
      </p:grpSp>
      <p:sp>
        <p:nvSpPr>
          <p:cNvPr id="7" name="왼쪽/오른쪽 화살표 6"/>
          <p:cNvSpPr/>
          <p:nvPr/>
        </p:nvSpPr>
        <p:spPr bwMode="auto">
          <a:xfrm rot="19285574">
            <a:off x="2066036" y="3853537"/>
            <a:ext cx="1673922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4067944" y="5229795"/>
            <a:ext cx="1440160" cy="1007517"/>
            <a:chOff x="4891640" y="5301208"/>
            <a:chExt cx="1440160" cy="1007517"/>
          </a:xfrm>
        </p:grpSpPr>
        <p:pic>
          <p:nvPicPr>
            <p:cNvPr id="282" name="Picture 8" descr="cloud serverì ëí ì´ë¯¸ì§ ê²ìê²°ê³¼">
              <a:extLst>
                <a:ext uri="{FF2B5EF4-FFF2-40B4-BE49-F238E27FC236}">
                  <a16:creationId xmlns:a16="http://schemas.microsoft.com/office/drawing/2014/main" id="{7FBC25A8-7F8B-435F-8C8B-8508F954F9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640" y="5526935"/>
              <a:ext cx="1440160" cy="781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3" name="TextBox 147"/>
            <p:cNvSpPr txBox="1">
              <a:spLocks noChangeArrowheads="1"/>
            </p:cNvSpPr>
            <p:nvPr/>
          </p:nvSpPr>
          <p:spPr bwMode="auto">
            <a:xfrm>
              <a:off x="5048179" y="5301208"/>
              <a:ext cx="110799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클라우드서버</a:t>
              </a:r>
            </a:p>
          </p:txBody>
        </p:sp>
      </p:grpSp>
      <p:sp>
        <p:nvSpPr>
          <p:cNvPr id="9" name="위쪽/아래쪽 화살표 8"/>
          <p:cNvSpPr/>
          <p:nvPr/>
        </p:nvSpPr>
        <p:spPr bwMode="auto">
          <a:xfrm>
            <a:off x="4637785" y="4428152"/>
            <a:ext cx="342363" cy="687723"/>
          </a:xfrm>
          <a:prstGeom prst="upDownArrow">
            <a:avLst/>
          </a:prstGeom>
          <a:solidFill>
            <a:srgbClr val="0000FF">
              <a:alpha val="8000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3" name="꺾인 연결선 12"/>
          <p:cNvCxnSpPr>
            <a:stCxn id="273" idx="2"/>
            <a:endCxn id="276" idx="1"/>
          </p:cNvCxnSpPr>
          <p:nvPr/>
        </p:nvCxnSpPr>
        <p:spPr>
          <a:xfrm rot="16200000" flipH="1">
            <a:off x="252474" y="4365140"/>
            <a:ext cx="1582698" cy="582224"/>
          </a:xfrm>
          <a:prstGeom prst="bentConnector2">
            <a:avLst/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4" idx="0"/>
            <a:endCxn id="49" idx="1"/>
          </p:cNvCxnSpPr>
          <p:nvPr/>
        </p:nvCxnSpPr>
        <p:spPr>
          <a:xfrm rot="5400000" flipH="1" flipV="1">
            <a:off x="863327" y="2228495"/>
            <a:ext cx="699891" cy="825380"/>
          </a:xfrm>
          <a:prstGeom prst="bentConnector2">
            <a:avLst/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stCxn id="303" idx="0"/>
            <a:endCxn id="273" idx="3"/>
          </p:cNvCxnSpPr>
          <p:nvPr/>
        </p:nvCxnSpPr>
        <p:spPr>
          <a:xfrm rot="16200000" flipV="1">
            <a:off x="886586" y="3731028"/>
            <a:ext cx="911380" cy="644804"/>
          </a:xfrm>
          <a:prstGeom prst="bentConnector2">
            <a:avLst/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왼쪽/오른쪽 화살표 285"/>
          <p:cNvSpPr/>
          <p:nvPr/>
        </p:nvSpPr>
        <p:spPr bwMode="auto">
          <a:xfrm rot="2398904">
            <a:off x="2540539" y="2491896"/>
            <a:ext cx="1183120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340670" y="1029424"/>
            <a:ext cx="954107" cy="1092419"/>
            <a:chOff x="4428966" y="1040437"/>
            <a:chExt cx="954107" cy="1092419"/>
          </a:xfrm>
        </p:grpSpPr>
        <p:pic>
          <p:nvPicPr>
            <p:cNvPr id="1027" name="Picture 3" descr="C:\Users\rainend-pc\AppData\Local\Microsoft\Windows\INetCache\IE\7M1WC1SM\computer-98401_960_720[1]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4806" y="1335778"/>
              <a:ext cx="685266" cy="79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8" name="TextBox 147"/>
            <p:cNvSpPr txBox="1">
              <a:spLocks noChangeArrowheads="1"/>
            </p:cNvSpPr>
            <p:nvPr/>
          </p:nvSpPr>
          <p:spPr bwMode="auto">
            <a:xfrm>
              <a:off x="4428966" y="1040437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동영상서버</a:t>
              </a:r>
            </a:p>
          </p:txBody>
        </p:sp>
      </p:grpSp>
      <p:sp>
        <p:nvSpPr>
          <p:cNvPr id="26" name="줄무늬가 있는 오른쪽 화살표 25"/>
          <p:cNvSpPr/>
          <p:nvPr/>
        </p:nvSpPr>
        <p:spPr bwMode="auto">
          <a:xfrm>
            <a:off x="2699792" y="1470315"/>
            <a:ext cx="1599838" cy="300528"/>
          </a:xfrm>
          <a:prstGeom prst="stripedRightArrow">
            <a:avLst>
              <a:gd name="adj1" fmla="val 55851"/>
              <a:gd name="adj2" fmla="val 8510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89" name="왼쪽/오른쪽 화살표 288"/>
          <p:cNvSpPr/>
          <p:nvPr/>
        </p:nvSpPr>
        <p:spPr bwMode="auto">
          <a:xfrm rot="5400000">
            <a:off x="4516485" y="2235350"/>
            <a:ext cx="569983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7814101" y="2631586"/>
            <a:ext cx="646331" cy="832753"/>
            <a:chOff x="7596336" y="3093074"/>
            <a:chExt cx="646331" cy="832753"/>
          </a:xfrm>
        </p:grpSpPr>
        <p:pic>
          <p:nvPicPr>
            <p:cNvPr id="290" name="Picture 8" descr="teacher icon pngì ëí ì´ë¯¸ì§ ê²ìê²°ê³¼">
              <a:extLst>
                <a:ext uri="{FF2B5EF4-FFF2-40B4-BE49-F238E27FC236}">
                  <a16:creationId xmlns:a16="http://schemas.microsoft.com/office/drawing/2014/main" id="{0ADE9EEF-0568-4E84-8C3D-9720B0645D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798" y="3421771"/>
              <a:ext cx="504056" cy="50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1" name="TextBox 147"/>
            <p:cNvSpPr txBox="1">
              <a:spLocks noChangeArrowheads="1"/>
            </p:cNvSpPr>
            <p:nvPr/>
          </p:nvSpPr>
          <p:spPr bwMode="auto">
            <a:xfrm>
              <a:off x="7596336" y="3093074"/>
              <a:ext cx="646331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운영자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7722349" y="4689155"/>
            <a:ext cx="954107" cy="972093"/>
            <a:chOff x="7146285" y="4965282"/>
            <a:chExt cx="954107" cy="972093"/>
          </a:xfrm>
        </p:grpSpPr>
        <p:pic>
          <p:nvPicPr>
            <p:cNvPr id="1029" name="Picture 5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8391" y="5271524"/>
              <a:ext cx="778252" cy="665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2" name="TextBox 147"/>
            <p:cNvSpPr txBox="1">
              <a:spLocks noChangeArrowheads="1"/>
            </p:cNvSpPr>
            <p:nvPr/>
          </p:nvSpPr>
          <p:spPr bwMode="auto">
            <a:xfrm>
              <a:off x="7146285" y="4965282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면접전문가</a:t>
              </a:r>
            </a:p>
          </p:txBody>
        </p:sp>
      </p:grpSp>
      <p:pic>
        <p:nvPicPr>
          <p:cNvPr id="293" name="Picture 16" descr="pc pngì ëí ì´ë¯¸ì§ ê²ìê²°ê³¼">
            <a:extLst>
              <a:ext uri="{FF2B5EF4-FFF2-40B4-BE49-F238E27FC236}">
                <a16:creationId xmlns:a16="http://schemas.microsoft.com/office/drawing/2014/main" id="{3BEE2331-ECFD-49C0-92CE-C77D13B08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208" y="2975678"/>
            <a:ext cx="717597" cy="52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1187624" y="4509120"/>
            <a:ext cx="954107" cy="1617093"/>
            <a:chOff x="1403648" y="4509120"/>
            <a:chExt cx="954107" cy="1617093"/>
          </a:xfrm>
        </p:grpSpPr>
        <p:grpSp>
          <p:nvGrpSpPr>
            <p:cNvPr id="29" name="그룹 28"/>
            <p:cNvGrpSpPr/>
            <p:nvPr/>
          </p:nvGrpSpPr>
          <p:grpSpPr>
            <a:xfrm>
              <a:off x="1550959" y="4821114"/>
              <a:ext cx="697687" cy="1305099"/>
              <a:chOff x="1514413" y="4428157"/>
              <a:chExt cx="697687" cy="1305099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1514413" y="4428157"/>
                <a:ext cx="697687" cy="801044"/>
                <a:chOff x="460035" y="3316775"/>
                <a:chExt cx="909719" cy="961218"/>
              </a:xfrm>
            </p:grpSpPr>
            <p:pic>
              <p:nvPicPr>
                <p:cNvPr id="275" name="Picture 2" descr="smartphone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5B31C7ED-DEE8-45C5-BD45-8039A4CA28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3609" y="3316775"/>
                  <a:ext cx="810868" cy="51186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6" name="Picture 4" descr="tablet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33CCB07F-ED33-4198-A3D3-03D4FBDBC4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0035" y="3859070"/>
                  <a:ext cx="418923" cy="4189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7" name="Picture 6" descr="android tablet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B25B67FB-3995-4641-8538-E72F1372D0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8958" y="3845964"/>
                  <a:ext cx="490796" cy="3841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302" name="Picture 18" descr="laptop pngì ëí ì´ë¯¸ì§ ê²ìê²°ê³¼">
                <a:extLst>
                  <a:ext uri="{FF2B5EF4-FFF2-40B4-BE49-F238E27FC236}">
                    <a16:creationId xmlns:a16="http://schemas.microsoft.com/office/drawing/2014/main" id="{2D939251-0C11-4D80-894E-3231EC3FBA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3690" y="5300293"/>
                <a:ext cx="553230" cy="432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03" name="TextBox 147"/>
            <p:cNvSpPr txBox="1">
              <a:spLocks noChangeArrowheads="1"/>
            </p:cNvSpPr>
            <p:nvPr/>
          </p:nvSpPr>
          <p:spPr bwMode="auto">
            <a:xfrm>
              <a:off x="1403648" y="4509120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스마트기기</a:t>
              </a:r>
            </a:p>
          </p:txBody>
        </p:sp>
      </p:grpSp>
      <p:grpSp>
        <p:nvGrpSpPr>
          <p:cNvPr id="304" name="그룹 303"/>
          <p:cNvGrpSpPr/>
          <p:nvPr/>
        </p:nvGrpSpPr>
        <p:grpSpPr>
          <a:xfrm>
            <a:off x="6351714" y="4292638"/>
            <a:ext cx="954107" cy="1617093"/>
            <a:chOff x="1403648" y="4509120"/>
            <a:chExt cx="954107" cy="1617093"/>
          </a:xfrm>
        </p:grpSpPr>
        <p:grpSp>
          <p:nvGrpSpPr>
            <p:cNvPr id="305" name="그룹 304"/>
            <p:cNvGrpSpPr/>
            <p:nvPr/>
          </p:nvGrpSpPr>
          <p:grpSpPr>
            <a:xfrm>
              <a:off x="1550959" y="4821114"/>
              <a:ext cx="697687" cy="1305099"/>
              <a:chOff x="1514413" y="4428157"/>
              <a:chExt cx="697687" cy="1305099"/>
            </a:xfrm>
          </p:grpSpPr>
          <p:grpSp>
            <p:nvGrpSpPr>
              <p:cNvPr id="307" name="그룹 306"/>
              <p:cNvGrpSpPr/>
              <p:nvPr/>
            </p:nvGrpSpPr>
            <p:grpSpPr>
              <a:xfrm>
                <a:off x="1514413" y="4428157"/>
                <a:ext cx="697687" cy="801044"/>
                <a:chOff x="460035" y="3316775"/>
                <a:chExt cx="909719" cy="961218"/>
              </a:xfrm>
            </p:grpSpPr>
            <p:pic>
              <p:nvPicPr>
                <p:cNvPr id="309" name="Picture 2" descr="smartphone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5B31C7ED-DEE8-45C5-BD45-8039A4CA28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3609" y="3316775"/>
                  <a:ext cx="810868" cy="51186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10" name="Picture 4" descr="tablet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33CCB07F-ED33-4198-A3D3-03D4FBDBC4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0035" y="3859070"/>
                  <a:ext cx="418923" cy="4189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11" name="Picture 6" descr="android tablet pngì ëí ì´ë¯¸ì§ ê²ìê²°ê³¼">
                  <a:extLst>
                    <a:ext uri="{FF2B5EF4-FFF2-40B4-BE49-F238E27FC236}">
                      <a16:creationId xmlns:a16="http://schemas.microsoft.com/office/drawing/2014/main" id="{B25B67FB-3995-4641-8538-E72F1372D0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8958" y="3845964"/>
                  <a:ext cx="490796" cy="3841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308" name="Picture 18" descr="laptop pngì ëí ì´ë¯¸ì§ ê²ìê²°ê³¼">
                <a:extLst>
                  <a:ext uri="{FF2B5EF4-FFF2-40B4-BE49-F238E27FC236}">
                    <a16:creationId xmlns:a16="http://schemas.microsoft.com/office/drawing/2014/main" id="{2D939251-0C11-4D80-894E-3231EC3FBA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3690" y="5300293"/>
                <a:ext cx="553230" cy="432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06" name="TextBox 147"/>
            <p:cNvSpPr txBox="1">
              <a:spLocks noChangeArrowheads="1"/>
            </p:cNvSpPr>
            <p:nvPr/>
          </p:nvSpPr>
          <p:spPr bwMode="auto">
            <a:xfrm>
              <a:off x="1403648" y="4509120"/>
              <a:ext cx="954107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스마트기기</a:t>
              </a:r>
            </a:p>
          </p:txBody>
        </p:sp>
      </p:grpSp>
      <p:sp>
        <p:nvSpPr>
          <p:cNvPr id="312" name="왼쪽/오른쪽 화살표 311"/>
          <p:cNvSpPr/>
          <p:nvPr/>
        </p:nvSpPr>
        <p:spPr bwMode="auto">
          <a:xfrm>
            <a:off x="6009604" y="3014022"/>
            <a:ext cx="578620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13" name="왼쪽/오른쪽 화살표 312"/>
          <p:cNvSpPr/>
          <p:nvPr/>
        </p:nvSpPr>
        <p:spPr bwMode="auto">
          <a:xfrm rot="2039487">
            <a:off x="5929409" y="3918748"/>
            <a:ext cx="578620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14" name="꺾인 연결선 313"/>
          <p:cNvCxnSpPr>
            <a:stCxn id="293" idx="0"/>
            <a:endCxn id="291" idx="0"/>
          </p:cNvCxnSpPr>
          <p:nvPr/>
        </p:nvCxnSpPr>
        <p:spPr>
          <a:xfrm rot="5400000" flipH="1" flipV="1">
            <a:off x="7442591" y="2281002"/>
            <a:ext cx="344092" cy="1045260"/>
          </a:xfrm>
          <a:prstGeom prst="bentConnector3">
            <a:avLst>
              <a:gd name="adj1" fmla="val 166436"/>
            </a:avLst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290" idx="2"/>
            <a:endCxn id="293" idx="2"/>
          </p:cNvCxnSpPr>
          <p:nvPr/>
        </p:nvCxnSpPr>
        <p:spPr>
          <a:xfrm rot="5400000">
            <a:off x="7595164" y="2961182"/>
            <a:ext cx="39271" cy="1045584"/>
          </a:xfrm>
          <a:prstGeom prst="bentConnector3">
            <a:avLst>
              <a:gd name="adj1" fmla="val 682109"/>
            </a:avLst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꺾인 연결선 317"/>
          <p:cNvCxnSpPr>
            <a:stCxn id="306" idx="3"/>
            <a:endCxn id="292" idx="0"/>
          </p:cNvCxnSpPr>
          <p:nvPr/>
        </p:nvCxnSpPr>
        <p:spPr>
          <a:xfrm>
            <a:off x="7305821" y="4424597"/>
            <a:ext cx="893582" cy="264558"/>
          </a:xfrm>
          <a:prstGeom prst="bentConnector2">
            <a:avLst/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꺾인 연결선 320"/>
          <p:cNvCxnSpPr>
            <a:stCxn id="1029" idx="2"/>
            <a:endCxn id="311" idx="3"/>
          </p:cNvCxnSpPr>
          <p:nvPr/>
        </p:nvCxnSpPr>
        <p:spPr>
          <a:xfrm rot="5400000" flipH="1">
            <a:off x="7477383" y="4925050"/>
            <a:ext cx="455528" cy="1016869"/>
          </a:xfrm>
          <a:prstGeom prst="bentConnector4">
            <a:avLst>
              <a:gd name="adj1" fmla="val -50184"/>
              <a:gd name="adj2" fmla="val 69133"/>
            </a:avLst>
          </a:prstGeom>
          <a:ln w="25400">
            <a:solidFill>
              <a:schemeClr val="tx2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1" name="그룹 1030"/>
          <p:cNvGrpSpPr/>
          <p:nvPr/>
        </p:nvGrpSpPr>
        <p:grpSpPr>
          <a:xfrm>
            <a:off x="2759102" y="4845624"/>
            <a:ext cx="830248" cy="854837"/>
            <a:chOff x="2767793" y="4797152"/>
            <a:chExt cx="830248" cy="854837"/>
          </a:xfrm>
        </p:grpSpPr>
        <p:pic>
          <p:nvPicPr>
            <p:cNvPr id="1030" name="Picture 6" descr="C:\Users\rainend-pc\AppData\Local\Microsoft\Windows\INetCache\IE\TQC18W3N\2_8[1].jpg"/>
            <p:cNvPicPr>
              <a:picLocks noChangeAspect="1" noChangeArrowheads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14" t="23184" r="22592" b="25825"/>
            <a:stretch/>
          </p:blipFill>
          <p:spPr bwMode="auto">
            <a:xfrm>
              <a:off x="2767793" y="5082213"/>
              <a:ext cx="830248" cy="569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5" name="TextBox 147"/>
            <p:cNvSpPr txBox="1">
              <a:spLocks noChangeArrowheads="1"/>
            </p:cNvSpPr>
            <p:nvPr/>
          </p:nvSpPr>
          <p:spPr bwMode="auto">
            <a:xfrm>
              <a:off x="2771800" y="4797152"/>
              <a:ext cx="800219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모바일앱</a:t>
              </a:r>
            </a:p>
          </p:txBody>
        </p:sp>
      </p:grpSp>
      <p:sp>
        <p:nvSpPr>
          <p:cNvPr id="327" name="왼쪽/오른쪽 화살표 326"/>
          <p:cNvSpPr/>
          <p:nvPr/>
        </p:nvSpPr>
        <p:spPr bwMode="auto">
          <a:xfrm>
            <a:off x="2108911" y="5133798"/>
            <a:ext cx="528409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28" name="왼쪽/오른쪽 화살표 327"/>
          <p:cNvSpPr/>
          <p:nvPr/>
        </p:nvSpPr>
        <p:spPr bwMode="auto">
          <a:xfrm rot="18805896">
            <a:off x="3205183" y="4385392"/>
            <a:ext cx="528409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32" name="TextBox 1031"/>
          <p:cNvSpPr txBox="1"/>
          <p:nvPr/>
        </p:nvSpPr>
        <p:spPr>
          <a:xfrm>
            <a:off x="2987824" y="1268760"/>
            <a:ext cx="954107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면접촬영영상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09083" y="2035396"/>
            <a:ext cx="1210589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가상면접체험진행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043608" y="3356992"/>
            <a:ext cx="18357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면접체험</a:t>
            </a:r>
            <a:r>
              <a:rPr lang="en-US" altLang="ko-KR" sz="1000" b="1" dirty="0">
                <a:latin typeface="+mn-ea"/>
                <a:ea typeface="+mn-ea"/>
              </a:rPr>
              <a:t>/</a:t>
            </a:r>
            <a:r>
              <a:rPr lang="ko-KR" altLang="en-US" sz="1000" b="1" dirty="0">
                <a:latin typeface="+mn-ea"/>
                <a:ea typeface="+mn-ea"/>
              </a:rPr>
              <a:t>면접영상</a:t>
            </a:r>
            <a:r>
              <a:rPr lang="en-US" altLang="ko-KR" sz="1000" b="1" dirty="0">
                <a:latin typeface="+mn-ea"/>
                <a:ea typeface="+mn-ea"/>
              </a:rPr>
              <a:t>/</a:t>
            </a:r>
            <a:r>
              <a:rPr lang="ko-KR" altLang="en-US" sz="1000" b="1" dirty="0">
                <a:latin typeface="+mn-ea"/>
                <a:ea typeface="+mn-ea"/>
              </a:rPr>
              <a:t>면접결과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51520" y="5465112"/>
            <a:ext cx="1082349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면접신청</a:t>
            </a:r>
            <a:endParaRPr lang="en-US" altLang="ko-KR" sz="1000" b="1" dirty="0">
              <a:latin typeface="+mn-ea"/>
              <a:ea typeface="+mn-ea"/>
            </a:endParaRPr>
          </a:p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면접영상전송</a:t>
            </a:r>
            <a:endParaRPr lang="en-US" altLang="ko-KR" sz="1000" b="1" dirty="0">
              <a:latin typeface="+mn-ea"/>
              <a:ea typeface="+mn-ea"/>
            </a:endParaRPr>
          </a:p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전문가평가요청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948264" y="2174086"/>
            <a:ext cx="1779654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면접신청접수</a:t>
            </a:r>
            <a:r>
              <a:rPr lang="en-US" altLang="ko-KR" sz="1000" b="1" dirty="0">
                <a:latin typeface="+mn-ea"/>
                <a:ea typeface="+mn-ea"/>
              </a:rPr>
              <a:t>/</a:t>
            </a:r>
            <a:r>
              <a:rPr lang="ko-KR" altLang="en-US" sz="1000" b="1" dirty="0">
                <a:latin typeface="+mn-ea"/>
                <a:ea typeface="+mn-ea"/>
              </a:rPr>
              <a:t>면접영상접수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804248" y="3751148"/>
            <a:ext cx="20922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회원관리</a:t>
            </a:r>
            <a:r>
              <a:rPr lang="en-US" altLang="ko-KR" sz="1000" b="1" dirty="0">
                <a:latin typeface="+mn-ea"/>
                <a:ea typeface="+mn-ea"/>
              </a:rPr>
              <a:t>/</a:t>
            </a:r>
            <a:r>
              <a:rPr lang="ko-KR" altLang="en-US" sz="1000" b="1" dirty="0">
                <a:latin typeface="+mn-ea"/>
                <a:ea typeface="+mn-ea"/>
              </a:rPr>
              <a:t>면접관리</a:t>
            </a:r>
            <a:r>
              <a:rPr lang="en-US" altLang="ko-KR" sz="1000" b="1" dirty="0">
                <a:latin typeface="+mn-ea"/>
                <a:ea typeface="+mn-ea"/>
              </a:rPr>
              <a:t>/</a:t>
            </a:r>
            <a:r>
              <a:rPr lang="ko-KR" altLang="en-US" sz="1000" b="1" dirty="0">
                <a:latin typeface="+mn-ea"/>
                <a:ea typeface="+mn-ea"/>
              </a:rPr>
              <a:t>면접결과등록</a:t>
            </a:r>
          </a:p>
        </p:txBody>
      </p:sp>
      <p:sp>
        <p:nvSpPr>
          <p:cNvPr id="1033" name="직사각형 1032"/>
          <p:cNvSpPr/>
          <p:nvPr/>
        </p:nvSpPr>
        <p:spPr bwMode="auto">
          <a:xfrm>
            <a:off x="2576579" y="4806774"/>
            <a:ext cx="1198978" cy="1043095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36" name="직사각형 335"/>
          <p:cNvSpPr/>
          <p:nvPr/>
        </p:nvSpPr>
        <p:spPr bwMode="auto">
          <a:xfrm>
            <a:off x="3950863" y="5133798"/>
            <a:ext cx="1695859" cy="1103514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 w="12700">
            <a:solidFill>
              <a:schemeClr val="accent3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7308304" y="4183196"/>
            <a:ext cx="954108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면접영상확인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7452320" y="5923828"/>
            <a:ext cx="954108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  <a:ea typeface="+mn-ea"/>
              </a:rPr>
              <a:t>면접평가등록</a:t>
            </a:r>
          </a:p>
        </p:txBody>
      </p:sp>
      <p:grpSp>
        <p:nvGrpSpPr>
          <p:cNvPr id="1035" name="그룹 1034"/>
          <p:cNvGrpSpPr/>
          <p:nvPr/>
        </p:nvGrpSpPr>
        <p:grpSpPr>
          <a:xfrm>
            <a:off x="5460630" y="1052736"/>
            <a:ext cx="720428" cy="964401"/>
            <a:chOff x="5460630" y="1076850"/>
            <a:chExt cx="720428" cy="964401"/>
          </a:xfrm>
        </p:grpSpPr>
        <p:pic>
          <p:nvPicPr>
            <p:cNvPr id="1034" name="Picture 7" descr="C:\Users\rainend-pc\AppData\Local\Microsoft\Windows\INetCache\IE\LOURFXGQ\server_PNG20[1].png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9" r="19534" b="13751"/>
            <a:stretch/>
          </p:blipFill>
          <p:spPr bwMode="auto">
            <a:xfrm>
              <a:off x="5460630" y="1380175"/>
              <a:ext cx="720428" cy="66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0" name="TextBox 147"/>
            <p:cNvSpPr txBox="1">
              <a:spLocks noChangeArrowheads="1"/>
            </p:cNvSpPr>
            <p:nvPr/>
          </p:nvSpPr>
          <p:spPr bwMode="auto">
            <a:xfrm>
              <a:off x="5480737" y="1076850"/>
              <a:ext cx="684803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ko-KR" sz="1200" dirty="0">
                  <a:latin typeface="HY헤드라인M" pitchFamily="18" charset="-127"/>
                  <a:ea typeface="HY헤드라인M" pitchFamily="18" charset="-127"/>
                </a:rPr>
                <a:t>DB</a:t>
              </a: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서버</a:t>
              </a:r>
            </a:p>
          </p:txBody>
        </p:sp>
      </p:grpSp>
      <p:sp>
        <p:nvSpPr>
          <p:cNvPr id="342" name="왼쪽/오른쪽 화살표 341"/>
          <p:cNvSpPr/>
          <p:nvPr/>
        </p:nvSpPr>
        <p:spPr bwMode="auto">
          <a:xfrm rot="5400000">
            <a:off x="5466606" y="2246363"/>
            <a:ext cx="569983" cy="34297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3" name="직사각형 342"/>
          <p:cNvSpPr/>
          <p:nvPr/>
        </p:nvSpPr>
        <p:spPr bwMode="auto">
          <a:xfrm>
            <a:off x="4340670" y="942041"/>
            <a:ext cx="1958244" cy="1179801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 w="12700">
            <a:solidFill>
              <a:schemeClr val="accent3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5" name="원통 344"/>
          <p:cNvSpPr/>
          <p:nvPr/>
        </p:nvSpPr>
        <p:spPr>
          <a:xfrm>
            <a:off x="6516216" y="1331897"/>
            <a:ext cx="809279" cy="296903"/>
          </a:xfrm>
          <a:prstGeom prst="can">
            <a:avLst>
              <a:gd name="adj" fmla="val 15163"/>
            </a:avLst>
          </a:prstGeom>
          <a:solidFill>
            <a:schemeClr val="accent6"/>
          </a:solidFill>
          <a:ln w="31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동영상</a:t>
            </a:r>
          </a:p>
        </p:txBody>
      </p:sp>
      <p:sp>
        <p:nvSpPr>
          <p:cNvPr id="346" name="원통 345"/>
          <p:cNvSpPr/>
          <p:nvPr/>
        </p:nvSpPr>
        <p:spPr>
          <a:xfrm>
            <a:off x="6516216" y="1691937"/>
            <a:ext cx="809279" cy="296903"/>
          </a:xfrm>
          <a:prstGeom prst="can">
            <a:avLst>
              <a:gd name="adj" fmla="val 15163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면접질문</a:t>
            </a:r>
          </a:p>
        </p:txBody>
      </p:sp>
      <p:sp>
        <p:nvSpPr>
          <p:cNvPr id="347" name="원통 346"/>
          <p:cNvSpPr/>
          <p:nvPr/>
        </p:nvSpPr>
        <p:spPr>
          <a:xfrm>
            <a:off x="7451125" y="971857"/>
            <a:ext cx="1009307" cy="296903"/>
          </a:xfrm>
          <a:prstGeom prst="can">
            <a:avLst>
              <a:gd name="adj" fmla="val 15163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면접평가정보</a:t>
            </a:r>
          </a:p>
        </p:txBody>
      </p:sp>
      <p:sp>
        <p:nvSpPr>
          <p:cNvPr id="348" name="원통 347"/>
          <p:cNvSpPr/>
          <p:nvPr/>
        </p:nvSpPr>
        <p:spPr>
          <a:xfrm>
            <a:off x="7452320" y="1331897"/>
            <a:ext cx="1009307" cy="296903"/>
          </a:xfrm>
          <a:prstGeom prst="can">
            <a:avLst>
              <a:gd name="adj" fmla="val 15163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면접답변사례</a:t>
            </a:r>
          </a:p>
        </p:txBody>
      </p:sp>
      <p:sp>
        <p:nvSpPr>
          <p:cNvPr id="349" name="직사각형 348"/>
          <p:cNvSpPr/>
          <p:nvPr/>
        </p:nvSpPr>
        <p:spPr>
          <a:xfrm>
            <a:off x="6446335" y="942042"/>
            <a:ext cx="2086105" cy="1075096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036" name="직사각형 1035"/>
          <p:cNvSpPr/>
          <p:nvPr/>
        </p:nvSpPr>
        <p:spPr>
          <a:xfrm>
            <a:off x="273006" y="5317947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①</a:t>
            </a:r>
          </a:p>
        </p:txBody>
      </p:sp>
      <p:sp>
        <p:nvSpPr>
          <p:cNvPr id="351" name="직사각형 350"/>
          <p:cNvSpPr/>
          <p:nvPr/>
        </p:nvSpPr>
        <p:spPr>
          <a:xfrm>
            <a:off x="6753726" y="2149595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②</a:t>
            </a:r>
          </a:p>
        </p:txBody>
      </p:sp>
      <p:sp>
        <p:nvSpPr>
          <p:cNvPr id="352" name="직사각형 351"/>
          <p:cNvSpPr/>
          <p:nvPr/>
        </p:nvSpPr>
        <p:spPr>
          <a:xfrm>
            <a:off x="251520" y="2005579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③</a:t>
            </a:r>
          </a:p>
        </p:txBody>
      </p:sp>
      <p:sp>
        <p:nvSpPr>
          <p:cNvPr id="1037" name="직사각형 1036"/>
          <p:cNvSpPr/>
          <p:nvPr/>
        </p:nvSpPr>
        <p:spPr>
          <a:xfrm>
            <a:off x="1209110" y="3573016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⑤</a:t>
            </a:r>
          </a:p>
        </p:txBody>
      </p:sp>
      <p:sp>
        <p:nvSpPr>
          <p:cNvPr id="354" name="직사각형 353"/>
          <p:cNvSpPr/>
          <p:nvPr/>
        </p:nvSpPr>
        <p:spPr>
          <a:xfrm>
            <a:off x="6609710" y="3661763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④</a:t>
            </a:r>
          </a:p>
        </p:txBody>
      </p:sp>
      <p:sp>
        <p:nvSpPr>
          <p:cNvPr id="355" name="직사각형 354"/>
          <p:cNvSpPr/>
          <p:nvPr/>
        </p:nvSpPr>
        <p:spPr>
          <a:xfrm>
            <a:off x="849070" y="5173931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⑦</a:t>
            </a:r>
          </a:p>
        </p:txBody>
      </p:sp>
      <p:sp>
        <p:nvSpPr>
          <p:cNvPr id="356" name="직사각형 355"/>
          <p:cNvSpPr/>
          <p:nvPr/>
        </p:nvSpPr>
        <p:spPr>
          <a:xfrm>
            <a:off x="7329790" y="4005064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⑥</a:t>
            </a:r>
          </a:p>
        </p:txBody>
      </p:sp>
      <p:sp>
        <p:nvSpPr>
          <p:cNvPr id="357" name="직사각형 356"/>
          <p:cNvSpPr/>
          <p:nvPr/>
        </p:nvSpPr>
        <p:spPr>
          <a:xfrm>
            <a:off x="8265894" y="5894011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⑧</a:t>
            </a:r>
          </a:p>
        </p:txBody>
      </p:sp>
      <p:sp>
        <p:nvSpPr>
          <p:cNvPr id="358" name="직사각형 357"/>
          <p:cNvSpPr/>
          <p:nvPr/>
        </p:nvSpPr>
        <p:spPr>
          <a:xfrm>
            <a:off x="2001198" y="3573016"/>
            <a:ext cx="338554" cy="2712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C00000"/>
                </a:solidFill>
                <a:latin typeface="+mn-ea"/>
                <a:ea typeface="+mn-ea"/>
              </a:rPr>
              <a:t>⑨</a:t>
            </a:r>
          </a:p>
        </p:txBody>
      </p:sp>
      <p:sp>
        <p:nvSpPr>
          <p:cNvPr id="359" name="원통 358"/>
          <p:cNvSpPr/>
          <p:nvPr/>
        </p:nvSpPr>
        <p:spPr>
          <a:xfrm>
            <a:off x="7452320" y="1691937"/>
            <a:ext cx="1009307" cy="296903"/>
          </a:xfrm>
          <a:prstGeom prst="can">
            <a:avLst>
              <a:gd name="adj" fmla="val 15163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매출내역</a:t>
            </a:r>
          </a:p>
        </p:txBody>
      </p:sp>
      <p:cxnSp>
        <p:nvCxnSpPr>
          <p:cNvPr id="1039" name="구부러진 연결선 1038"/>
          <p:cNvCxnSpPr>
            <a:stCxn id="343" idx="2"/>
            <a:endCxn id="336" idx="3"/>
          </p:cNvCxnSpPr>
          <p:nvPr/>
        </p:nvCxnSpPr>
        <p:spPr>
          <a:xfrm rot="16200000" flipH="1">
            <a:off x="3701401" y="3740233"/>
            <a:ext cx="3563713" cy="326930"/>
          </a:xfrm>
          <a:prstGeom prst="curvedConnector4">
            <a:avLst>
              <a:gd name="adj1" fmla="val 20795"/>
              <a:gd name="adj2" fmla="val 183847"/>
            </a:avLst>
          </a:prstGeom>
          <a:ln w="25400"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5292080" y="4653136"/>
            <a:ext cx="697627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ko-KR" altLang="en-US" sz="1000" b="1" dirty="0">
                <a:solidFill>
                  <a:srgbClr val="C00000"/>
                </a:solidFill>
                <a:latin typeface="+mn-ea"/>
                <a:ea typeface="+mn-ea"/>
              </a:rPr>
              <a:t>전환가능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499781" y="908720"/>
            <a:ext cx="1141659" cy="892422"/>
            <a:chOff x="499781" y="908720"/>
            <a:chExt cx="1141659" cy="892422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15" y="1184478"/>
              <a:ext cx="994619" cy="616664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sp>
          <p:nvSpPr>
            <p:cNvPr id="322" name="TextBox 147"/>
            <p:cNvSpPr txBox="1">
              <a:spLocks noChangeArrowheads="1"/>
            </p:cNvSpPr>
            <p:nvPr/>
          </p:nvSpPr>
          <p:spPr bwMode="auto">
            <a:xfrm>
              <a:off x="499781" y="908720"/>
              <a:ext cx="1141659" cy="263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40000"/>
                </a:spcBef>
                <a:spcAft>
                  <a:spcPct val="0"/>
                </a:spcAft>
                <a:buClr>
                  <a:schemeClr val="bg1"/>
                </a:buClr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ko-KR" sz="1200" dirty="0">
                  <a:latin typeface="HY헤드라인M" pitchFamily="18" charset="-127"/>
                  <a:ea typeface="HY헤드라인M" pitchFamily="18" charset="-127"/>
                </a:rPr>
                <a:t>VR</a:t>
              </a:r>
              <a:r>
                <a:rPr lang="ko-KR" altLang="en-US" sz="1200" dirty="0">
                  <a:latin typeface="HY헤드라인M" pitchFamily="18" charset="-127"/>
                  <a:ea typeface="HY헤드라인M" pitchFamily="18" charset="-127"/>
                </a:rPr>
                <a:t>면접체험관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17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3" name="Rectangle 483"/>
          <p:cNvSpPr>
            <a:spLocks noChangeArrowheads="1"/>
          </p:cNvSpPr>
          <p:nvPr/>
        </p:nvSpPr>
        <p:spPr bwMode="auto">
          <a:xfrm>
            <a:off x="827585" y="2708922"/>
            <a:ext cx="1728192" cy="94200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latinLnBrk="1" hangingPunct="1"/>
            <a:endParaRPr lang="ko-KR" altLang="en-US" sz="1000" dirty="0">
              <a:latin typeface="Times New Roman" pitchFamily="18" charset="0"/>
              <a:ea typeface="바탕체" pitchFamily="17" charset="-127"/>
            </a:endParaRPr>
          </a:p>
        </p:txBody>
      </p:sp>
      <p:sp>
        <p:nvSpPr>
          <p:cNvPr id="5274" name="AutoShape 154"/>
          <p:cNvSpPr>
            <a:spLocks noChangeArrowheads="1"/>
          </p:cNvSpPr>
          <p:nvPr/>
        </p:nvSpPr>
        <p:spPr bwMode="auto">
          <a:xfrm>
            <a:off x="6735412" y="1020210"/>
            <a:ext cx="2013052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ko-KR" altLang="en-US" sz="1200" b="1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면접전문가</a:t>
            </a:r>
          </a:p>
        </p:txBody>
      </p:sp>
      <p:sp>
        <p:nvSpPr>
          <p:cNvPr id="5277" name="AutoShape 157"/>
          <p:cNvSpPr>
            <a:spLocks noChangeArrowheads="1"/>
          </p:cNvSpPr>
          <p:nvPr/>
        </p:nvSpPr>
        <p:spPr bwMode="auto">
          <a:xfrm>
            <a:off x="348607" y="1020210"/>
            <a:ext cx="2561647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ko-KR" altLang="en-US" sz="1200" b="1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면접준비생</a:t>
            </a:r>
          </a:p>
        </p:txBody>
      </p:sp>
      <p:sp>
        <p:nvSpPr>
          <p:cNvPr id="5278" name="AutoShape 158"/>
          <p:cNvSpPr>
            <a:spLocks noChangeArrowheads="1"/>
          </p:cNvSpPr>
          <p:nvPr/>
        </p:nvSpPr>
        <p:spPr bwMode="auto">
          <a:xfrm>
            <a:off x="3163417" y="1020210"/>
            <a:ext cx="3424808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ko-KR" altLang="en-US" sz="1200" b="1" dirty="0">
                <a:latin typeface="HY수평선M" panose="02030600000101010101" pitchFamily="18" charset="-127"/>
                <a:ea typeface="HY수평선M" panose="02030600000101010101" pitchFamily="18" charset="-127"/>
              </a:rPr>
              <a:t>운영자</a:t>
            </a:r>
          </a:p>
        </p:txBody>
      </p:sp>
      <p:cxnSp>
        <p:nvCxnSpPr>
          <p:cNvPr id="5451" name="AutoShape 331"/>
          <p:cNvCxnSpPr>
            <a:cxnSpLocks noChangeShapeType="1"/>
            <a:stCxn id="111" idx="2"/>
            <a:endCxn id="106" idx="1"/>
          </p:cNvCxnSpPr>
          <p:nvPr/>
        </p:nvCxnSpPr>
        <p:spPr bwMode="auto">
          <a:xfrm rot="16200000" flipH="1">
            <a:off x="2806101" y="2659147"/>
            <a:ext cx="149920" cy="2409706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89" name="AutoShape 369"/>
          <p:cNvCxnSpPr>
            <a:cxnSpLocks noChangeShapeType="1"/>
            <a:stCxn id="109" idx="1"/>
            <a:endCxn id="110" idx="3"/>
          </p:cNvCxnSpPr>
          <p:nvPr/>
        </p:nvCxnSpPr>
        <p:spPr bwMode="auto">
          <a:xfrm rot="10800000">
            <a:off x="2378512" y="4503218"/>
            <a:ext cx="1716195" cy="301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8" name="AutoShape 418"/>
          <p:cNvCxnSpPr>
            <a:cxnSpLocks noChangeShapeType="1"/>
            <a:stCxn id="115" idx="3"/>
            <a:endCxn id="116" idx="1"/>
          </p:cNvCxnSpPr>
          <p:nvPr/>
        </p:nvCxnSpPr>
        <p:spPr bwMode="auto">
          <a:xfrm flipV="1">
            <a:off x="2387303" y="5217520"/>
            <a:ext cx="1698611" cy="577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64" name="Rectangle 444"/>
          <p:cNvSpPr>
            <a:spLocks noChangeArrowheads="1"/>
          </p:cNvSpPr>
          <p:nvPr/>
        </p:nvSpPr>
        <p:spPr bwMode="auto">
          <a:xfrm>
            <a:off x="965113" y="2172769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면접체험신청</a:t>
            </a:r>
          </a:p>
        </p:txBody>
      </p:sp>
      <p:cxnSp>
        <p:nvCxnSpPr>
          <p:cNvPr id="5582" name="AutoShape 462"/>
          <p:cNvCxnSpPr>
            <a:cxnSpLocks noChangeShapeType="1"/>
            <a:stCxn id="92" idx="2"/>
            <a:endCxn id="5603" idx="3"/>
          </p:cNvCxnSpPr>
          <p:nvPr/>
        </p:nvCxnSpPr>
        <p:spPr bwMode="auto">
          <a:xfrm rot="5400000">
            <a:off x="3310899" y="1693814"/>
            <a:ext cx="730989" cy="2241232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87" name="AutoShape 467"/>
          <p:cNvCxnSpPr>
            <a:cxnSpLocks noChangeShapeType="1"/>
            <a:stCxn id="5564" idx="3"/>
            <a:endCxn id="92" idx="1"/>
          </p:cNvCxnSpPr>
          <p:nvPr/>
        </p:nvCxnSpPr>
        <p:spPr bwMode="auto">
          <a:xfrm flipV="1">
            <a:off x="2387303" y="2310824"/>
            <a:ext cx="1698611" cy="5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09" name="AutoShape 489"/>
          <p:cNvCxnSpPr>
            <a:cxnSpLocks noChangeShapeType="1"/>
            <a:stCxn id="118" idx="1"/>
            <a:endCxn id="119" idx="3"/>
          </p:cNvCxnSpPr>
          <p:nvPr/>
        </p:nvCxnSpPr>
        <p:spPr bwMode="auto">
          <a:xfrm rot="10800000" flipV="1">
            <a:off x="2387304" y="5871368"/>
            <a:ext cx="4794955" cy="1180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165469" cy="349711"/>
            <a:chOff x="323529" y="476668"/>
            <a:chExt cx="2165469" cy="34971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1877438" cy="3497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흐름도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2" name="Rectangle 444"/>
          <p:cNvSpPr>
            <a:spLocks noChangeArrowheads="1"/>
          </p:cNvSpPr>
          <p:nvPr/>
        </p:nvSpPr>
        <p:spPr bwMode="auto">
          <a:xfrm>
            <a:off x="4085914" y="2172711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면접체험접수</a:t>
            </a:r>
          </a:p>
        </p:txBody>
      </p:sp>
      <p:sp>
        <p:nvSpPr>
          <p:cNvPr id="96" name="Rectangle 444"/>
          <p:cNvSpPr>
            <a:spLocks noChangeArrowheads="1"/>
          </p:cNvSpPr>
          <p:nvPr/>
        </p:nvSpPr>
        <p:spPr bwMode="auto">
          <a:xfrm>
            <a:off x="965113" y="2792735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가상면접체험진행</a:t>
            </a:r>
          </a:p>
        </p:txBody>
      </p:sp>
      <p:sp>
        <p:nvSpPr>
          <p:cNvPr id="101" name="Rectangle 444"/>
          <p:cNvSpPr>
            <a:spLocks noChangeArrowheads="1"/>
          </p:cNvSpPr>
          <p:nvPr/>
        </p:nvSpPr>
        <p:spPr bwMode="auto">
          <a:xfrm>
            <a:off x="965113" y="3140968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간편면접진행</a:t>
            </a:r>
          </a:p>
        </p:txBody>
      </p:sp>
      <p:sp>
        <p:nvSpPr>
          <p:cNvPr id="106" name="Rectangle 444"/>
          <p:cNvSpPr>
            <a:spLocks noChangeArrowheads="1"/>
          </p:cNvSpPr>
          <p:nvPr/>
        </p:nvSpPr>
        <p:spPr bwMode="auto">
          <a:xfrm>
            <a:off x="4085914" y="3800847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면접영상접수</a:t>
            </a:r>
          </a:p>
        </p:txBody>
      </p:sp>
      <p:sp>
        <p:nvSpPr>
          <p:cNvPr id="109" name="Rectangle 444"/>
          <p:cNvSpPr>
            <a:spLocks noChangeArrowheads="1"/>
          </p:cNvSpPr>
          <p:nvPr/>
        </p:nvSpPr>
        <p:spPr bwMode="auto">
          <a:xfrm>
            <a:off x="4094706" y="4368119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면접결과등록</a:t>
            </a:r>
          </a:p>
        </p:txBody>
      </p:sp>
      <p:sp>
        <p:nvSpPr>
          <p:cNvPr id="110" name="Rectangle 444"/>
          <p:cNvSpPr>
            <a:spLocks noChangeArrowheads="1"/>
          </p:cNvSpPr>
          <p:nvPr/>
        </p:nvSpPr>
        <p:spPr bwMode="auto">
          <a:xfrm>
            <a:off x="956321" y="4365104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면접결과확인</a:t>
            </a:r>
          </a:p>
        </p:txBody>
      </p:sp>
      <p:sp>
        <p:nvSpPr>
          <p:cNvPr id="111" name="Rectangle 444"/>
          <p:cNvSpPr>
            <a:spLocks noChangeArrowheads="1"/>
          </p:cNvSpPr>
          <p:nvPr/>
        </p:nvSpPr>
        <p:spPr bwMode="auto">
          <a:xfrm>
            <a:off x="965113" y="3512815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면접영상전송</a:t>
            </a:r>
          </a:p>
        </p:txBody>
      </p:sp>
      <p:sp>
        <p:nvSpPr>
          <p:cNvPr id="115" name="Rectangle 444"/>
          <p:cNvSpPr>
            <a:spLocks noChangeArrowheads="1"/>
          </p:cNvSpPr>
          <p:nvPr/>
        </p:nvSpPr>
        <p:spPr bwMode="auto">
          <a:xfrm>
            <a:off x="965113" y="5085184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전문가평가요청</a:t>
            </a:r>
          </a:p>
        </p:txBody>
      </p:sp>
      <p:sp>
        <p:nvSpPr>
          <p:cNvPr id="116" name="Rectangle 444"/>
          <p:cNvSpPr>
            <a:spLocks noChangeArrowheads="1"/>
          </p:cNvSpPr>
          <p:nvPr/>
        </p:nvSpPr>
        <p:spPr bwMode="auto">
          <a:xfrm>
            <a:off x="4085914" y="5079407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전문가평가요청접수</a:t>
            </a:r>
          </a:p>
        </p:txBody>
      </p:sp>
      <p:sp>
        <p:nvSpPr>
          <p:cNvPr id="117" name="Rectangle 444"/>
          <p:cNvSpPr>
            <a:spLocks noChangeArrowheads="1"/>
          </p:cNvSpPr>
          <p:nvPr/>
        </p:nvSpPr>
        <p:spPr bwMode="auto">
          <a:xfrm>
            <a:off x="7182258" y="5070615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면접영상확인</a:t>
            </a:r>
          </a:p>
        </p:txBody>
      </p:sp>
      <p:sp>
        <p:nvSpPr>
          <p:cNvPr id="118" name="Rectangle 444"/>
          <p:cNvSpPr>
            <a:spLocks noChangeArrowheads="1"/>
          </p:cNvSpPr>
          <p:nvPr/>
        </p:nvSpPr>
        <p:spPr bwMode="auto">
          <a:xfrm>
            <a:off x="7182258" y="5733256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면접평가등록</a:t>
            </a:r>
          </a:p>
        </p:txBody>
      </p:sp>
      <p:sp>
        <p:nvSpPr>
          <p:cNvPr id="119" name="Rectangle 444"/>
          <p:cNvSpPr>
            <a:spLocks noChangeArrowheads="1"/>
          </p:cNvSpPr>
          <p:nvPr/>
        </p:nvSpPr>
        <p:spPr bwMode="auto">
          <a:xfrm>
            <a:off x="965113" y="5745063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전문가평가확인</a:t>
            </a:r>
          </a:p>
        </p:txBody>
      </p:sp>
      <p:cxnSp>
        <p:nvCxnSpPr>
          <p:cNvPr id="125" name="AutoShape 418"/>
          <p:cNvCxnSpPr>
            <a:cxnSpLocks noChangeShapeType="1"/>
            <a:stCxn id="116" idx="3"/>
            <a:endCxn id="117" idx="1"/>
          </p:cNvCxnSpPr>
          <p:nvPr/>
        </p:nvCxnSpPr>
        <p:spPr bwMode="auto">
          <a:xfrm flipV="1">
            <a:off x="5508104" y="5208728"/>
            <a:ext cx="1674154" cy="879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AutoShape 331"/>
          <p:cNvCxnSpPr>
            <a:cxnSpLocks noChangeShapeType="1"/>
            <a:stCxn id="106" idx="3"/>
            <a:endCxn id="117" idx="0"/>
          </p:cNvCxnSpPr>
          <p:nvPr/>
        </p:nvCxnSpPr>
        <p:spPr bwMode="auto">
          <a:xfrm>
            <a:off x="5508104" y="3938960"/>
            <a:ext cx="2385249" cy="1131655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AutoShape 331"/>
          <p:cNvCxnSpPr>
            <a:cxnSpLocks noChangeShapeType="1"/>
            <a:stCxn id="106" idx="2"/>
            <a:endCxn id="109" idx="0"/>
          </p:cNvCxnSpPr>
          <p:nvPr/>
        </p:nvCxnSpPr>
        <p:spPr bwMode="auto">
          <a:xfrm rot="16200000" flipH="1">
            <a:off x="4655882" y="4218199"/>
            <a:ext cx="291047" cy="87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AutoShape 369"/>
          <p:cNvCxnSpPr>
            <a:cxnSpLocks noChangeShapeType="1"/>
            <a:stCxn id="110" idx="2"/>
            <a:endCxn id="115" idx="0"/>
          </p:cNvCxnSpPr>
          <p:nvPr/>
        </p:nvCxnSpPr>
        <p:spPr bwMode="auto">
          <a:xfrm rot="16200000" flipH="1">
            <a:off x="1449885" y="4858860"/>
            <a:ext cx="443855" cy="87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" name="AutoShape 489"/>
          <p:cNvCxnSpPr>
            <a:cxnSpLocks noChangeShapeType="1"/>
            <a:stCxn id="117" idx="2"/>
            <a:endCxn id="118" idx="0"/>
          </p:cNvCxnSpPr>
          <p:nvPr/>
        </p:nvCxnSpPr>
        <p:spPr bwMode="auto">
          <a:xfrm rot="5400000">
            <a:off x="7700145" y="5540048"/>
            <a:ext cx="386416" cy="127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9" name="Rectangle 444"/>
          <p:cNvSpPr>
            <a:spLocks noChangeArrowheads="1"/>
          </p:cNvSpPr>
          <p:nvPr/>
        </p:nvSpPr>
        <p:spPr bwMode="auto">
          <a:xfrm>
            <a:off x="962808" y="1628800"/>
            <a:ext cx="1422190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41275" rIns="82550" bIns="41275" anchor="ctr"/>
          <a:lstStyle>
            <a:lvl1pPr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11163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2232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35075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46238" algn="l" defTabSz="739775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1034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606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0178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75038" defTabSz="7397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buNone/>
            </a:pPr>
            <a:r>
              <a:rPr lang="ko-KR" altLang="en-US" sz="1000" dirty="0">
                <a:latin typeface="+mn-ea"/>
                <a:ea typeface="+mn-ea"/>
              </a:rPr>
              <a:t>회원등록</a:t>
            </a:r>
          </a:p>
        </p:txBody>
      </p:sp>
      <p:cxnSp>
        <p:nvCxnSpPr>
          <p:cNvPr id="160" name="AutoShape 467"/>
          <p:cNvCxnSpPr>
            <a:cxnSpLocks noChangeShapeType="1"/>
            <a:stCxn id="159" idx="2"/>
            <a:endCxn id="5564" idx="0"/>
          </p:cNvCxnSpPr>
          <p:nvPr/>
        </p:nvCxnSpPr>
        <p:spPr bwMode="auto">
          <a:xfrm rot="16200000" flipH="1">
            <a:off x="1541183" y="2037744"/>
            <a:ext cx="267744" cy="230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2356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3396575" cy="383182"/>
            <a:chOff x="323529" y="476668"/>
            <a:chExt cx="3396575" cy="383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3108544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시스템의 기능구성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19879"/>
              </p:ext>
            </p:extLst>
          </p:nvPr>
        </p:nvGraphicFramePr>
        <p:xfrm>
          <a:off x="250825" y="980729"/>
          <a:ext cx="8642350" cy="3184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8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기능설명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회원등록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면접체험을 신청하기 위해 기본적인 회원정보와 준비중인 공무원 시험 정보를 등록한다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면접체험 정보등록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 서비스를 위한 면접시험의 기본정보를 등록한다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면접기출 문제등록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면접체험을 대비해 지난 면접기출문제를 등록하고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공무원 직렬을 등록한다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면접체험 신청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면접체험관 사용을 위해 비용을 결제하고 면접체험을 예약한다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면접체험관 관리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면접체험관 사용가능 일정을 등록한다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면접체험관 예약현황을 확인한다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2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면접체험영상관리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면접체험관 사용 후 촬영된 영상을 전송한다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</a:p>
                    <a:p>
                      <a:pPr marL="171450" indent="-171450" algn="l"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sym typeface="Wingdings" pitchFamily="2" charset="2"/>
                        </a:rPr>
                        <a:t>개인 스마트기기를 통해서 녹화한 영상을 전송한다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sym typeface="Wingdings" pitchFamily="2" charset="2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면접답변 모범사례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기존 공무원 면접 우수자 답변이나 면접체험 시스템을 통해 접수된 모범 답변 등을 등록한다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전문가 평가 요청관리</a:t>
                      </a:r>
                      <a:endParaRPr lang="en-US" altLang="ko-KR" sz="1200" dirty="0">
                        <a:solidFill>
                          <a:srgbClr val="002060"/>
                        </a:solidFill>
                        <a:latin typeface="HY수평선B" panose="02030600000101010101" pitchFamily="18" charset="-127"/>
                        <a:ea typeface="HY수평선B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전문가 면접 요청에 따라 각 분야 전문가에 평가요청을 진행한다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en-US" altLang="ko-KR" sz="1200" dirty="0">
                        <a:solidFill>
                          <a:srgbClr val="002060"/>
                        </a:solidFill>
                        <a:latin typeface="HY수평선B" panose="02030600000101010101" pitchFamily="18" charset="-127"/>
                        <a:ea typeface="HY수평선B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0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2060"/>
                          </a:solidFill>
                          <a:latin typeface="HY수평선B" panose="02030600000101010101" pitchFamily="18" charset="-127"/>
                          <a:ea typeface="HY수평선B" panose="02030600000101010101" pitchFamily="18" charset="-127"/>
                        </a:rPr>
                        <a:t>전문가 평가 등록</a:t>
                      </a:r>
                      <a:endParaRPr lang="en-US" altLang="ko-KR" sz="1200" dirty="0">
                        <a:solidFill>
                          <a:srgbClr val="002060"/>
                        </a:solidFill>
                        <a:latin typeface="HY수평선B" panose="02030600000101010101" pitchFamily="18" charset="-127"/>
                        <a:ea typeface="HY수평선B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 평가</a:t>
                      </a:r>
                      <a:r>
                        <a:rPr lang="ko-KR" altLang="en-US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요청에 해당되는 평가결과를 등록한다</a:t>
                      </a:r>
                      <a:r>
                        <a:rPr lang="en-US" altLang="ko-KR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7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7200799" cy="383182"/>
            <a:chOff x="323529" y="476668"/>
            <a:chExt cx="7200799" cy="383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45522" y="476668"/>
              <a:ext cx="6878806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 구축 계획 및 국가고시 면접시험 대비 활용 일정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82339"/>
              </p:ext>
            </p:extLst>
          </p:nvPr>
        </p:nvGraphicFramePr>
        <p:xfrm>
          <a:off x="323527" y="3964196"/>
          <a:ext cx="8496949" cy="227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0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11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국가시험 면접 활용 일정 </a:t>
                      </a:r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[</a:t>
                      </a:r>
                      <a:r>
                        <a:rPr lang="ko-KR" altLang="en-US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월</a:t>
                      </a:r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]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1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2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3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4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5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6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7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8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9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10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11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12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공무원 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9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급 일반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공무원 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9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급 지방직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공무원 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7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급 일반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공무원 </a:t>
                      </a:r>
                      <a:r>
                        <a:rPr lang="en-US" altLang="ko-KR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7</a:t>
                      </a:r>
                      <a:r>
                        <a:rPr lang="ko-KR" altLang="en-US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급 지방직</a:t>
                      </a:r>
                      <a:endParaRPr lang="ko-KR" alt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경찰 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1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경찰 </a:t>
                      </a: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2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임용고시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128206"/>
              </p:ext>
            </p:extLst>
          </p:nvPr>
        </p:nvGraphicFramePr>
        <p:xfrm>
          <a:off x="323524" y="1299900"/>
          <a:ext cx="8496949" cy="227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9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11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</a:t>
                      </a:r>
                      <a:r>
                        <a:rPr lang="ko-KR" altLang="en-US" sz="14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시스템 개발</a:t>
                      </a:r>
                      <a:r>
                        <a:rPr lang="ko-KR" altLang="en-US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일정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M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M+1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M+2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M+3</a:t>
                      </a:r>
                      <a:endParaRPr lang="ko-KR" altLang="en-US" sz="14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M+4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시스템 구성 기획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시스템 분석 설계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시스템 개발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면접체험관 시험 구성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VR</a:t>
                      </a: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면접체험실 시험 구성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시범 운영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정식 서비스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263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908720"/>
            <a:ext cx="8631891" cy="264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셀프면접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솔루션이 독립적으로만 운영되는 제약이 있는 반면에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ㅇㅇㅇ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학원 시스템과 연계해서 회원 및 강의 연동이 가능하다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학원 면접강의와 연계해서 패키지 상품 구성이 가능하여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이용자에게 다양한 선택을 제공할 수 있다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 동영상 촬영 시 기존 </a:t>
            </a: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윌비스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영상 촬영 노하우를 활용할 수 있다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결제시스템을 도입해서 강의구매 프로세스와 연동하여 별도의 매출을 발생시킬 수 있다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ㅇㅇㅇ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학원의 전문가 평가를 이용자에게 제공할 수 있고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이용자들의 데이터를 분석하여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학원 전문가가 좀 더 깊이 있는 면접강의를 개설하도록 활용될 수 있다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 사용 통계정보를 활용하여 면접시험 대비 분석지표로 활용이 가능하다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 algn="l">
              <a:buClr>
                <a:schemeClr val="tx1"/>
              </a:buClr>
              <a:buFont typeface="+mj-lt"/>
              <a:buAutoNum type="arabicPeriod"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차후 새로운 국가고시에 적용하고자 할 경우 시스템 확장이 유연하다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5551010" cy="383182"/>
            <a:chOff x="323529" y="476668"/>
            <a:chExt cx="5551010" cy="383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5262979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 자체 개발 및  운영 시 활용 장점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705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908720"/>
            <a:ext cx="8631891" cy="524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면접강의 수강생에게 서비스 상품으로써 제공 </a:t>
            </a:r>
            <a:r>
              <a:rPr lang="en-US" altLang="ko-KR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 패키지 강의로 구성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오프 면접강의 수강생을 대상으로 면접체험을 경험하고 연습해볼 수 있도록 구성하여 면접시험 준비 효과를 높임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l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면접체험을 원하는 수강생을 대상으로 별도의 프리미엄 서비스로써 제공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최대한 독립된 공간에서 실제 면접을 마주하고 면접을 진행하는 듯한 환경을 구성하도록 함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 서비스를 이용하는 수강생들에게 현장 가상면접체험 외에 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VR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면접체험실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운영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별도로 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면접체험관을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운영하여 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타원생에게도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면접체험 서비스만 이용하고자 할 경우 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제약없이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이용이 가능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l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ko-KR" altLang="en-US" sz="1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윌비스</a:t>
            </a:r>
            <a:r>
              <a:rPr lang="ko-KR" altLang="en-US" sz="1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통합서비스로써의 활용</a:t>
            </a:r>
            <a:endParaRPr lang="en-US" altLang="ko-KR" sz="1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면접시험을 통해 선발하는 모든 국가고시 대비 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학원생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대상으로 확대 활용하여 동일한 시스템에서 </a:t>
            </a:r>
            <a:r>
              <a:rPr lang="ko-KR" altLang="en-US" sz="12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콘텐츠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확장만으로 다양하게 활용될 수 있음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연간 운영 계획에 따라서 서비스로써 제공하는 면접체험에서 일정비율의 매출을 발생시킬 수 있는 시스템으로 활용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2020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국가고시 면접시험 대비 활용</a:t>
            </a:r>
            <a:endParaRPr lang="en-US" altLang="ko-KR" sz="1400" dirty="0">
              <a:solidFill>
                <a:srgbClr val="00206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2020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국가고시 </a:t>
            </a: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9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급 공무원 채용일정에 따라 상반기에 수강생 대상으로 시범운영 서비스를 진행</a:t>
            </a:r>
            <a:endParaRPr lang="en-US" altLang="ko-KR" sz="1400" dirty="0">
              <a:solidFill>
                <a:srgbClr val="00206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algn="l">
              <a:buClr>
                <a:schemeClr val="tx1">
                  <a:lumMod val="75000"/>
                  <a:lumOff val="25000"/>
                </a:schemeClr>
              </a:buClr>
            </a:pP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면접체험 서비스를 시범 운영하면서 노출되는 문제점들을 보완하고</a:t>
            </a: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 사용자들의 요청사항을 반영하여</a:t>
            </a: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개선된 시스템을 통해 하반기 지방직</a:t>
            </a: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경찰고시</a:t>
            </a:r>
            <a:r>
              <a:rPr lang="en-US" altLang="ko-KR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>
                <a:solidFill>
                  <a:srgbClr val="00206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임용고시 등에 확대해서 활용이 가능</a:t>
            </a: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4104455" cy="383182"/>
            <a:chOff x="323529" y="476668"/>
            <a:chExt cx="4104455" cy="383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26942" y="476668"/>
              <a:ext cx="3801042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 도입 후 활용 방안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화살표: 줄무늬가 있는 오른쪽 7">
            <a:extLst>
              <a:ext uri="{FF2B5EF4-FFF2-40B4-BE49-F238E27FC236}">
                <a16:creationId xmlns:a16="http://schemas.microsoft.com/office/drawing/2014/main" id="{972BC815-8790-4858-AA0A-6BBEC167ED08}"/>
              </a:ext>
            </a:extLst>
          </p:cNvPr>
          <p:cNvSpPr/>
          <p:nvPr/>
        </p:nvSpPr>
        <p:spPr>
          <a:xfrm rot="5400000">
            <a:off x="3981469" y="4343621"/>
            <a:ext cx="324692" cy="511674"/>
          </a:xfrm>
          <a:prstGeom prst="stripedRightArrow">
            <a:avLst>
              <a:gd name="adj1" fmla="val 50000"/>
              <a:gd name="adj2" fmla="val 6297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89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면접체험 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23529" y="476668"/>
            <a:ext cx="3242686" cy="349711"/>
            <a:chOff x="323529" y="476668"/>
            <a:chExt cx="3242686" cy="3497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954655" cy="3497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면접체험 시스템 도입 목표</a:t>
              </a:r>
            </a:p>
          </p:txBody>
        </p:sp>
        <p:pic>
          <p:nvPicPr>
            <p:cNvPr id="10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5414DDE-1FA0-46E8-91C8-D5FF98A21B4E}"/>
              </a:ext>
            </a:extLst>
          </p:cNvPr>
          <p:cNvSpPr txBox="1"/>
          <p:nvPr/>
        </p:nvSpPr>
        <p:spPr>
          <a:xfrm>
            <a:off x="251519" y="908720"/>
            <a:ext cx="8641655" cy="436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 latinLnBrk="0">
              <a:buClr>
                <a:srgbClr val="002060"/>
              </a:buClr>
            </a:pP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공무원 시험준비를 하는 수험생에게 단순히 국가고시 대비를 위한 학원의 역할의 </a:t>
            </a:r>
            <a:r>
              <a:rPr lang="ko-KR" altLang="en-US" sz="1600" dirty="0" err="1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ㅇㅇㅇ에서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 국가고시에 최종 합격이 될 때까지 책임감을 가지고 다양한 해법을 제시하고 지원하는 학원으로서의 역할로 수험생들에게 인식될 수 있도록 하는 계기를 마련한다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.</a:t>
            </a:r>
          </a:p>
          <a:p>
            <a:pPr marL="171450" indent="-171450" algn="l" latinLnBrk="0">
              <a:buClr>
                <a:srgbClr val="002060"/>
              </a:buClr>
            </a:pPr>
            <a:endParaRPr lang="en-US" altLang="ko-KR" sz="1600" dirty="0">
              <a:solidFill>
                <a:srgbClr val="002060"/>
              </a:solidFill>
              <a:latin typeface="HY수평선B" panose="02030600000101010101" pitchFamily="18" charset="-127"/>
              <a:ea typeface="HY수평선B" panose="02030600000101010101" pitchFamily="18" charset="-127"/>
            </a:endParaRPr>
          </a:p>
          <a:p>
            <a:pPr marL="171450" indent="-171450" algn="l" latinLnBrk="0">
              <a:buClr>
                <a:srgbClr val="002060"/>
              </a:buClr>
            </a:pP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기존 학원들이 면접을 온라인강의와 오프라인강의 구성으로 이원화되어 실제 면접시험에 대비하는 수강생들에게 서비스를 제공 후에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그 효과에 대해 확신을 줄 수 없었기 때문에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 err="1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ㅇㅇㅇ는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 면접체험을 여러 번 진행해서 면접시험 평가가 나아질 것이라는 단순 예측을 넘어서 기본적인 면접강의와 가상면접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실제면접의 유기적인 조합으로 면접시험 합격을 위한 단계적인 지표를 제공해서 응시생이 면접시험 준비에  자신감을 가지고 국가고시 면접시험에서 그 효과를 발휘할 수 있도록 동반자가 되어간다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.</a:t>
            </a:r>
          </a:p>
          <a:p>
            <a:pPr marL="171450" indent="-171450" algn="l" latinLnBrk="0">
              <a:buClr>
                <a:srgbClr val="002060"/>
              </a:buClr>
            </a:pPr>
            <a:endParaRPr lang="en-US" altLang="ko-KR" sz="1600" dirty="0">
              <a:solidFill>
                <a:srgbClr val="002060"/>
              </a:solidFill>
              <a:latin typeface="HY수평선B" panose="02030600000101010101" pitchFamily="18" charset="-127"/>
              <a:ea typeface="HY수평선B" panose="02030600000101010101" pitchFamily="18" charset="-127"/>
            </a:endParaRPr>
          </a:p>
          <a:p>
            <a:pPr marL="171450" indent="-171450" algn="l" latinLnBrk="0">
              <a:buClr>
                <a:srgbClr val="002060"/>
              </a:buClr>
            </a:pP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면접시험을 준비하는 응시생들에게 전문면접 과정은 고비용의 부담이 있기 때문에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 err="1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ㅇㅇㅇ가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 제공하는 다양한 면접체험을 보다 부담이 적은 비용으로 제공하여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단계별 준비 전략을 세울 수 있도록 도움을 주고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, </a:t>
            </a:r>
            <a:r>
              <a:rPr lang="ko-KR" altLang="en-US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면접준비 기간 내에 편리한 이용으로 부담 없이 이용하여 면접시험을 준비할 수 있도록 서비스를 제공한다</a:t>
            </a:r>
            <a:r>
              <a:rPr lang="en-US" altLang="ko-KR" sz="1600" dirty="0">
                <a:solidFill>
                  <a:srgbClr val="002060"/>
                </a:solidFill>
                <a:latin typeface="HY수평선B" panose="02030600000101010101" pitchFamily="18" charset="-127"/>
                <a:ea typeface="HY수평선B" panose="02030600000101010101" pitchFamily="18" charset="-127"/>
              </a:rPr>
              <a:t>.</a:t>
            </a:r>
            <a:endParaRPr lang="ko-KR" altLang="en-US" sz="1600" dirty="0">
              <a:solidFill>
                <a:srgbClr val="002060"/>
              </a:solidFill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3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00FF">
            <a:alpha val="8000"/>
          </a:srgbClr>
        </a:solidFill>
        <a:ln w="12700">
          <a:solidFill>
            <a:schemeClr val="tx1"/>
          </a:solidFill>
          <a:miter lim="800000"/>
          <a:headEnd/>
          <a:tailEnd/>
        </a:ln>
        <a:effectLst/>
      </a:spPr>
      <a:bodyPr lIns="82550" tIns="41275" rIns="82550" bIns="41275" anchor="ctr"/>
      <a:lstStyle>
        <a:defPPr defTabSz="739775">
          <a:buNone/>
          <a:defRPr sz="800" dirty="0" smtClean="0">
            <a:latin typeface="+mn-ea"/>
            <a:ea typeface="+mn-ea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8247</TotalTime>
  <Words>961</Words>
  <Application>Microsoft Office PowerPoint</Application>
  <PresentationFormat>화면 슬라이드 쇼(4:3)</PresentationFormat>
  <Paragraphs>173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HY수평선M</vt:lpstr>
      <vt:lpstr>Arial</vt:lpstr>
      <vt:lpstr>HY헤드라인M</vt:lpstr>
      <vt:lpstr>맑은 고딕</vt:lpstr>
      <vt:lpstr>HY수평선B</vt:lpstr>
      <vt:lpstr>Times New Roman</vt:lpstr>
      <vt:lpstr>굴림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(주)미래넷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윌비스고시 매출통합</dc:title>
  <dc:subject>매출통합 개선</dc:subject>
  <dc:creator>김용국</dc:creator>
  <cp:lastModifiedBy>김 용국</cp:lastModifiedBy>
  <cp:revision>488</cp:revision>
  <cp:lastPrinted>2019-10-15T04:24:46Z</cp:lastPrinted>
  <dcterms:created xsi:type="dcterms:W3CDTF">2004-06-28T06:08:17Z</dcterms:created>
  <dcterms:modified xsi:type="dcterms:W3CDTF">2020-03-11T05:41:03Z</dcterms:modified>
</cp:coreProperties>
</file>